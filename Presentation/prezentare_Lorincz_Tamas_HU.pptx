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Jó napot kívánok! Lőrincz Tamás vagyok, és a szakdolgozati projektemet mutatom be: a Katagmát, egy procedurálisan generált roguelike dungeon crawlert, amelyet Unity-ben fejlesztettem. Témavezetőm dr. Finta Béla egyetemi docens volt. A következő percekben bemutatom, mi ez a játék, milyen problémát old meg, hogyan építettem fel, mi a saját hozzájárulásom, majd élőben is megmutatom működés közben.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Katagma görögül törést jelent. Az alapötlet: a játékos egy kómában lévő elme, amely saját tudatalattiján át felfelé kapaszkodva próbál felébredni. Amikor meghalsz, az elme megtörik — erre utal a cím, és a játék a halál képernyőjén megjeleníti a FRACTURED szót. A koncepció nem díszítés: a felfelé irányuló haladás, az organikus világ, az agy-karakter és a narratíva mind ebből az egy gondolatból ered. Azért választottam roguelike-ot, mert a procedurális generálás valódi újrajátszhatóságot és igazi mérnöki problémát ad, az ismételt próbálkozások köre illik az ébredés témájához, és — ami döntő — a terjedelem teljesíthető: egy kész, csiszolt játékot tudtam leszállítani, nem egy befejezetlen prototípust. A teljesség volt a siker mércéje.</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központi cél egy teljes, csiszolt játék elkészítése volt, nem egy technikai demó. Konkrétan hat dolgot jelentett: egy procedurális generátort, amely minden szinthez más, összefüggő pályát készít; valós idejű harcot többféle ellenséggel; két, együtt működő fejlődési rendszert; több szintet, amelyek főellenségben és győzelmi feltételben csúcsosodnak; győzelmekkel feltáruló narratívát; és a teljes keretrendszert, amire egy kész játéknak szüksége van — menük, HUD, minitérkép, mentés és online ranglista. Másodlagos cél volt a tiszta, bővíthető kód — és megmutatom, hogy ez kifizetődött, amikor a fejlesztés végén új ellenségeket adtam hozzá.</a:t>
            </a:r>
            <a:endParaRPr/>
          </a:p>
        </p:txBody>
      </p:sp>
      <p:sp>
        <p:nvSpPr>
          <p:cNvPr id="43" name="Google Shape;4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roguelike műfaj a procedurális generálást ötvözi a permadeath-szel. A Katagma a szobaalapú, felülnézetes ágban helyezkedik el, legközelebb a The Binding of Isaachez. A táblázat az ismert címekhez viszonyított pozíciót mutatja. A lényegi eltérés a fejlődés: míg a Dead Cells és a Hades játszmák között is megőrzött erőt ad, a Katagma minden erőnövekedést egyetlen játszmán belül tart. Megkülönböztető kombinációja: szigorúan játszmán belüli fejlődés, kizárólag passzív fejlesztések és online ranglista. Őszinte leszek: nem állítom, hogy új algoritmust találtam fel. A hozzájárulásom bevált technikák megtervezése és integrálása egy kész játékká.</a:t>
            </a:r>
            <a:endParaRPr/>
          </a:p>
        </p:txBody>
      </p:sp>
      <p:sp>
        <p:nvSpPr>
          <p:cNvPr id="75" name="Google Shape;7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Az architektúra a Unity komponensmodellje, kiegészítve néhány perzisztens menedzser singletonnal. A GameManager a játszmaállapot egyetlen hiteles forrása — az ellenségek és szobák neki jelentenek eseményeket, ahelyett hogy maguk követnék a pontszámot. A TransitionScreen minden képernyőáttűnést egyetlen fekete overlay köré központosít, ami az időzítési hibák egész osztályát oldotta meg. A LeaderboardManager közvetlenül REST-en kommunikál a felhőadatbázissal. A tervezés a bővíthetőségre épült: az új ellenségek egy alaposztályból származnak, az új tárgyak egy interfészt valósítanak meg, az új szobák egy készletbe kerülnek. Ez nem puszta állítás — a projekt végén két új ellenséget adtam hozzá a meglévő kód érintése nélkül, erre még visszatérek.</a:t>
            </a:r>
            <a:endParaRPr/>
          </a:p>
        </p:txBody>
      </p:sp>
      <p:sp>
        <p:nvSpPr>
          <p:cNvPr id="111" name="Google Shape;11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fő technikai rendszer a generátor. Két fázisban működik. Az első fázis korlátozott véletlen bolyongással növeli a szintet — egy szobából indulva rácson ad hozzá szobákat, ahol minden új szoba legfeljebb egy meglévőt érinthet. Ez az egyetlen megkötés elágazó, folyosószerű szinteket eredményez, nem tömör tömböket. És mivel minden szoba csak meglévőhöz kapcsolódik, a szint a felépítéséből adódóan összefüggő — sosem lehet megoldhatatlan, ami döntő egy olyan játéknál, ahol egy hibás pálya a játszma végét jelentené. A második fázis szélességi bejárás távolságai alapján osztja ki a szobatípusokat: a főellenség szobája a kezdéstől legtávolabbi, tehát végig kell menni a szinten, a kincses szobák pedig a főellenségtől legtávolabb kerülnek, hogy jutalmazzák a felfedezést. A főellenség-szabály feltétel nélküli — bármelyik szoba lehet az —, így az elhelyezés nem hiúsulhat meg. Egy korábbi verzió zsákutcát követelt meg, és néha kudarcot vallott; leegyszerűsítettem egy olyan szabályra, amely nem tud hibázni. Erre a témára számítok kérdésekre.</a:t>
            </a:r>
            <a:endParaRPr/>
          </a:p>
        </p:txBody>
      </p:sp>
      <p:sp>
        <p:nvSpPr>
          <p:cNvPr id="136" name="Google Shape;13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Ez egy generált szint. Kiemelendő: minden szint más, a szobák közvetlenül ajtó-ajtóhoz kapcsolódnak folyosók nélkül, mint a The Binding of Isaacben, a sarokban lévő minitérkép pontosan a generátor által épített szobagráfot tükrözi, a főellenség szobája pedig a túlsó végén található. Ez természetes pont arra, hogy röviden átváltsak az élő bemutatóra, ha a bizottság szeretné látni néhány szint generálását.</a:t>
            </a:r>
            <a:endParaRPr/>
          </a:p>
        </p:txBody>
      </p:sp>
      <p:sp>
        <p:nvSpPr>
          <p:cNvPr id="150" name="Google Shape;15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második központi rendszer a harc — technikailag a legösszetettebb játékmeneti kód. A támadás villámkúpot lő a kurzor felé. A találatérzékelés két lépésből áll. Először a durva fázis: egy overlap-circle lekérdezés csak a játékos közelében lévő ellenségeket gyűjti be, tehát sosem vizsgálom az egész szobát. Aztán a pontos fázis: a kúpban lévő minden ellenségre a 2D vektoriális szorzattal számolom ki a merőleges távolságát minden egyes villámhoz, ami pontosan megmondja, hány villám találja el. A sebzés a villámok számával nő, és van egy egytalálatos alsó küszöb, hogy a kúp szélén elkapott ellenség se úszhassa meg nulla sebzéssel egy geometriai furcsaság miatt. Maguk a villámok felezőpont-eltolással rajzolódnak a cikcakkos megjelenésért. Erre és a generátorra számítok a legtöbb kérdésre.</a:t>
            </a:r>
            <a:endParaRPr/>
          </a:p>
        </p:txBody>
      </p:sp>
      <p:sp>
        <p:nvSpPr>
          <p:cNvPr id="161" name="Google Shape;16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Az erő két úton nő, eltérő szerepekkel. A kincses szobák választható tárgyakat rejtenek — mindegyik egy ScriptableObject, amely egy hatás-interfészt valósít meg, és shuffle bagből húzódik, így ugyanaz a tárgy nem jelenik meg kétszer egy játszmában. Ezek tudatos, build-meghatározó döntések. Emellett minden kitakarított harci szoba automatikusan tíz százalékkal növel egy véletlen statisztikát, kamatosan — kivéve a lövedékszámot, amely fixen eggyel nő, mivel diszkrét egész. A tízszázalékos arány játéktesztelésből jött: huszonöt százaléknál a játékos két szoba alatt túl erős lett, öt százalék érzékelhetetlen volt. Mindkét rendszer passzív — nincsenek aktív tárgyak és nincs kezelendő leltár.</a:t>
            </a:r>
            <a:endParaRPr/>
          </a:p>
        </p:txBody>
      </p:sp>
      <p:sp>
        <p:nvSpPr>
          <p:cNvPr id="182" name="Google Shape;18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ranglista az egyetlen funkció, amellyel egyik összehasonlítható kereskedelmi játék sem rendelkezik. Cloud Firestore-on fut, amelyet a Realtime Database helyett választottam, mert lekérdezési szinten rendez és korlátoz — a szerver már rendezve adja vissza a legjobb pontszámokat. Szándékosan nem a Firebase Unity SDK-t használtam, amely mobilorientált és asztali gépen körülményes; közvetlenül a Firestore REST API-ját hívom a Unity beépített webkéréseivel, így nincs plusz függőség. Az írásokat szerveroldali biztonsági szabályok validálják — névhossz és nemnegatív pontszám —, ami fiókok nélkül megállítja a triviális visszaélést. A dolgozatban őszintén jelzem, hogy ez nem akadályozza meg teljesen a pontszám-hamisítást; jövőbeli irányként szerepel.</a:t>
            </a:r>
            <a:endParaRPr/>
          </a:p>
        </p:txBody>
      </p:sp>
      <p:sp>
        <p:nvSpPr>
          <p:cNvPr id="198" name="Google Shape;19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Hadd legyek egyenes a hozzájárulást illetően, mert a bizottság rá fog kérdezni. Nem találtam fel új algoritmust vagy új műfajt, és nem is állítom. A hozzájárulás tervezés és szintézis, három szinten. Először a koncepció — egy eredeti játék a kóma és a tudatalatti gondolatára építve, amely összeköti a témát, a grafikát és a fejlődést. Másodszor a rendszerek — a kétfázisú generátor és a kúpalapú harc konkrét megtervezése, abban a formában, ahogy itt megvalósultak. Harmadszor, és ez a legfontosabb, az integráció — a megfelelő bevált technikák kiválasztása az adott keretekhez, és összeillesztésük egy teljes, stabil, játszható játékká. Pontosan ezt kell mérnie a szakdolgozatnak: az utat a koncepciótól a kész termékig. Inkább vállalom ezt őszintén, mint hogy olyan újdonságot állítsak, amit aztán védenem kellene.</a:t>
            </a:r>
            <a:endParaRPr/>
          </a:p>
        </p:txBody>
      </p:sp>
      <p:sp>
        <p:nvSpPr>
          <p:cNvPr id="219" name="Google Shape;21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tesztelésről egyenesen beszélek: mit csináltam és mit nem. A validálás kézi volt: folyamatos játéktesztelés, amit a mindig játszható build tett lehetővé, plusz minden funkció célzott tesztelése a normál és határeseteken keresztül, a követelményekre vetítve. Automatizált tesztcsomagot nem írtam. A generátort sok lejátszott játszma validálja — de ami fontos, ezt a megfigyelést a már említett felépítésbeli garanciák támasztják alá: az összefüggőség szerkezeti, és a főellenség mindig létezik. Ezt a korlátot nyíltan vállalom a dolgozatban, és megnevezem, mi erősítené: egy automatizált megoldhatósági ellenőrzés, amely szintek ezreit generálja, unit tesztek az önálló logikára, és strukturált felhasználói tesztelés. Inkább mutatok be őszinte kézi tesztelést világos korlátokkal, mint hogy olyan szigort állítsak, amivel nem rendelkeztem.</a:t>
            </a:r>
            <a:endParaRPr/>
          </a:p>
        </p:txBody>
      </p:sp>
      <p:sp>
        <p:nvSpPr>
          <p:cNvPr id="240" name="Google Shape;24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Összegzésül: a projekt elérte a céljait. Teljes — egy egész játszma a kezdéstől a generált szinteken át a főellenségig és a győzelmi állapotig. Koherens — egyetlen koncepció köti össze a témát, a grafikát és a fejlődést. És bővíthető — bizonyítva azzal, hogy a végén ellenségeket adtam hozzá a meglévő kód érintése nélkül. A jövőbeli irányok közvetlenül a vállalt korlátokból következnek: automatizált generátor- és unit tesztelés, több tartalom, a narratív rendszer gazdagabb kihasználása, erősített csalásvédelem a ranglistán és kontrollertámogatás, amit az input-architektúra már most lehetővé tesz. A központi cél — egy játék útja a koncepciótól a kész, csiszolt termékig — teljesült.</a:t>
            </a:r>
            <a:endParaRPr/>
          </a:p>
        </p:txBody>
      </p:sp>
      <p:sp>
        <p:nvSpPr>
          <p:cNvPr id="256" name="Google Shape;25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Ez volt az áttekintés — most engedjék meg, hogy működés közben mutassam meg. [Váltás a játékra. Javasolt menet: játszma indítása; mozgás és támadás a kúphoz; egy szoba kitakarítása a lezáráshoz + statisztikabónuszhoz; néhány szoba a változatosságért; tárgy felvétele a kincses szobából; a főellenség két fázisa; halál vagy győzelem a FRACTURED szekvenciához / narratív feloldáshoz; ranglista megnyitása és pontszám beküldése.] Köszönöm — várom a kérdéseiket.</a:t>
            </a:r>
            <a:endParaRPr/>
          </a:p>
        </p:txBody>
      </p:sp>
      <p:sp>
        <p:nvSpPr>
          <p:cNvPr id="276" name="Google Shape;27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15" name="Shape 15"/>
        <p:cNvGrpSpPr/>
        <p:nvPr/>
      </p:nvGrpSpPr>
      <p:grpSpPr>
        <a:xfrm>
          <a:off x="0" y="0"/>
          <a:ext cx="0" cy="0"/>
          <a:chOff x="0" y="0"/>
          <a:chExt cx="0" cy="0"/>
        </a:xfrm>
      </p:grpSpPr>
      <p:sp>
        <p:nvSpPr>
          <p:cNvPr id="16" name="Google Shape;16;p3"/>
          <p:cNvSpPr/>
          <p:nvPr/>
        </p:nvSpPr>
        <p:spPr>
          <a:xfrm>
            <a:off x="640080" y="640080"/>
            <a:ext cx="91440" cy="91440"/>
          </a:xfrm>
          <a:prstGeom prst="ellipse">
            <a:avLst/>
          </a:prstGeom>
          <a:solidFill>
            <a:srgbClr val="2A7A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914400" y="868680"/>
            <a:ext cx="91440" cy="91440"/>
          </a:xfrm>
          <a:prstGeom prst="ellipse">
            <a:avLst/>
          </a:prstGeom>
          <a:solidFill>
            <a:srgbClr val="2A7A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777240" y="1143000"/>
            <a:ext cx="91440" cy="91440"/>
          </a:xfrm>
          <a:prstGeom prst="ellipse">
            <a:avLst/>
          </a:prstGeom>
          <a:solidFill>
            <a:srgbClr val="2A7A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548640" y="2286000"/>
            <a:ext cx="11064240"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DE7F2"/>
              </a:buClr>
              <a:buSzPts val="7200"/>
              <a:buFont typeface="Cambria"/>
              <a:buNone/>
            </a:pPr>
            <a:r>
              <a:rPr b="1" i="0" lang="en-US" sz="7200" u="none" cap="none" strike="noStrike">
                <a:solidFill>
                  <a:srgbClr val="EDE7F2"/>
                </a:solidFill>
                <a:latin typeface="Cambria"/>
                <a:ea typeface="Cambria"/>
                <a:cs typeface="Cambria"/>
                <a:sym typeface="Cambria"/>
              </a:rPr>
              <a:t>KATAGMA</a:t>
            </a:r>
            <a:endParaRPr b="0" i="0" sz="7200" u="none" cap="none" strike="noStrike">
              <a:solidFill>
                <a:schemeClr val="dk1"/>
              </a:solidFill>
              <a:latin typeface="Calibri"/>
              <a:ea typeface="Calibri"/>
              <a:cs typeface="Calibri"/>
              <a:sym typeface="Calibri"/>
            </a:endParaRPr>
          </a:p>
        </p:txBody>
      </p:sp>
      <p:sp>
        <p:nvSpPr>
          <p:cNvPr id="20" name="Google Shape;20;p3"/>
          <p:cNvSpPr/>
          <p:nvPr/>
        </p:nvSpPr>
        <p:spPr>
          <a:xfrm>
            <a:off x="914400" y="3566160"/>
            <a:ext cx="10332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FB8AF"/>
              </a:buClr>
              <a:buSzPts val="1900"/>
              <a:buFont typeface="Calibri"/>
              <a:buNone/>
            </a:pPr>
            <a:r>
              <a:rPr b="0" i="0" lang="en-US" sz="1900" u="none" cap="none" strike="noStrike">
                <a:solidFill>
                  <a:srgbClr val="3FB8AF"/>
                </a:solidFill>
                <a:latin typeface="Calibri"/>
                <a:ea typeface="Calibri"/>
                <a:cs typeface="Calibri"/>
                <a:sym typeface="Calibri"/>
              </a:rPr>
              <a:t>Procedurálisan generált roguelike dungeon crawler Unity-ben</a:t>
            </a:r>
            <a:endParaRPr b="0" i="0" sz="1900" u="none" cap="none" strike="noStrike">
              <a:solidFill>
                <a:schemeClr val="dk1"/>
              </a:solidFill>
              <a:latin typeface="Calibri"/>
              <a:ea typeface="Calibri"/>
              <a:cs typeface="Calibri"/>
              <a:sym typeface="Calibri"/>
            </a:endParaRPr>
          </a:p>
        </p:txBody>
      </p:sp>
      <p:sp>
        <p:nvSpPr>
          <p:cNvPr id="21" name="Google Shape;21;p3"/>
          <p:cNvSpPr/>
          <p:nvPr/>
        </p:nvSpPr>
        <p:spPr>
          <a:xfrm>
            <a:off x="914400" y="4297680"/>
            <a:ext cx="103327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Szakdolgozat  ·  Informatika  ·  UMFST „George Emil Palade”, Marosvásárhely</a:t>
            </a:r>
            <a:endParaRPr b="0" i="0" sz="1300" u="none" cap="none" strike="noStrike">
              <a:solidFill>
                <a:schemeClr val="dk1"/>
              </a:solidFill>
              <a:latin typeface="Calibri"/>
              <a:ea typeface="Calibri"/>
              <a:cs typeface="Calibri"/>
              <a:sym typeface="Calibri"/>
            </a:endParaRPr>
          </a:p>
        </p:txBody>
      </p:sp>
      <p:sp>
        <p:nvSpPr>
          <p:cNvPr id="22" name="Google Shape;22;p3"/>
          <p:cNvSpPr/>
          <p:nvPr/>
        </p:nvSpPr>
        <p:spPr>
          <a:xfrm>
            <a:off x="914400" y="5394960"/>
            <a:ext cx="103327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A8FA8"/>
              </a:buClr>
              <a:buSzPts val="1400"/>
              <a:buFont typeface="Calibri"/>
              <a:buNone/>
            </a:pPr>
            <a:r>
              <a:rPr b="1" i="0" lang="en-US" sz="1400" u="none" cap="none" strike="noStrike">
                <a:solidFill>
                  <a:srgbClr val="9A8FA8"/>
                </a:solidFill>
                <a:latin typeface="Calibri"/>
                <a:ea typeface="Calibri"/>
                <a:cs typeface="Calibri"/>
                <a:sym typeface="Calibri"/>
              </a:rPr>
              <a:t>Készítette: </a:t>
            </a:r>
            <a:r>
              <a:rPr b="0" i="0" lang="en-US" sz="1400" u="none" cap="none" strike="noStrike">
                <a:solidFill>
                  <a:srgbClr val="EDE7F2"/>
                </a:solidFill>
                <a:latin typeface="Calibri"/>
                <a:ea typeface="Calibri"/>
                <a:cs typeface="Calibri"/>
                <a:sym typeface="Calibri"/>
              </a:rPr>
              <a:t>Lőrincz Tamás</a:t>
            </a:r>
            <a:r>
              <a:rPr b="1" i="0" lang="en-US" sz="1400" u="none" cap="none" strike="noStrike">
                <a:solidFill>
                  <a:srgbClr val="9A8FA8"/>
                </a:solidFill>
                <a:latin typeface="Calibri"/>
                <a:ea typeface="Calibri"/>
                <a:cs typeface="Calibri"/>
                <a:sym typeface="Calibri"/>
              </a:rPr>
              <a:t>          Témavezető: </a:t>
            </a:r>
            <a:r>
              <a:rPr b="0" i="0" lang="en-US" sz="1400" u="none" cap="none" strike="noStrike">
                <a:solidFill>
                  <a:srgbClr val="EDE7F2"/>
                </a:solidFill>
                <a:latin typeface="Calibri"/>
                <a:ea typeface="Calibri"/>
                <a:cs typeface="Calibri"/>
                <a:sym typeface="Calibri"/>
              </a:rPr>
              <a:t>dr. Finta Béla, egyetemi docens</a:t>
            </a:r>
            <a:endParaRPr b="0" i="0" sz="1400" u="none" cap="none" strike="noStrike">
              <a:solidFill>
                <a:schemeClr val="dk1"/>
              </a:solidFill>
              <a:latin typeface="Calibri"/>
              <a:ea typeface="Calibri"/>
              <a:cs typeface="Calibri"/>
              <a:sym typeface="Calibri"/>
            </a:endParaRPr>
          </a:p>
        </p:txBody>
      </p:sp>
      <p:sp>
        <p:nvSpPr>
          <p:cNvPr id="23" name="Google Shape;23;p3"/>
          <p:cNvSpPr/>
          <p:nvPr/>
        </p:nvSpPr>
        <p:spPr>
          <a:xfrm>
            <a:off x="914400" y="5852160"/>
            <a:ext cx="103327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A8FA8"/>
              </a:buClr>
              <a:buSzPts val="1200"/>
              <a:buFont typeface="Calibri"/>
              <a:buNone/>
            </a:pPr>
            <a:r>
              <a:rPr b="0" i="0" lang="en-US" sz="1200" u="none" cap="none" strike="noStrike">
                <a:solidFill>
                  <a:srgbClr val="9A8FA8"/>
                </a:solidFill>
                <a:latin typeface="Calibri"/>
                <a:ea typeface="Calibri"/>
                <a:cs typeface="Calibri"/>
                <a:sym typeface="Calibri"/>
              </a:rPr>
              <a:t>2026-os évfolyam</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28" name="Shape 28"/>
        <p:cNvGrpSpPr/>
        <p:nvPr/>
      </p:nvGrpSpPr>
      <p:grpSpPr>
        <a:xfrm>
          <a:off x="0" y="0"/>
          <a:ext cx="0" cy="0"/>
          <a:chOff x="0" y="0"/>
          <a:chExt cx="0" cy="0"/>
        </a:xfrm>
      </p:grpSpPr>
      <p:sp>
        <p:nvSpPr>
          <p:cNvPr id="29" name="Google Shape;29;p4"/>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A KONCEPCIÓ</a:t>
            </a:r>
            <a:endParaRPr b="0" i="0" sz="1200" u="none" cap="none" strike="noStrike">
              <a:solidFill>
                <a:schemeClr val="dk1"/>
              </a:solidFill>
              <a:latin typeface="Calibri"/>
              <a:ea typeface="Calibri"/>
              <a:cs typeface="Calibri"/>
              <a:sym typeface="Calibri"/>
            </a:endParaRPr>
          </a:p>
        </p:txBody>
      </p:sp>
      <p:sp>
        <p:nvSpPr>
          <p:cNvPr id="30" name="Google Shape;30;p4"/>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Egy elme, amely ébredni próbál</a:t>
            </a:r>
            <a:endParaRPr b="0" i="0" sz="3200" u="none" cap="none" strike="noStrike">
              <a:solidFill>
                <a:schemeClr val="dk1"/>
              </a:solidFill>
              <a:latin typeface="Calibri"/>
              <a:ea typeface="Calibri"/>
              <a:cs typeface="Calibri"/>
              <a:sym typeface="Calibri"/>
            </a:endParaRPr>
          </a:p>
        </p:txBody>
      </p:sp>
      <p:sp>
        <p:nvSpPr>
          <p:cNvPr id="31" name="Google Shape;31;p4"/>
          <p:cNvSpPr/>
          <p:nvPr/>
        </p:nvSpPr>
        <p:spPr>
          <a:xfrm>
            <a:off x="548640" y="1828800"/>
            <a:ext cx="5669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800"/>
              <a:buFont typeface="Calibri"/>
              <a:buNone/>
            </a:pPr>
            <a:r>
              <a:rPr b="1" i="0" lang="en-US" sz="1800" u="none" cap="none" strike="noStrike">
                <a:solidFill>
                  <a:srgbClr val="3FB8AF"/>
                </a:solidFill>
                <a:latin typeface="Calibri"/>
                <a:ea typeface="Calibri"/>
                <a:cs typeface="Calibri"/>
                <a:sym typeface="Calibri"/>
              </a:rPr>
              <a:t>A Katagma</a:t>
            </a:r>
            <a:r>
              <a:rPr b="0" i="0" lang="en-US" sz="1800" u="none" cap="none" strike="noStrike">
                <a:solidFill>
                  <a:srgbClr val="EDE7F2"/>
                </a:solidFill>
                <a:latin typeface="Calibri"/>
                <a:ea typeface="Calibri"/>
                <a:cs typeface="Calibri"/>
                <a:sym typeface="Calibri"/>
              </a:rPr>
              <a:t> a görög </a:t>
            </a:r>
            <a:r>
              <a:rPr b="0" i="1" lang="en-US" sz="1800" u="none" cap="none" strike="noStrike">
                <a:solidFill>
                  <a:srgbClr val="EDE7F2"/>
                </a:solidFill>
                <a:latin typeface="Calibri"/>
                <a:ea typeface="Calibri"/>
                <a:cs typeface="Calibri"/>
                <a:sym typeface="Calibri"/>
              </a:rPr>
              <a:t>törés</a:t>
            </a:r>
            <a:r>
              <a:rPr b="0" i="0" lang="en-US" sz="1800" u="none" cap="none" strike="noStrike">
                <a:solidFill>
                  <a:srgbClr val="EDE7F2"/>
                </a:solidFill>
                <a:latin typeface="Calibri"/>
                <a:ea typeface="Calibri"/>
                <a:cs typeface="Calibri"/>
                <a:sym typeface="Calibri"/>
              </a:rPr>
              <a:t> szóból ered.</a:t>
            </a:r>
            <a:endParaRPr b="0" i="0" sz="1800" u="none" cap="none" strike="noStrike">
              <a:solidFill>
                <a:schemeClr val="dk1"/>
              </a:solidFill>
              <a:latin typeface="Calibri"/>
              <a:ea typeface="Calibri"/>
              <a:cs typeface="Calibri"/>
              <a:sym typeface="Calibri"/>
            </a:endParaRPr>
          </a:p>
        </p:txBody>
      </p:sp>
      <p:sp>
        <p:nvSpPr>
          <p:cNvPr id="32" name="Google Shape;32;p4"/>
          <p:cNvSpPr/>
          <p:nvPr/>
        </p:nvSpPr>
        <p:spPr>
          <a:xfrm>
            <a:off x="548640" y="3115840"/>
            <a:ext cx="5669400" cy="2011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500"/>
              <a:buFont typeface="Calibri"/>
              <a:buNone/>
            </a:pPr>
            <a:r>
              <a:rPr b="0" i="0" lang="en-US" sz="1500" u="none" cap="none" strike="noStrike">
                <a:solidFill>
                  <a:srgbClr val="EDE7F2"/>
                </a:solidFill>
                <a:latin typeface="Calibri"/>
                <a:ea typeface="Calibri"/>
                <a:cs typeface="Calibri"/>
                <a:sym typeface="Calibri"/>
              </a:rPr>
              <a:t>A játékos egy kómában lévő elme, amely saját tudatalattijának rétegein át felfelé kapaszkodva próbál felébredni. Minden játszma egy kísérlet a felszín elérésére. Ha a játszma halállal ér véget, az elme megtörik, és nem ébred fel </a:t>
            </a:r>
            <a:r>
              <a:rPr lang="en-US" sz="1500">
                <a:solidFill>
                  <a:srgbClr val="EDE7F2"/>
                </a:solidFill>
                <a:latin typeface="Calibri"/>
                <a:ea typeface="Calibri"/>
                <a:cs typeface="Calibri"/>
                <a:sym typeface="Calibri"/>
              </a:rPr>
              <a:t>-</a:t>
            </a:r>
            <a:r>
              <a:rPr b="0" i="0" lang="en-US" sz="1500" u="none" cap="none" strike="noStrike">
                <a:solidFill>
                  <a:srgbClr val="EDE7F2"/>
                </a:solidFill>
                <a:latin typeface="Calibri"/>
                <a:ea typeface="Calibri"/>
                <a:cs typeface="Calibri"/>
                <a:sym typeface="Calibri"/>
              </a:rPr>
              <a:t> ez a kudarc, amit a cím megnevez.</a:t>
            </a:r>
            <a:endParaRPr b="0" i="0" sz="1500" u="none" cap="none" strike="noStrike">
              <a:solidFill>
                <a:schemeClr val="dk1"/>
              </a:solidFill>
              <a:latin typeface="Calibri"/>
              <a:ea typeface="Calibri"/>
              <a:cs typeface="Calibri"/>
              <a:sym typeface="Calibri"/>
            </a:endParaRPr>
          </a:p>
        </p:txBody>
      </p:sp>
      <p:sp>
        <p:nvSpPr>
          <p:cNvPr id="33" name="Google Shape;33;p4"/>
          <p:cNvSpPr/>
          <p:nvPr/>
        </p:nvSpPr>
        <p:spPr>
          <a:xfrm>
            <a:off x="6675120" y="1828800"/>
            <a:ext cx="4937760" cy="3840480"/>
          </a:xfrm>
          <a:prstGeom prst="roundRect">
            <a:avLst>
              <a:gd fmla="val 1905"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6949440" y="2148840"/>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7223760" y="2057400"/>
            <a:ext cx="42062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600"/>
              <a:buFont typeface="Calibri"/>
              <a:buNone/>
            </a:pPr>
            <a:r>
              <a:rPr b="1" i="0" lang="en-US" sz="1600" u="none" cap="none" strike="noStrike">
                <a:solidFill>
                  <a:srgbClr val="3FB8AF"/>
                </a:solidFill>
                <a:latin typeface="Calibri"/>
                <a:ea typeface="Calibri"/>
                <a:cs typeface="Calibri"/>
                <a:sym typeface="Calibri"/>
              </a:rPr>
              <a:t>Miért roguelike?</a:t>
            </a:r>
            <a:endParaRPr b="0" i="0" sz="1600" u="none" cap="none" strike="noStrike">
              <a:solidFill>
                <a:schemeClr val="dk1"/>
              </a:solidFill>
              <a:latin typeface="Calibri"/>
              <a:ea typeface="Calibri"/>
              <a:cs typeface="Calibri"/>
              <a:sym typeface="Calibri"/>
            </a:endParaRPr>
          </a:p>
        </p:txBody>
      </p:sp>
      <p:sp>
        <p:nvSpPr>
          <p:cNvPr id="36" name="Google Shape;36;p4"/>
          <p:cNvSpPr/>
          <p:nvPr/>
        </p:nvSpPr>
        <p:spPr>
          <a:xfrm>
            <a:off x="7223760" y="2560320"/>
            <a:ext cx="4206240" cy="914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300"/>
              <a:buFont typeface="Calibri"/>
              <a:buNone/>
            </a:pPr>
            <a:r>
              <a:rPr b="1" i="0" lang="en-US" sz="1300" u="none" cap="none" strike="noStrike">
                <a:solidFill>
                  <a:srgbClr val="EDE7F2"/>
                </a:solidFill>
                <a:latin typeface="Calibri"/>
                <a:ea typeface="Calibri"/>
                <a:cs typeface="Calibri"/>
                <a:sym typeface="Calibri"/>
              </a:rPr>
              <a:t>A procedurális generálás </a:t>
            </a:r>
            <a:r>
              <a:rPr b="0" i="0" lang="en-US" sz="1300" u="none" cap="none" strike="noStrike">
                <a:solidFill>
                  <a:srgbClr val="EDE7F2"/>
                </a:solidFill>
                <a:latin typeface="Calibri"/>
                <a:ea typeface="Calibri"/>
                <a:cs typeface="Calibri"/>
                <a:sym typeface="Calibri"/>
              </a:rPr>
              <a:t>minden játszmához új világot ad </a:t>
            </a:r>
            <a:r>
              <a:rPr lang="en-US" sz="1300">
                <a:solidFill>
                  <a:srgbClr val="EDE7F2"/>
                </a:solidFill>
                <a:latin typeface="Calibri"/>
                <a:ea typeface="Calibri"/>
                <a:cs typeface="Calibri"/>
                <a:sym typeface="Calibri"/>
              </a:rPr>
              <a:t>-</a:t>
            </a:r>
            <a:r>
              <a:rPr b="0" i="0" lang="en-US" sz="1300" u="none" cap="none" strike="noStrike">
                <a:solidFill>
                  <a:srgbClr val="EDE7F2"/>
                </a:solidFill>
                <a:latin typeface="Calibri"/>
                <a:ea typeface="Calibri"/>
                <a:cs typeface="Calibri"/>
                <a:sym typeface="Calibri"/>
              </a:rPr>
              <a:t> valódi újrajátszhatóság és igazi mérnöki probléma.</a:t>
            </a:r>
            <a:endParaRPr b="0" i="0" sz="1300" u="none" cap="none" strike="noStrike">
              <a:solidFill>
                <a:schemeClr val="dk1"/>
              </a:solidFill>
              <a:latin typeface="Calibri"/>
              <a:ea typeface="Calibri"/>
              <a:cs typeface="Calibri"/>
              <a:sym typeface="Calibri"/>
            </a:endParaRPr>
          </a:p>
        </p:txBody>
      </p:sp>
      <p:sp>
        <p:nvSpPr>
          <p:cNvPr id="37" name="Google Shape;37;p4"/>
          <p:cNvSpPr/>
          <p:nvPr/>
        </p:nvSpPr>
        <p:spPr>
          <a:xfrm>
            <a:off x="7223760" y="3566160"/>
            <a:ext cx="4206240" cy="914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300"/>
              <a:buFont typeface="Calibri"/>
              <a:buNone/>
            </a:pPr>
            <a:r>
              <a:rPr b="1" i="0" lang="en-US" sz="1300" u="none" cap="none" strike="noStrike">
                <a:solidFill>
                  <a:srgbClr val="EDE7F2"/>
                </a:solidFill>
                <a:latin typeface="Calibri"/>
                <a:ea typeface="Calibri"/>
                <a:cs typeface="Calibri"/>
                <a:sym typeface="Calibri"/>
              </a:rPr>
              <a:t>Az ismételt próbálkozások köre </a:t>
            </a:r>
            <a:r>
              <a:rPr b="0" i="0" lang="en-US" sz="1300" u="none" cap="none" strike="noStrike">
                <a:solidFill>
                  <a:srgbClr val="EDE7F2"/>
                </a:solidFill>
                <a:latin typeface="Calibri"/>
                <a:ea typeface="Calibri"/>
                <a:cs typeface="Calibri"/>
                <a:sym typeface="Calibri"/>
              </a:rPr>
              <a:t>a tudatosság felé való visszaküzdést tükrözi.</a:t>
            </a:r>
            <a:endParaRPr b="0" i="0" sz="1300" u="none" cap="none" strike="noStrike">
              <a:solidFill>
                <a:schemeClr val="dk1"/>
              </a:solidFill>
              <a:latin typeface="Calibri"/>
              <a:ea typeface="Calibri"/>
              <a:cs typeface="Calibri"/>
              <a:sym typeface="Calibri"/>
            </a:endParaRPr>
          </a:p>
        </p:txBody>
      </p:sp>
      <p:sp>
        <p:nvSpPr>
          <p:cNvPr id="38" name="Google Shape;38;p4"/>
          <p:cNvSpPr/>
          <p:nvPr/>
        </p:nvSpPr>
        <p:spPr>
          <a:xfrm>
            <a:off x="7223760" y="4572000"/>
            <a:ext cx="4206240"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300"/>
              <a:buFont typeface="Calibri"/>
              <a:buNone/>
            </a:pPr>
            <a:r>
              <a:rPr b="1" i="0" lang="en-US" sz="1300" u="none" cap="none" strike="noStrike">
                <a:solidFill>
                  <a:srgbClr val="EDE7F2"/>
                </a:solidFill>
                <a:latin typeface="Calibri"/>
                <a:ea typeface="Calibri"/>
                <a:cs typeface="Calibri"/>
                <a:sym typeface="Calibri"/>
              </a:rPr>
              <a:t>Szakdolgozati léptékhez illik: </a:t>
            </a:r>
            <a:r>
              <a:rPr b="0" i="0" lang="en-US" sz="1300" u="none" cap="none" strike="noStrike">
                <a:solidFill>
                  <a:srgbClr val="EDE7F2"/>
                </a:solidFill>
                <a:latin typeface="Calibri"/>
                <a:ea typeface="Calibri"/>
                <a:cs typeface="Calibri"/>
                <a:sym typeface="Calibri"/>
              </a:rPr>
              <a:t>egy feszes játékmenet befejezhető és csiszolható, nem marad prototípus.</a:t>
            </a:r>
            <a:endParaRPr b="0" i="0" sz="1300" u="none" cap="none" strike="noStrike">
              <a:solidFill>
                <a:schemeClr val="dk1"/>
              </a:solidFill>
              <a:latin typeface="Calibri"/>
              <a:ea typeface="Calibri"/>
              <a:cs typeface="Calibri"/>
              <a:sym typeface="Calibri"/>
            </a:endParaRPr>
          </a:p>
        </p:txBody>
      </p:sp>
      <p:sp>
        <p:nvSpPr>
          <p:cNvPr id="39" name="Google Shape;39;p4"/>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44" name="Shape 44"/>
        <p:cNvGrpSpPr/>
        <p:nvPr/>
      </p:nvGrpSpPr>
      <p:grpSpPr>
        <a:xfrm>
          <a:off x="0" y="0"/>
          <a:ext cx="0" cy="0"/>
          <a:chOff x="0" y="0"/>
          <a:chExt cx="0" cy="0"/>
        </a:xfrm>
      </p:grpSpPr>
      <p:sp>
        <p:nvSpPr>
          <p:cNvPr id="45" name="Google Shape;45;p5"/>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CÉLKITŰZÉSEK</a:t>
            </a:r>
            <a:endParaRPr b="0" i="0" sz="1200" u="none" cap="none" strike="noStrike">
              <a:solidFill>
                <a:schemeClr val="dk1"/>
              </a:solidFill>
              <a:latin typeface="Calibri"/>
              <a:ea typeface="Calibri"/>
              <a:cs typeface="Calibri"/>
              <a:sym typeface="Calibri"/>
            </a:endParaRPr>
          </a:p>
        </p:txBody>
      </p:sp>
      <p:sp>
        <p:nvSpPr>
          <p:cNvPr id="46" name="Google Shape;46;p5"/>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Mit tűzött ki a projekt</a:t>
            </a:r>
            <a:endParaRPr b="0" i="0" sz="3200" u="none" cap="none" strike="noStrike">
              <a:solidFill>
                <a:schemeClr val="dk1"/>
              </a:solidFill>
              <a:latin typeface="Calibri"/>
              <a:ea typeface="Calibri"/>
              <a:cs typeface="Calibri"/>
              <a:sym typeface="Calibri"/>
            </a:endParaRPr>
          </a:p>
        </p:txBody>
      </p:sp>
      <p:sp>
        <p:nvSpPr>
          <p:cNvPr id="47" name="Google Shape;47;p5"/>
          <p:cNvSpPr/>
          <p:nvPr/>
        </p:nvSpPr>
        <p:spPr>
          <a:xfrm>
            <a:off x="548640" y="1828800"/>
            <a:ext cx="5394960" cy="1234440"/>
          </a:xfrm>
          <a:prstGeom prst="roundRect">
            <a:avLst>
              <a:gd fmla="val 5926"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a:off x="804672" y="212140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a:off x="1051560" y="1993392"/>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00"/>
              <a:buFont typeface="Calibri"/>
              <a:buNone/>
            </a:pPr>
            <a:r>
              <a:rPr b="1" i="0" lang="en-US" sz="1500" u="none" cap="none" strike="noStrike">
                <a:solidFill>
                  <a:srgbClr val="3FB8AF"/>
                </a:solidFill>
                <a:latin typeface="Calibri"/>
                <a:ea typeface="Calibri"/>
                <a:cs typeface="Calibri"/>
                <a:sym typeface="Calibri"/>
              </a:rPr>
              <a:t>Procedurális generálás (procedural generation)</a:t>
            </a:r>
            <a:endParaRPr b="0" i="0" sz="1500" u="none" cap="none" strike="noStrike">
              <a:solidFill>
                <a:schemeClr val="dk1"/>
              </a:solidFill>
              <a:latin typeface="Calibri"/>
              <a:ea typeface="Calibri"/>
              <a:cs typeface="Calibri"/>
              <a:sym typeface="Calibri"/>
            </a:endParaRPr>
          </a:p>
        </p:txBody>
      </p:sp>
      <p:sp>
        <p:nvSpPr>
          <p:cNvPr id="50" name="Google Shape;50;p5"/>
          <p:cNvSpPr/>
          <p:nvPr/>
        </p:nvSpPr>
        <p:spPr>
          <a:xfrm>
            <a:off x="1051560" y="2395728"/>
            <a:ext cx="466344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Minden szinthez más, teljesen összefüggő pályaszerkezet.</a:t>
            </a:r>
            <a:endParaRPr b="0" i="0" sz="1250" u="none" cap="none" strike="noStrike">
              <a:solidFill>
                <a:schemeClr val="dk1"/>
              </a:solidFill>
              <a:latin typeface="Calibri"/>
              <a:ea typeface="Calibri"/>
              <a:cs typeface="Calibri"/>
              <a:sym typeface="Calibri"/>
            </a:endParaRPr>
          </a:p>
        </p:txBody>
      </p:sp>
      <p:sp>
        <p:nvSpPr>
          <p:cNvPr id="51" name="Google Shape;51;p5"/>
          <p:cNvSpPr/>
          <p:nvPr/>
        </p:nvSpPr>
        <p:spPr>
          <a:xfrm>
            <a:off x="6263640" y="1828800"/>
            <a:ext cx="5394960" cy="1234440"/>
          </a:xfrm>
          <a:prstGeom prst="roundRect">
            <a:avLst>
              <a:gd fmla="val 5926"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6519672" y="212140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6766560" y="1993392"/>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00"/>
              <a:buFont typeface="Calibri"/>
              <a:buNone/>
            </a:pPr>
            <a:r>
              <a:rPr b="1" i="0" lang="en-US" sz="1500" u="none" cap="none" strike="noStrike">
                <a:solidFill>
                  <a:srgbClr val="3FB8AF"/>
                </a:solidFill>
                <a:latin typeface="Calibri"/>
                <a:ea typeface="Calibri"/>
                <a:cs typeface="Calibri"/>
                <a:sym typeface="Calibri"/>
              </a:rPr>
              <a:t>Valós idejű harc</a:t>
            </a:r>
            <a:endParaRPr b="0" i="0" sz="1500" u="none" cap="none" strike="noStrike">
              <a:solidFill>
                <a:schemeClr val="dk1"/>
              </a:solidFill>
              <a:latin typeface="Calibri"/>
              <a:ea typeface="Calibri"/>
              <a:cs typeface="Calibri"/>
              <a:sym typeface="Calibri"/>
            </a:endParaRPr>
          </a:p>
        </p:txBody>
      </p:sp>
      <p:sp>
        <p:nvSpPr>
          <p:cNvPr id="54" name="Google Shape;54;p5"/>
          <p:cNvSpPr/>
          <p:nvPr/>
        </p:nvSpPr>
        <p:spPr>
          <a:xfrm>
            <a:off x="6766560" y="2395728"/>
            <a:ext cx="466344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Játékos, többféle ellenség és egy mély támadási rendszer.</a:t>
            </a:r>
            <a:endParaRPr b="0" i="0" sz="1250" u="none" cap="none" strike="noStrike">
              <a:solidFill>
                <a:schemeClr val="dk1"/>
              </a:solidFill>
              <a:latin typeface="Calibri"/>
              <a:ea typeface="Calibri"/>
              <a:cs typeface="Calibri"/>
              <a:sym typeface="Calibri"/>
            </a:endParaRPr>
          </a:p>
        </p:txBody>
      </p:sp>
      <p:sp>
        <p:nvSpPr>
          <p:cNvPr id="55" name="Google Shape;55;p5"/>
          <p:cNvSpPr/>
          <p:nvPr/>
        </p:nvSpPr>
        <p:spPr>
          <a:xfrm>
            <a:off x="548640" y="3291840"/>
            <a:ext cx="5394960" cy="1234440"/>
          </a:xfrm>
          <a:prstGeom prst="roundRect">
            <a:avLst>
              <a:gd fmla="val 5926"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804672" y="358444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1051560" y="3456432"/>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00"/>
              <a:buFont typeface="Calibri"/>
              <a:buNone/>
            </a:pPr>
            <a:r>
              <a:rPr b="1" i="0" lang="en-US" sz="1500" u="none" cap="none" strike="noStrike">
                <a:solidFill>
                  <a:srgbClr val="3FB8AF"/>
                </a:solidFill>
                <a:latin typeface="Calibri"/>
                <a:ea typeface="Calibri"/>
                <a:cs typeface="Calibri"/>
                <a:sym typeface="Calibri"/>
              </a:rPr>
              <a:t>Két fejlődési rendszer</a:t>
            </a:r>
            <a:endParaRPr b="0" i="0" sz="1500" u="none" cap="none" strike="noStrike">
              <a:solidFill>
                <a:schemeClr val="dk1"/>
              </a:solidFill>
              <a:latin typeface="Calibri"/>
              <a:ea typeface="Calibri"/>
              <a:cs typeface="Calibri"/>
              <a:sym typeface="Calibri"/>
            </a:endParaRPr>
          </a:p>
        </p:txBody>
      </p:sp>
      <p:sp>
        <p:nvSpPr>
          <p:cNvPr id="58" name="Google Shape;58;p5"/>
          <p:cNvSpPr/>
          <p:nvPr/>
        </p:nvSpPr>
        <p:spPr>
          <a:xfrm>
            <a:off x="1051560" y="3858768"/>
            <a:ext cx="466344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Passzív tárgyak és automatikus statisztikanövekedés.</a:t>
            </a:r>
            <a:endParaRPr b="0" i="0" sz="1250" u="none" cap="none" strike="noStrike">
              <a:solidFill>
                <a:schemeClr val="dk1"/>
              </a:solidFill>
              <a:latin typeface="Calibri"/>
              <a:ea typeface="Calibri"/>
              <a:cs typeface="Calibri"/>
              <a:sym typeface="Calibri"/>
            </a:endParaRPr>
          </a:p>
        </p:txBody>
      </p:sp>
      <p:sp>
        <p:nvSpPr>
          <p:cNvPr id="59" name="Google Shape;59;p5"/>
          <p:cNvSpPr/>
          <p:nvPr/>
        </p:nvSpPr>
        <p:spPr>
          <a:xfrm>
            <a:off x="6263640" y="3291840"/>
            <a:ext cx="5394960" cy="1234440"/>
          </a:xfrm>
          <a:prstGeom prst="roundRect">
            <a:avLst>
              <a:gd fmla="val 5926"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6519672" y="358444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6766560" y="3456432"/>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00"/>
              <a:buFont typeface="Calibri"/>
              <a:buNone/>
            </a:pPr>
            <a:r>
              <a:rPr b="1" i="0" lang="en-US" sz="1500" u="none" cap="none" strike="noStrike">
                <a:solidFill>
                  <a:srgbClr val="3FB8AF"/>
                </a:solidFill>
                <a:latin typeface="Calibri"/>
                <a:ea typeface="Calibri"/>
                <a:cs typeface="Calibri"/>
                <a:sym typeface="Calibri"/>
              </a:rPr>
              <a:t>Szintek és főellenség</a:t>
            </a:r>
            <a:endParaRPr b="0" i="0" sz="1500" u="none" cap="none" strike="noStrike">
              <a:solidFill>
                <a:schemeClr val="dk1"/>
              </a:solidFill>
              <a:latin typeface="Calibri"/>
              <a:ea typeface="Calibri"/>
              <a:cs typeface="Calibri"/>
              <a:sym typeface="Calibri"/>
            </a:endParaRPr>
          </a:p>
        </p:txBody>
      </p:sp>
      <p:sp>
        <p:nvSpPr>
          <p:cNvPr id="62" name="Google Shape;62;p5"/>
          <p:cNvSpPr/>
          <p:nvPr/>
        </p:nvSpPr>
        <p:spPr>
          <a:xfrm>
            <a:off x="6766560" y="3858768"/>
            <a:ext cx="466344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Több szint, főellenség, egyértelmű győzelmi feltétel.</a:t>
            </a:r>
            <a:endParaRPr b="0" i="0" sz="1250" u="none" cap="none" strike="noStrike">
              <a:solidFill>
                <a:schemeClr val="dk1"/>
              </a:solidFill>
              <a:latin typeface="Calibri"/>
              <a:ea typeface="Calibri"/>
              <a:cs typeface="Calibri"/>
              <a:sym typeface="Calibri"/>
            </a:endParaRPr>
          </a:p>
        </p:txBody>
      </p:sp>
      <p:sp>
        <p:nvSpPr>
          <p:cNvPr id="63" name="Google Shape;63;p5"/>
          <p:cNvSpPr/>
          <p:nvPr/>
        </p:nvSpPr>
        <p:spPr>
          <a:xfrm>
            <a:off x="548640" y="4754880"/>
            <a:ext cx="5394960" cy="1234440"/>
          </a:xfrm>
          <a:prstGeom prst="roundRect">
            <a:avLst>
              <a:gd fmla="val 5926"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804672" y="504748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1051560" y="4919472"/>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00"/>
              <a:buFont typeface="Calibri"/>
              <a:buNone/>
            </a:pPr>
            <a:r>
              <a:rPr b="1" i="0" lang="en-US" sz="1500" u="none" cap="none" strike="noStrike">
                <a:solidFill>
                  <a:srgbClr val="3FB8AF"/>
                </a:solidFill>
                <a:latin typeface="Calibri"/>
                <a:ea typeface="Calibri"/>
                <a:cs typeface="Calibri"/>
                <a:sym typeface="Calibri"/>
              </a:rPr>
              <a:t>Narratíva a játékon át</a:t>
            </a:r>
            <a:endParaRPr b="0" i="0" sz="1500" u="none" cap="none" strike="noStrike">
              <a:solidFill>
                <a:schemeClr val="dk1"/>
              </a:solidFill>
              <a:latin typeface="Calibri"/>
              <a:ea typeface="Calibri"/>
              <a:cs typeface="Calibri"/>
              <a:sym typeface="Calibri"/>
            </a:endParaRPr>
          </a:p>
        </p:txBody>
      </p:sp>
      <p:sp>
        <p:nvSpPr>
          <p:cNvPr id="66" name="Google Shape;66;p5"/>
          <p:cNvSpPr/>
          <p:nvPr/>
        </p:nvSpPr>
        <p:spPr>
          <a:xfrm>
            <a:off x="1051560" y="5321808"/>
            <a:ext cx="466344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Győzelmekkel fokozatosan feltáruló háttértörténet.</a:t>
            </a:r>
            <a:endParaRPr b="0" i="0" sz="1250" u="none" cap="none" strike="noStrike">
              <a:solidFill>
                <a:schemeClr val="dk1"/>
              </a:solidFill>
              <a:latin typeface="Calibri"/>
              <a:ea typeface="Calibri"/>
              <a:cs typeface="Calibri"/>
              <a:sym typeface="Calibri"/>
            </a:endParaRPr>
          </a:p>
        </p:txBody>
      </p:sp>
      <p:sp>
        <p:nvSpPr>
          <p:cNvPr id="67" name="Google Shape;67;p5"/>
          <p:cNvSpPr/>
          <p:nvPr/>
        </p:nvSpPr>
        <p:spPr>
          <a:xfrm>
            <a:off x="6263640" y="4754880"/>
            <a:ext cx="5394960" cy="1234440"/>
          </a:xfrm>
          <a:prstGeom prst="roundRect">
            <a:avLst>
              <a:gd fmla="val 5926"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6519672" y="504748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6766560" y="4919472"/>
            <a:ext cx="4663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00"/>
              <a:buFont typeface="Calibri"/>
              <a:buNone/>
            </a:pPr>
            <a:r>
              <a:rPr b="1" i="0" lang="en-US" sz="1500" u="none" cap="none" strike="noStrike">
                <a:solidFill>
                  <a:srgbClr val="3FB8AF"/>
                </a:solidFill>
                <a:latin typeface="Calibri"/>
                <a:ea typeface="Calibri"/>
                <a:cs typeface="Calibri"/>
                <a:sym typeface="Calibri"/>
              </a:rPr>
              <a:t>Teljes keretrendszer</a:t>
            </a:r>
            <a:endParaRPr b="0" i="0" sz="1500" u="none" cap="none" strike="noStrike">
              <a:solidFill>
                <a:schemeClr val="dk1"/>
              </a:solidFill>
              <a:latin typeface="Calibri"/>
              <a:ea typeface="Calibri"/>
              <a:cs typeface="Calibri"/>
              <a:sym typeface="Calibri"/>
            </a:endParaRPr>
          </a:p>
        </p:txBody>
      </p:sp>
      <p:sp>
        <p:nvSpPr>
          <p:cNvPr id="70" name="Google Shape;70;p5"/>
          <p:cNvSpPr/>
          <p:nvPr/>
        </p:nvSpPr>
        <p:spPr>
          <a:xfrm>
            <a:off x="6766560" y="5321808"/>
            <a:ext cx="466344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Menük, HUD, minitérkép, mentés, online ranglista.</a:t>
            </a:r>
            <a:endParaRPr b="0" i="0" sz="1250" u="none" cap="none" strike="noStrike">
              <a:solidFill>
                <a:schemeClr val="dk1"/>
              </a:solidFill>
              <a:latin typeface="Calibri"/>
              <a:ea typeface="Calibri"/>
              <a:cs typeface="Calibri"/>
              <a:sym typeface="Calibri"/>
            </a:endParaRPr>
          </a:p>
        </p:txBody>
      </p:sp>
      <p:sp>
        <p:nvSpPr>
          <p:cNvPr id="71" name="Google Shape;71;p5"/>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76" name="Shape 76"/>
        <p:cNvGrpSpPr/>
        <p:nvPr/>
      </p:nvGrpSpPr>
      <p:grpSpPr>
        <a:xfrm>
          <a:off x="0" y="0"/>
          <a:ext cx="0" cy="0"/>
          <a:chOff x="0" y="0"/>
          <a:chExt cx="0" cy="0"/>
        </a:xfrm>
      </p:grpSpPr>
      <p:sp>
        <p:nvSpPr>
          <p:cNvPr id="77" name="Google Shape;77;p6"/>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A TERÜLET ÁLLÁSA</a:t>
            </a:r>
            <a:endParaRPr b="0" i="0" sz="1200" u="none" cap="none" strike="noStrike">
              <a:solidFill>
                <a:schemeClr val="dk1"/>
              </a:solidFill>
              <a:latin typeface="Calibri"/>
              <a:ea typeface="Calibri"/>
              <a:cs typeface="Calibri"/>
              <a:sym typeface="Calibri"/>
            </a:endParaRPr>
          </a:p>
        </p:txBody>
      </p:sp>
      <p:sp>
        <p:nvSpPr>
          <p:cNvPr id="78" name="Google Shape;78;p6"/>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Hol helyezkedik el a Katagma</a:t>
            </a:r>
            <a:endParaRPr b="0" i="0" sz="3200" u="none" cap="none" strike="noStrike">
              <a:solidFill>
                <a:schemeClr val="dk1"/>
              </a:solidFill>
              <a:latin typeface="Calibri"/>
              <a:ea typeface="Calibri"/>
              <a:cs typeface="Calibri"/>
              <a:sym typeface="Calibri"/>
            </a:endParaRPr>
          </a:p>
        </p:txBody>
      </p:sp>
      <p:sp>
        <p:nvSpPr>
          <p:cNvPr id="79" name="Google Shape;79;p6"/>
          <p:cNvSpPr/>
          <p:nvPr/>
        </p:nvSpPr>
        <p:spPr>
          <a:xfrm>
            <a:off x="548640" y="1783080"/>
            <a:ext cx="11064240" cy="822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400"/>
              <a:buFont typeface="Calibri"/>
              <a:buNone/>
            </a:pPr>
            <a:r>
              <a:rPr b="0" i="0" lang="en-US" sz="1400" u="none" cap="none" strike="noStrike">
                <a:solidFill>
                  <a:srgbClr val="EDE7F2"/>
                </a:solidFill>
                <a:latin typeface="Calibri"/>
                <a:ea typeface="Calibri"/>
                <a:cs typeface="Calibri"/>
                <a:sym typeface="Calibri"/>
              </a:rPr>
              <a:t>A roguelike műfaj a procedurális generálást párosítja a permadeath-szel. A Katagma a szobaalapú, felülnézetes ágat követi </a:t>
            </a:r>
            <a:r>
              <a:rPr lang="en-US">
                <a:solidFill>
                  <a:srgbClr val="EDE7F2"/>
                </a:solidFill>
                <a:latin typeface="Calibri"/>
                <a:ea typeface="Calibri"/>
                <a:cs typeface="Calibri"/>
                <a:sym typeface="Calibri"/>
              </a:rPr>
              <a:t>-</a:t>
            </a:r>
            <a:r>
              <a:rPr b="0" i="0" lang="en-US" sz="1400" u="none" cap="none" strike="noStrike">
                <a:solidFill>
                  <a:srgbClr val="EDE7F2"/>
                </a:solidFill>
                <a:latin typeface="Calibri"/>
                <a:ea typeface="Calibri"/>
                <a:cs typeface="Calibri"/>
                <a:sym typeface="Calibri"/>
              </a:rPr>
              <a:t> legközelebb a The Binding of Isaachez - és tudatosan választott saját pozíciókat képvisel.</a:t>
            </a:r>
            <a:endParaRPr b="0" i="0" sz="1400" u="none" cap="none" strike="noStrike">
              <a:solidFill>
                <a:schemeClr val="dk1"/>
              </a:solidFill>
              <a:latin typeface="Calibri"/>
              <a:ea typeface="Calibri"/>
              <a:cs typeface="Calibri"/>
              <a:sym typeface="Calibri"/>
            </a:endParaRPr>
          </a:p>
        </p:txBody>
      </p:sp>
      <p:sp>
        <p:nvSpPr>
          <p:cNvPr id="80" name="Google Shape;80;p6"/>
          <p:cNvSpPr/>
          <p:nvPr/>
        </p:nvSpPr>
        <p:spPr>
          <a:xfrm>
            <a:off x="548640" y="2743200"/>
            <a:ext cx="3017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81" name="Google Shape;81;p6"/>
          <p:cNvSpPr/>
          <p:nvPr/>
        </p:nvSpPr>
        <p:spPr>
          <a:xfrm>
            <a:off x="3566160" y="2743200"/>
            <a:ext cx="2011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400"/>
              <a:buFont typeface="Calibri"/>
              <a:buNone/>
            </a:pPr>
            <a:r>
              <a:rPr b="1" i="0" lang="en-US" sz="1400" u="none" cap="none" strike="noStrike">
                <a:solidFill>
                  <a:srgbClr val="9A8FA8"/>
                </a:solidFill>
                <a:latin typeface="Calibri"/>
                <a:ea typeface="Calibri"/>
                <a:cs typeface="Calibri"/>
                <a:sym typeface="Calibri"/>
              </a:rPr>
              <a:t>Isaac</a:t>
            </a:r>
            <a:endParaRPr b="0" i="0" sz="1400" u="none" cap="none" strike="noStrike">
              <a:solidFill>
                <a:schemeClr val="dk1"/>
              </a:solidFill>
              <a:latin typeface="Calibri"/>
              <a:ea typeface="Calibri"/>
              <a:cs typeface="Calibri"/>
              <a:sym typeface="Calibri"/>
            </a:endParaRPr>
          </a:p>
        </p:txBody>
      </p:sp>
      <p:sp>
        <p:nvSpPr>
          <p:cNvPr id="82" name="Google Shape;82;p6"/>
          <p:cNvSpPr/>
          <p:nvPr/>
        </p:nvSpPr>
        <p:spPr>
          <a:xfrm>
            <a:off x="5577840" y="2743200"/>
            <a:ext cx="2011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400"/>
              <a:buFont typeface="Calibri"/>
              <a:buNone/>
            </a:pPr>
            <a:r>
              <a:rPr b="1" i="0" lang="en-US" sz="1400" u="none" cap="none" strike="noStrike">
                <a:solidFill>
                  <a:srgbClr val="9A8FA8"/>
                </a:solidFill>
                <a:latin typeface="Calibri"/>
                <a:ea typeface="Calibri"/>
                <a:cs typeface="Calibri"/>
                <a:sym typeface="Calibri"/>
              </a:rPr>
              <a:t>Dead Cells</a:t>
            </a:r>
            <a:endParaRPr b="0" i="0" sz="1400" u="none" cap="none" strike="noStrike">
              <a:solidFill>
                <a:schemeClr val="dk1"/>
              </a:solidFill>
              <a:latin typeface="Calibri"/>
              <a:ea typeface="Calibri"/>
              <a:cs typeface="Calibri"/>
              <a:sym typeface="Calibri"/>
            </a:endParaRPr>
          </a:p>
        </p:txBody>
      </p:sp>
      <p:sp>
        <p:nvSpPr>
          <p:cNvPr id="83" name="Google Shape;83;p6"/>
          <p:cNvSpPr/>
          <p:nvPr/>
        </p:nvSpPr>
        <p:spPr>
          <a:xfrm>
            <a:off x="7589520" y="2743200"/>
            <a:ext cx="2011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400"/>
              <a:buFont typeface="Calibri"/>
              <a:buNone/>
            </a:pPr>
            <a:r>
              <a:rPr b="1" i="0" lang="en-US" sz="1400" u="none" cap="none" strike="noStrike">
                <a:solidFill>
                  <a:srgbClr val="9A8FA8"/>
                </a:solidFill>
                <a:latin typeface="Calibri"/>
                <a:ea typeface="Calibri"/>
                <a:cs typeface="Calibri"/>
                <a:sym typeface="Calibri"/>
              </a:rPr>
              <a:t>Hades</a:t>
            </a:r>
            <a:endParaRPr b="0" i="0" sz="1400" u="none" cap="none" strike="noStrike">
              <a:solidFill>
                <a:schemeClr val="dk1"/>
              </a:solidFill>
              <a:latin typeface="Calibri"/>
              <a:ea typeface="Calibri"/>
              <a:cs typeface="Calibri"/>
              <a:sym typeface="Calibri"/>
            </a:endParaRPr>
          </a:p>
        </p:txBody>
      </p:sp>
      <p:sp>
        <p:nvSpPr>
          <p:cNvPr id="84" name="Google Shape;84;p6"/>
          <p:cNvSpPr/>
          <p:nvPr/>
        </p:nvSpPr>
        <p:spPr>
          <a:xfrm>
            <a:off x="9601200" y="2743200"/>
            <a:ext cx="2011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B8AF"/>
              </a:buClr>
              <a:buSzPts val="1400"/>
              <a:buFont typeface="Calibri"/>
              <a:buNone/>
            </a:pPr>
            <a:r>
              <a:rPr b="1" i="0" lang="en-US" sz="1400" u="none" cap="none" strike="noStrike">
                <a:solidFill>
                  <a:srgbClr val="3FB8AF"/>
                </a:solidFill>
                <a:latin typeface="Calibri"/>
                <a:ea typeface="Calibri"/>
                <a:cs typeface="Calibri"/>
                <a:sym typeface="Calibri"/>
              </a:rPr>
              <a:t>Katagma</a:t>
            </a:r>
            <a:endParaRPr b="0" i="0" sz="1400" u="none" cap="none" strike="noStrike">
              <a:solidFill>
                <a:schemeClr val="dk1"/>
              </a:solidFill>
              <a:latin typeface="Calibri"/>
              <a:ea typeface="Calibri"/>
              <a:cs typeface="Calibri"/>
              <a:sym typeface="Calibri"/>
            </a:endParaRPr>
          </a:p>
        </p:txBody>
      </p:sp>
      <p:sp>
        <p:nvSpPr>
          <p:cNvPr id="85" name="Google Shape;85;p6"/>
          <p:cNvSpPr/>
          <p:nvPr/>
        </p:nvSpPr>
        <p:spPr>
          <a:xfrm>
            <a:off x="548640" y="3154680"/>
            <a:ext cx="11064240" cy="530352"/>
          </a:xfrm>
          <a:prstGeom prst="rect">
            <a:avLst/>
          </a:prstGeom>
          <a:solidFill>
            <a:srgbClr val="241C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548640" y="3200400"/>
            <a:ext cx="3017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Szobaalapú szerkezet</a:t>
            </a:r>
            <a:endParaRPr b="0" i="0" sz="1300" u="none" cap="none" strike="noStrike">
              <a:solidFill>
                <a:schemeClr val="dk1"/>
              </a:solidFill>
              <a:latin typeface="Calibri"/>
              <a:ea typeface="Calibri"/>
              <a:cs typeface="Calibri"/>
              <a:sym typeface="Calibri"/>
            </a:endParaRPr>
          </a:p>
        </p:txBody>
      </p:sp>
      <p:sp>
        <p:nvSpPr>
          <p:cNvPr id="87" name="Google Shape;87;p6"/>
          <p:cNvSpPr/>
          <p:nvPr/>
        </p:nvSpPr>
        <p:spPr>
          <a:xfrm>
            <a:off x="3566160" y="3200400"/>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Igen</a:t>
            </a:r>
            <a:endParaRPr b="0" i="0" sz="1300" u="none" cap="none" strike="noStrike">
              <a:solidFill>
                <a:schemeClr val="dk1"/>
              </a:solidFill>
              <a:latin typeface="Calibri"/>
              <a:ea typeface="Calibri"/>
              <a:cs typeface="Calibri"/>
              <a:sym typeface="Calibri"/>
            </a:endParaRPr>
          </a:p>
        </p:txBody>
      </p:sp>
      <p:sp>
        <p:nvSpPr>
          <p:cNvPr id="88" name="Google Shape;88;p6"/>
          <p:cNvSpPr/>
          <p:nvPr/>
        </p:nvSpPr>
        <p:spPr>
          <a:xfrm>
            <a:off x="5577840" y="3200400"/>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Részben</a:t>
            </a:r>
            <a:endParaRPr b="0" i="0" sz="1300" u="none" cap="none" strike="noStrike">
              <a:solidFill>
                <a:schemeClr val="dk1"/>
              </a:solidFill>
              <a:latin typeface="Calibri"/>
              <a:ea typeface="Calibri"/>
              <a:cs typeface="Calibri"/>
              <a:sym typeface="Calibri"/>
            </a:endParaRPr>
          </a:p>
        </p:txBody>
      </p:sp>
      <p:sp>
        <p:nvSpPr>
          <p:cNvPr id="89" name="Google Shape;89;p6"/>
          <p:cNvSpPr/>
          <p:nvPr/>
        </p:nvSpPr>
        <p:spPr>
          <a:xfrm>
            <a:off x="7589520" y="3200400"/>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Igen</a:t>
            </a:r>
            <a:endParaRPr b="0" i="0" sz="1300" u="none" cap="none" strike="noStrike">
              <a:solidFill>
                <a:schemeClr val="dk1"/>
              </a:solidFill>
              <a:latin typeface="Calibri"/>
              <a:ea typeface="Calibri"/>
              <a:cs typeface="Calibri"/>
              <a:sym typeface="Calibri"/>
            </a:endParaRPr>
          </a:p>
        </p:txBody>
      </p:sp>
      <p:sp>
        <p:nvSpPr>
          <p:cNvPr id="90" name="Google Shape;90;p6"/>
          <p:cNvSpPr/>
          <p:nvPr/>
        </p:nvSpPr>
        <p:spPr>
          <a:xfrm>
            <a:off x="9601200" y="3200400"/>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B8AF"/>
              </a:buClr>
              <a:buSzPts val="1300"/>
              <a:buFont typeface="Calibri"/>
              <a:buNone/>
            </a:pPr>
            <a:r>
              <a:rPr b="1" i="0" lang="en-US" sz="1300" u="none" cap="none" strike="noStrike">
                <a:solidFill>
                  <a:srgbClr val="3FB8AF"/>
                </a:solidFill>
                <a:latin typeface="Calibri"/>
                <a:ea typeface="Calibri"/>
                <a:cs typeface="Calibri"/>
                <a:sym typeface="Calibri"/>
              </a:rPr>
              <a:t>Igen</a:t>
            </a:r>
            <a:endParaRPr b="0" i="0" sz="1300" u="none" cap="none" strike="noStrike">
              <a:solidFill>
                <a:schemeClr val="dk1"/>
              </a:solidFill>
              <a:latin typeface="Calibri"/>
              <a:ea typeface="Calibri"/>
              <a:cs typeface="Calibri"/>
              <a:sym typeface="Calibri"/>
            </a:endParaRPr>
          </a:p>
        </p:txBody>
      </p:sp>
      <p:sp>
        <p:nvSpPr>
          <p:cNvPr id="91" name="Google Shape;91;p6"/>
          <p:cNvSpPr/>
          <p:nvPr/>
        </p:nvSpPr>
        <p:spPr>
          <a:xfrm>
            <a:off x="548640" y="3767328"/>
            <a:ext cx="3017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Játszmák közti erő</a:t>
            </a:r>
            <a:endParaRPr b="0" i="0" sz="1300" u="none" cap="none" strike="noStrike">
              <a:solidFill>
                <a:schemeClr val="dk1"/>
              </a:solidFill>
              <a:latin typeface="Calibri"/>
              <a:ea typeface="Calibri"/>
              <a:cs typeface="Calibri"/>
              <a:sym typeface="Calibri"/>
            </a:endParaRPr>
          </a:p>
        </p:txBody>
      </p:sp>
      <p:sp>
        <p:nvSpPr>
          <p:cNvPr id="92" name="Google Shape;92;p6"/>
          <p:cNvSpPr/>
          <p:nvPr/>
        </p:nvSpPr>
        <p:spPr>
          <a:xfrm>
            <a:off x="3566160" y="3767328"/>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Nem</a:t>
            </a:r>
            <a:endParaRPr b="0" i="0" sz="1300" u="none" cap="none" strike="noStrike">
              <a:solidFill>
                <a:schemeClr val="dk1"/>
              </a:solidFill>
              <a:latin typeface="Calibri"/>
              <a:ea typeface="Calibri"/>
              <a:cs typeface="Calibri"/>
              <a:sym typeface="Calibri"/>
            </a:endParaRPr>
          </a:p>
        </p:txBody>
      </p:sp>
      <p:sp>
        <p:nvSpPr>
          <p:cNvPr id="93" name="Google Shape;93;p6"/>
          <p:cNvSpPr/>
          <p:nvPr/>
        </p:nvSpPr>
        <p:spPr>
          <a:xfrm>
            <a:off x="5577840" y="3767328"/>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Igen</a:t>
            </a:r>
            <a:endParaRPr b="0" i="0" sz="1300" u="none" cap="none" strike="noStrike">
              <a:solidFill>
                <a:schemeClr val="dk1"/>
              </a:solidFill>
              <a:latin typeface="Calibri"/>
              <a:ea typeface="Calibri"/>
              <a:cs typeface="Calibri"/>
              <a:sym typeface="Calibri"/>
            </a:endParaRPr>
          </a:p>
        </p:txBody>
      </p:sp>
      <p:sp>
        <p:nvSpPr>
          <p:cNvPr id="94" name="Google Shape;94;p6"/>
          <p:cNvSpPr/>
          <p:nvPr/>
        </p:nvSpPr>
        <p:spPr>
          <a:xfrm>
            <a:off x="7589520" y="3767328"/>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Igen</a:t>
            </a:r>
            <a:endParaRPr b="0" i="0" sz="1300" u="none" cap="none" strike="noStrike">
              <a:solidFill>
                <a:schemeClr val="dk1"/>
              </a:solidFill>
              <a:latin typeface="Calibri"/>
              <a:ea typeface="Calibri"/>
              <a:cs typeface="Calibri"/>
              <a:sym typeface="Calibri"/>
            </a:endParaRPr>
          </a:p>
        </p:txBody>
      </p:sp>
      <p:sp>
        <p:nvSpPr>
          <p:cNvPr id="95" name="Google Shape;95;p6"/>
          <p:cNvSpPr/>
          <p:nvPr/>
        </p:nvSpPr>
        <p:spPr>
          <a:xfrm>
            <a:off x="9601200" y="3767328"/>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B8AF"/>
              </a:buClr>
              <a:buSzPts val="1300"/>
              <a:buFont typeface="Calibri"/>
              <a:buNone/>
            </a:pPr>
            <a:r>
              <a:rPr b="1" i="0" lang="en-US" sz="1300" u="none" cap="none" strike="noStrike">
                <a:solidFill>
                  <a:srgbClr val="3FB8AF"/>
                </a:solidFill>
                <a:latin typeface="Calibri"/>
                <a:ea typeface="Calibri"/>
                <a:cs typeface="Calibri"/>
                <a:sym typeface="Calibri"/>
              </a:rPr>
              <a:t>Nem</a:t>
            </a:r>
            <a:endParaRPr b="0" i="0" sz="1300" u="none" cap="none" strike="noStrike">
              <a:solidFill>
                <a:schemeClr val="dk1"/>
              </a:solidFill>
              <a:latin typeface="Calibri"/>
              <a:ea typeface="Calibri"/>
              <a:cs typeface="Calibri"/>
              <a:sym typeface="Calibri"/>
            </a:endParaRPr>
          </a:p>
        </p:txBody>
      </p:sp>
      <p:sp>
        <p:nvSpPr>
          <p:cNvPr id="96" name="Google Shape;96;p6"/>
          <p:cNvSpPr/>
          <p:nvPr/>
        </p:nvSpPr>
        <p:spPr>
          <a:xfrm>
            <a:off x="548640" y="4288536"/>
            <a:ext cx="11064240" cy="530352"/>
          </a:xfrm>
          <a:prstGeom prst="rect">
            <a:avLst/>
          </a:prstGeom>
          <a:solidFill>
            <a:srgbClr val="241C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548640" y="4334256"/>
            <a:ext cx="3017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Csak passzív fejlesztés</a:t>
            </a:r>
            <a:endParaRPr b="0" i="0" sz="1300" u="none" cap="none" strike="noStrike">
              <a:solidFill>
                <a:schemeClr val="dk1"/>
              </a:solidFill>
              <a:latin typeface="Calibri"/>
              <a:ea typeface="Calibri"/>
              <a:cs typeface="Calibri"/>
              <a:sym typeface="Calibri"/>
            </a:endParaRPr>
          </a:p>
        </p:txBody>
      </p:sp>
      <p:sp>
        <p:nvSpPr>
          <p:cNvPr id="98" name="Google Shape;98;p6"/>
          <p:cNvSpPr/>
          <p:nvPr/>
        </p:nvSpPr>
        <p:spPr>
          <a:xfrm>
            <a:off x="3566160" y="4334256"/>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Főleg</a:t>
            </a:r>
            <a:endParaRPr b="0" i="0" sz="1300" u="none" cap="none" strike="noStrike">
              <a:solidFill>
                <a:schemeClr val="dk1"/>
              </a:solidFill>
              <a:latin typeface="Calibri"/>
              <a:ea typeface="Calibri"/>
              <a:cs typeface="Calibri"/>
              <a:sym typeface="Calibri"/>
            </a:endParaRPr>
          </a:p>
        </p:txBody>
      </p:sp>
      <p:sp>
        <p:nvSpPr>
          <p:cNvPr id="99" name="Google Shape;99;p6"/>
          <p:cNvSpPr/>
          <p:nvPr/>
        </p:nvSpPr>
        <p:spPr>
          <a:xfrm>
            <a:off x="5577840" y="4334256"/>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Nem</a:t>
            </a:r>
            <a:endParaRPr b="0" i="0" sz="1300" u="none" cap="none" strike="noStrike">
              <a:solidFill>
                <a:schemeClr val="dk1"/>
              </a:solidFill>
              <a:latin typeface="Calibri"/>
              <a:ea typeface="Calibri"/>
              <a:cs typeface="Calibri"/>
              <a:sym typeface="Calibri"/>
            </a:endParaRPr>
          </a:p>
        </p:txBody>
      </p:sp>
      <p:sp>
        <p:nvSpPr>
          <p:cNvPr id="100" name="Google Shape;100;p6"/>
          <p:cNvSpPr/>
          <p:nvPr/>
        </p:nvSpPr>
        <p:spPr>
          <a:xfrm>
            <a:off x="7589520" y="4334256"/>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Nem</a:t>
            </a:r>
            <a:endParaRPr b="0" i="0" sz="1300" u="none" cap="none" strike="noStrike">
              <a:solidFill>
                <a:schemeClr val="dk1"/>
              </a:solidFill>
              <a:latin typeface="Calibri"/>
              <a:ea typeface="Calibri"/>
              <a:cs typeface="Calibri"/>
              <a:sym typeface="Calibri"/>
            </a:endParaRPr>
          </a:p>
        </p:txBody>
      </p:sp>
      <p:sp>
        <p:nvSpPr>
          <p:cNvPr id="101" name="Google Shape;101;p6"/>
          <p:cNvSpPr/>
          <p:nvPr/>
        </p:nvSpPr>
        <p:spPr>
          <a:xfrm>
            <a:off x="9601200" y="4334256"/>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B8AF"/>
              </a:buClr>
              <a:buSzPts val="1300"/>
              <a:buFont typeface="Calibri"/>
              <a:buNone/>
            </a:pPr>
            <a:r>
              <a:rPr b="1" i="0" lang="en-US" sz="1300" u="none" cap="none" strike="noStrike">
                <a:solidFill>
                  <a:srgbClr val="3FB8AF"/>
                </a:solidFill>
                <a:latin typeface="Calibri"/>
                <a:ea typeface="Calibri"/>
                <a:cs typeface="Calibri"/>
                <a:sym typeface="Calibri"/>
              </a:rPr>
              <a:t>Igen</a:t>
            </a:r>
            <a:endParaRPr b="0" i="0" sz="1300" u="none" cap="none" strike="noStrike">
              <a:solidFill>
                <a:schemeClr val="dk1"/>
              </a:solidFill>
              <a:latin typeface="Calibri"/>
              <a:ea typeface="Calibri"/>
              <a:cs typeface="Calibri"/>
              <a:sym typeface="Calibri"/>
            </a:endParaRPr>
          </a:p>
        </p:txBody>
      </p:sp>
      <p:sp>
        <p:nvSpPr>
          <p:cNvPr id="102" name="Google Shape;102;p6"/>
          <p:cNvSpPr/>
          <p:nvPr/>
        </p:nvSpPr>
        <p:spPr>
          <a:xfrm>
            <a:off x="548640" y="4901184"/>
            <a:ext cx="3017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Online ranglista</a:t>
            </a:r>
            <a:endParaRPr b="0" i="0" sz="1300" u="none" cap="none" strike="noStrike">
              <a:solidFill>
                <a:schemeClr val="dk1"/>
              </a:solidFill>
              <a:latin typeface="Calibri"/>
              <a:ea typeface="Calibri"/>
              <a:cs typeface="Calibri"/>
              <a:sym typeface="Calibri"/>
            </a:endParaRPr>
          </a:p>
        </p:txBody>
      </p:sp>
      <p:sp>
        <p:nvSpPr>
          <p:cNvPr id="103" name="Google Shape;103;p6"/>
          <p:cNvSpPr/>
          <p:nvPr/>
        </p:nvSpPr>
        <p:spPr>
          <a:xfrm>
            <a:off x="3566160" y="4901184"/>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Nem</a:t>
            </a:r>
            <a:endParaRPr b="0" i="0" sz="1300" u="none" cap="none" strike="noStrike">
              <a:solidFill>
                <a:schemeClr val="dk1"/>
              </a:solidFill>
              <a:latin typeface="Calibri"/>
              <a:ea typeface="Calibri"/>
              <a:cs typeface="Calibri"/>
              <a:sym typeface="Calibri"/>
            </a:endParaRPr>
          </a:p>
        </p:txBody>
      </p:sp>
      <p:sp>
        <p:nvSpPr>
          <p:cNvPr id="104" name="Google Shape;104;p6"/>
          <p:cNvSpPr/>
          <p:nvPr/>
        </p:nvSpPr>
        <p:spPr>
          <a:xfrm>
            <a:off x="5577840" y="4901184"/>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Nem</a:t>
            </a:r>
            <a:endParaRPr b="0" i="0" sz="1300" u="none" cap="none" strike="noStrike">
              <a:solidFill>
                <a:schemeClr val="dk1"/>
              </a:solidFill>
              <a:latin typeface="Calibri"/>
              <a:ea typeface="Calibri"/>
              <a:cs typeface="Calibri"/>
              <a:sym typeface="Calibri"/>
            </a:endParaRPr>
          </a:p>
        </p:txBody>
      </p:sp>
      <p:sp>
        <p:nvSpPr>
          <p:cNvPr id="105" name="Google Shape;105;p6"/>
          <p:cNvSpPr/>
          <p:nvPr/>
        </p:nvSpPr>
        <p:spPr>
          <a:xfrm>
            <a:off x="7589520" y="4901184"/>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Nem</a:t>
            </a:r>
            <a:endParaRPr b="0" i="0" sz="1300" u="none" cap="none" strike="noStrike">
              <a:solidFill>
                <a:schemeClr val="dk1"/>
              </a:solidFill>
              <a:latin typeface="Calibri"/>
              <a:ea typeface="Calibri"/>
              <a:cs typeface="Calibri"/>
              <a:sym typeface="Calibri"/>
            </a:endParaRPr>
          </a:p>
        </p:txBody>
      </p:sp>
      <p:sp>
        <p:nvSpPr>
          <p:cNvPr id="106" name="Google Shape;106;p6"/>
          <p:cNvSpPr/>
          <p:nvPr/>
        </p:nvSpPr>
        <p:spPr>
          <a:xfrm>
            <a:off x="9601200" y="4901184"/>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B8AF"/>
              </a:buClr>
              <a:buSzPts val="1300"/>
              <a:buFont typeface="Calibri"/>
              <a:buNone/>
            </a:pPr>
            <a:r>
              <a:rPr b="1" i="0" lang="en-US" sz="1300" u="none" cap="none" strike="noStrike">
                <a:solidFill>
                  <a:srgbClr val="3FB8AF"/>
                </a:solidFill>
                <a:latin typeface="Calibri"/>
                <a:ea typeface="Calibri"/>
                <a:cs typeface="Calibri"/>
                <a:sym typeface="Calibri"/>
              </a:rPr>
              <a:t>Igen</a:t>
            </a:r>
            <a:endParaRPr b="0" i="0" sz="1300" u="none" cap="none" strike="noStrike">
              <a:solidFill>
                <a:schemeClr val="dk1"/>
              </a:solidFill>
              <a:latin typeface="Calibri"/>
              <a:ea typeface="Calibri"/>
              <a:cs typeface="Calibri"/>
              <a:sym typeface="Calibri"/>
            </a:endParaRPr>
          </a:p>
        </p:txBody>
      </p:sp>
      <p:sp>
        <p:nvSpPr>
          <p:cNvPr id="107" name="Google Shape;107;p6"/>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112" name="Shape 112"/>
        <p:cNvGrpSpPr/>
        <p:nvPr/>
      </p:nvGrpSpPr>
      <p:grpSpPr>
        <a:xfrm>
          <a:off x="0" y="0"/>
          <a:ext cx="0" cy="0"/>
          <a:chOff x="0" y="0"/>
          <a:chExt cx="0" cy="0"/>
        </a:xfrm>
      </p:grpSpPr>
      <p:sp>
        <p:nvSpPr>
          <p:cNvPr id="113" name="Google Shape;113;p7"/>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ARCHITEKTÚRA</a:t>
            </a:r>
            <a:endParaRPr b="0" i="0" sz="1200" u="none" cap="none" strike="noStrike">
              <a:solidFill>
                <a:schemeClr val="dk1"/>
              </a:solidFill>
              <a:latin typeface="Calibri"/>
              <a:ea typeface="Calibri"/>
              <a:cs typeface="Calibri"/>
              <a:sym typeface="Calibri"/>
            </a:endParaRPr>
          </a:p>
        </p:txBody>
      </p:sp>
      <p:sp>
        <p:nvSpPr>
          <p:cNvPr id="114" name="Google Shape;114;p7"/>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Hogyan illeszkednek a rendszerek</a:t>
            </a:r>
            <a:endParaRPr b="0" i="0" sz="3200" u="none" cap="none" strike="noStrike">
              <a:solidFill>
                <a:schemeClr val="dk1"/>
              </a:solidFill>
              <a:latin typeface="Calibri"/>
              <a:ea typeface="Calibri"/>
              <a:cs typeface="Calibri"/>
              <a:sym typeface="Calibri"/>
            </a:endParaRPr>
          </a:p>
        </p:txBody>
      </p:sp>
      <p:sp>
        <p:nvSpPr>
          <p:cNvPr id="115" name="Google Shape;115;p7"/>
          <p:cNvSpPr/>
          <p:nvPr/>
        </p:nvSpPr>
        <p:spPr>
          <a:xfrm>
            <a:off x="548640" y="1783080"/>
            <a:ext cx="11064240" cy="640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400"/>
              <a:buFont typeface="Calibri"/>
              <a:buNone/>
            </a:pPr>
            <a:r>
              <a:rPr b="0" i="0" lang="en-US" sz="1400" u="none" cap="none" strike="noStrike">
                <a:solidFill>
                  <a:srgbClr val="EDE7F2"/>
                </a:solidFill>
                <a:latin typeface="Calibri"/>
                <a:ea typeface="Calibri"/>
                <a:cs typeface="Calibri"/>
                <a:sym typeface="Calibri"/>
              </a:rPr>
              <a:t>Unity komponensmodell + néhány perzisztens menedzser singleton, amelyek a játékot koordinálják és túlélik a képernyőváltásokat.</a:t>
            </a:r>
            <a:endParaRPr b="0" i="0" sz="1400" u="none" cap="none" strike="noStrike">
              <a:solidFill>
                <a:schemeClr val="dk1"/>
              </a:solidFill>
              <a:latin typeface="Calibri"/>
              <a:ea typeface="Calibri"/>
              <a:cs typeface="Calibri"/>
              <a:sym typeface="Calibri"/>
            </a:endParaRPr>
          </a:p>
        </p:txBody>
      </p:sp>
      <p:sp>
        <p:nvSpPr>
          <p:cNvPr id="116" name="Google Shape;116;p7"/>
          <p:cNvSpPr/>
          <p:nvPr/>
        </p:nvSpPr>
        <p:spPr>
          <a:xfrm>
            <a:off x="548640" y="2560320"/>
            <a:ext cx="3474720" cy="1737360"/>
          </a:xfrm>
          <a:prstGeom prst="roundRect">
            <a:avLst>
              <a:gd fmla="val 421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p:nvPr/>
        </p:nvSpPr>
        <p:spPr>
          <a:xfrm>
            <a:off x="804672" y="285292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
          <p:cNvSpPr/>
          <p:nvPr/>
        </p:nvSpPr>
        <p:spPr>
          <a:xfrm>
            <a:off x="1005840" y="2743200"/>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00"/>
              <a:buFont typeface="Calibri"/>
              <a:buNone/>
            </a:pPr>
            <a:r>
              <a:rPr b="1" i="0" lang="en-US" sz="1500" u="none" cap="none" strike="noStrike">
                <a:solidFill>
                  <a:srgbClr val="3FB8AF"/>
                </a:solidFill>
                <a:latin typeface="Calibri"/>
                <a:ea typeface="Calibri"/>
                <a:cs typeface="Calibri"/>
                <a:sym typeface="Calibri"/>
              </a:rPr>
              <a:t>GameManager</a:t>
            </a:r>
            <a:endParaRPr b="0" i="0" sz="1500" u="none" cap="none" strike="noStrike">
              <a:solidFill>
                <a:schemeClr val="dk1"/>
              </a:solidFill>
              <a:latin typeface="Calibri"/>
              <a:ea typeface="Calibri"/>
              <a:cs typeface="Calibri"/>
              <a:sym typeface="Calibri"/>
            </a:endParaRPr>
          </a:p>
        </p:txBody>
      </p:sp>
      <p:sp>
        <p:nvSpPr>
          <p:cNvPr id="119" name="Google Shape;119;p7"/>
          <p:cNvSpPr/>
          <p:nvPr/>
        </p:nvSpPr>
        <p:spPr>
          <a:xfrm>
            <a:off x="822960" y="3200400"/>
            <a:ext cx="2926080"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150"/>
              <a:buFont typeface="Calibri"/>
              <a:buNone/>
            </a:pPr>
            <a:r>
              <a:rPr b="0" i="0" lang="en-US" sz="1150" u="none" cap="none" strike="noStrike">
                <a:solidFill>
                  <a:srgbClr val="EDE7F2"/>
                </a:solidFill>
                <a:latin typeface="Calibri"/>
                <a:ea typeface="Calibri"/>
                <a:cs typeface="Calibri"/>
                <a:sym typeface="Calibri"/>
              </a:rPr>
              <a:t>A játszma hiteles állapota </a:t>
            </a:r>
            <a:r>
              <a:rPr lang="en-US" sz="1150">
                <a:solidFill>
                  <a:srgbClr val="EDE7F2"/>
                </a:solidFill>
                <a:latin typeface="Calibri"/>
                <a:ea typeface="Calibri"/>
                <a:cs typeface="Calibri"/>
                <a:sym typeface="Calibri"/>
              </a:rPr>
              <a:t>-</a:t>
            </a:r>
            <a:r>
              <a:rPr b="0" i="0" lang="en-US" sz="1150" u="none" cap="none" strike="noStrike">
                <a:solidFill>
                  <a:srgbClr val="EDE7F2"/>
                </a:solidFill>
                <a:latin typeface="Calibri"/>
                <a:ea typeface="Calibri"/>
                <a:cs typeface="Calibri"/>
                <a:sym typeface="Calibri"/>
              </a:rPr>
              <a:t> pontszám, statisztikák, fő folyamat. A rendszerek neki jelentenek.</a:t>
            </a:r>
            <a:endParaRPr b="0" i="0" sz="1150" u="none" cap="none" strike="noStrike">
              <a:solidFill>
                <a:schemeClr val="dk1"/>
              </a:solidFill>
              <a:latin typeface="Calibri"/>
              <a:ea typeface="Calibri"/>
              <a:cs typeface="Calibri"/>
              <a:sym typeface="Calibri"/>
            </a:endParaRPr>
          </a:p>
        </p:txBody>
      </p:sp>
      <p:sp>
        <p:nvSpPr>
          <p:cNvPr id="120" name="Google Shape;120;p7"/>
          <p:cNvSpPr/>
          <p:nvPr/>
        </p:nvSpPr>
        <p:spPr>
          <a:xfrm>
            <a:off x="4251960" y="2560320"/>
            <a:ext cx="3474720" cy="1737360"/>
          </a:xfrm>
          <a:prstGeom prst="roundRect">
            <a:avLst>
              <a:gd fmla="val 421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p:nvPr/>
        </p:nvSpPr>
        <p:spPr>
          <a:xfrm>
            <a:off x="4507992" y="285292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4709160" y="2743200"/>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00"/>
              <a:buFont typeface="Calibri"/>
              <a:buNone/>
            </a:pPr>
            <a:r>
              <a:rPr b="1" i="0" lang="en-US" sz="1500" u="none" cap="none" strike="noStrike">
                <a:solidFill>
                  <a:srgbClr val="3FB8AF"/>
                </a:solidFill>
                <a:latin typeface="Calibri"/>
                <a:ea typeface="Calibri"/>
                <a:cs typeface="Calibri"/>
                <a:sym typeface="Calibri"/>
              </a:rPr>
              <a:t>TransitionScreen</a:t>
            </a:r>
            <a:endParaRPr b="0" i="0" sz="1500" u="none" cap="none" strike="noStrike">
              <a:solidFill>
                <a:schemeClr val="dk1"/>
              </a:solidFill>
              <a:latin typeface="Calibri"/>
              <a:ea typeface="Calibri"/>
              <a:cs typeface="Calibri"/>
              <a:sym typeface="Calibri"/>
            </a:endParaRPr>
          </a:p>
        </p:txBody>
      </p:sp>
      <p:sp>
        <p:nvSpPr>
          <p:cNvPr id="123" name="Google Shape;123;p7"/>
          <p:cNvSpPr/>
          <p:nvPr/>
        </p:nvSpPr>
        <p:spPr>
          <a:xfrm>
            <a:off x="4526280" y="3200400"/>
            <a:ext cx="2926080"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150"/>
              <a:buFont typeface="Calibri"/>
              <a:buNone/>
            </a:pPr>
            <a:r>
              <a:rPr b="0" i="0" lang="en-US" sz="1150" u="none" cap="none" strike="noStrike">
                <a:solidFill>
                  <a:srgbClr val="EDE7F2"/>
                </a:solidFill>
                <a:latin typeface="Calibri"/>
                <a:ea typeface="Calibri"/>
                <a:cs typeface="Calibri"/>
                <a:sym typeface="Calibri"/>
              </a:rPr>
              <a:t>Egyetlen fekete overlay kezel minden áttűnést; a képernyők csak SetActive-vel jelennek meg.</a:t>
            </a:r>
            <a:endParaRPr b="0" i="0" sz="1150" u="none" cap="none" strike="noStrike">
              <a:solidFill>
                <a:schemeClr val="dk1"/>
              </a:solidFill>
              <a:latin typeface="Calibri"/>
              <a:ea typeface="Calibri"/>
              <a:cs typeface="Calibri"/>
              <a:sym typeface="Calibri"/>
            </a:endParaRPr>
          </a:p>
        </p:txBody>
      </p:sp>
      <p:sp>
        <p:nvSpPr>
          <p:cNvPr id="124" name="Google Shape;124;p7"/>
          <p:cNvSpPr/>
          <p:nvPr/>
        </p:nvSpPr>
        <p:spPr>
          <a:xfrm>
            <a:off x="7955280" y="2560320"/>
            <a:ext cx="3474720" cy="1737360"/>
          </a:xfrm>
          <a:prstGeom prst="roundRect">
            <a:avLst>
              <a:gd fmla="val 421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8211312" y="285292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
          <p:cNvSpPr/>
          <p:nvPr/>
        </p:nvSpPr>
        <p:spPr>
          <a:xfrm>
            <a:off x="8412480" y="2743200"/>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00"/>
              <a:buFont typeface="Calibri"/>
              <a:buNone/>
            </a:pPr>
            <a:r>
              <a:rPr b="1" i="0" lang="en-US" sz="1500" u="none" cap="none" strike="noStrike">
                <a:solidFill>
                  <a:srgbClr val="3FB8AF"/>
                </a:solidFill>
                <a:latin typeface="Calibri"/>
                <a:ea typeface="Calibri"/>
                <a:cs typeface="Calibri"/>
                <a:sym typeface="Calibri"/>
              </a:rPr>
              <a:t>LeaderboardManager</a:t>
            </a:r>
            <a:endParaRPr b="0" i="0" sz="1500" u="none" cap="none" strike="noStrike">
              <a:solidFill>
                <a:schemeClr val="dk1"/>
              </a:solidFill>
              <a:latin typeface="Calibri"/>
              <a:ea typeface="Calibri"/>
              <a:cs typeface="Calibri"/>
              <a:sym typeface="Calibri"/>
            </a:endParaRPr>
          </a:p>
        </p:txBody>
      </p:sp>
      <p:sp>
        <p:nvSpPr>
          <p:cNvPr id="127" name="Google Shape;127;p7"/>
          <p:cNvSpPr/>
          <p:nvPr/>
        </p:nvSpPr>
        <p:spPr>
          <a:xfrm>
            <a:off x="8229600" y="3200400"/>
            <a:ext cx="2926080"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150"/>
              <a:buFont typeface="Calibri"/>
              <a:buNone/>
            </a:pPr>
            <a:r>
              <a:rPr b="0" i="0" lang="en-US" sz="1150" u="none" cap="none" strike="noStrike">
                <a:solidFill>
                  <a:srgbClr val="EDE7F2"/>
                </a:solidFill>
                <a:latin typeface="Calibri"/>
                <a:ea typeface="Calibri"/>
                <a:cs typeface="Calibri"/>
                <a:sym typeface="Calibri"/>
              </a:rPr>
              <a:t>Önmagát létrehozó singleton; REST-en beszél a Firestore-ral.</a:t>
            </a:r>
            <a:endParaRPr b="0" i="0" sz="1150" u="none" cap="none" strike="noStrike">
              <a:solidFill>
                <a:schemeClr val="dk1"/>
              </a:solidFill>
              <a:latin typeface="Calibri"/>
              <a:ea typeface="Calibri"/>
              <a:cs typeface="Calibri"/>
              <a:sym typeface="Calibri"/>
            </a:endParaRPr>
          </a:p>
        </p:txBody>
      </p:sp>
      <p:sp>
        <p:nvSpPr>
          <p:cNvPr id="128" name="Google Shape;128;p7"/>
          <p:cNvSpPr/>
          <p:nvPr/>
        </p:nvSpPr>
        <p:spPr>
          <a:xfrm>
            <a:off x="548640" y="4572000"/>
            <a:ext cx="11064240" cy="1234440"/>
          </a:xfrm>
          <a:prstGeom prst="roundRect">
            <a:avLst>
              <a:gd fmla="val 5926"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822960" y="486460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1051560" y="4736592"/>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A458"/>
              </a:buClr>
              <a:buSzPts val="1500"/>
              <a:buFont typeface="Calibri"/>
              <a:buNone/>
            </a:pPr>
            <a:r>
              <a:rPr b="1" i="0" lang="en-US" sz="1500" u="none" cap="none" strike="noStrike">
                <a:solidFill>
                  <a:srgbClr val="E0A458"/>
                </a:solidFill>
                <a:latin typeface="Calibri"/>
                <a:ea typeface="Calibri"/>
                <a:cs typeface="Calibri"/>
                <a:sym typeface="Calibri"/>
              </a:rPr>
              <a:t>Bővítésre tervezve</a:t>
            </a:r>
            <a:endParaRPr b="0" i="0" sz="1500" u="none" cap="none" strike="noStrike">
              <a:solidFill>
                <a:schemeClr val="dk1"/>
              </a:solidFill>
              <a:latin typeface="Calibri"/>
              <a:ea typeface="Calibri"/>
              <a:cs typeface="Calibri"/>
              <a:sym typeface="Calibri"/>
            </a:endParaRPr>
          </a:p>
        </p:txBody>
      </p:sp>
      <p:sp>
        <p:nvSpPr>
          <p:cNvPr id="131" name="Google Shape;131;p7"/>
          <p:cNvSpPr/>
          <p:nvPr/>
        </p:nvSpPr>
        <p:spPr>
          <a:xfrm>
            <a:off x="1051560" y="5138928"/>
            <a:ext cx="1024128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Új ellenség = egy leszármazott osztály · új tárgy = egy interfész · új szoba = egy prefab a készletben — a meglévő kód érintése nélkül.</a:t>
            </a:r>
            <a:endParaRPr b="0" i="0" sz="1250" u="none" cap="none" strike="noStrike">
              <a:solidFill>
                <a:schemeClr val="dk1"/>
              </a:solidFill>
              <a:latin typeface="Calibri"/>
              <a:ea typeface="Calibri"/>
              <a:cs typeface="Calibri"/>
              <a:sym typeface="Calibri"/>
            </a:endParaRPr>
          </a:p>
        </p:txBody>
      </p:sp>
      <p:sp>
        <p:nvSpPr>
          <p:cNvPr id="132" name="Google Shape;132;p7"/>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137" name="Shape 137"/>
        <p:cNvGrpSpPr/>
        <p:nvPr/>
      </p:nvGrpSpPr>
      <p:grpSpPr>
        <a:xfrm>
          <a:off x="0" y="0"/>
          <a:ext cx="0" cy="0"/>
          <a:chOff x="0" y="0"/>
          <a:chExt cx="0" cy="0"/>
        </a:xfrm>
      </p:grpSpPr>
      <p:sp>
        <p:nvSpPr>
          <p:cNvPr id="138" name="Google Shape;138;p8"/>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KÖZPONTI RENDSZER 1</a:t>
            </a:r>
            <a:endParaRPr b="0" i="0" sz="1200" u="none" cap="none" strike="noStrike">
              <a:solidFill>
                <a:schemeClr val="dk1"/>
              </a:solidFill>
              <a:latin typeface="Calibri"/>
              <a:ea typeface="Calibri"/>
              <a:cs typeface="Calibri"/>
              <a:sym typeface="Calibri"/>
            </a:endParaRPr>
          </a:p>
        </p:txBody>
      </p:sp>
      <p:sp>
        <p:nvSpPr>
          <p:cNvPr id="139" name="Google Shape;139;p8"/>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Procedurális pályagenerálás</a:t>
            </a:r>
            <a:endParaRPr b="0" i="0" sz="3200" u="none" cap="none" strike="noStrike">
              <a:solidFill>
                <a:schemeClr val="dk1"/>
              </a:solidFill>
              <a:latin typeface="Calibri"/>
              <a:ea typeface="Calibri"/>
              <a:cs typeface="Calibri"/>
              <a:sym typeface="Calibri"/>
            </a:endParaRPr>
          </a:p>
        </p:txBody>
      </p:sp>
      <p:sp>
        <p:nvSpPr>
          <p:cNvPr id="140" name="Google Shape;140;p8"/>
          <p:cNvSpPr/>
          <p:nvPr/>
        </p:nvSpPr>
        <p:spPr>
          <a:xfrm>
            <a:off x="548640" y="1828800"/>
            <a:ext cx="5394960" cy="3931920"/>
          </a:xfrm>
          <a:prstGeom prst="roundRect">
            <a:avLst>
              <a:gd fmla="val 1860"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822960" y="201168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700"/>
              <a:buFont typeface="Calibri"/>
              <a:buNone/>
            </a:pPr>
            <a:r>
              <a:rPr b="1" i="0" lang="en-US" sz="1700" u="none" cap="none" strike="noStrike">
                <a:solidFill>
                  <a:srgbClr val="3FB8AF"/>
                </a:solidFill>
                <a:latin typeface="Calibri"/>
                <a:ea typeface="Calibri"/>
                <a:cs typeface="Calibri"/>
                <a:sym typeface="Calibri"/>
              </a:rPr>
              <a:t>1. fázis </a:t>
            </a:r>
            <a:r>
              <a:rPr b="1" lang="en-US" sz="1700">
                <a:solidFill>
                  <a:srgbClr val="3FB8AF"/>
                </a:solidFill>
                <a:latin typeface="Calibri"/>
                <a:ea typeface="Calibri"/>
                <a:cs typeface="Calibri"/>
                <a:sym typeface="Calibri"/>
              </a:rPr>
              <a:t>-</a:t>
            </a:r>
            <a:r>
              <a:rPr b="1" i="0" lang="en-US" sz="1700" u="none" cap="none" strike="noStrike">
                <a:solidFill>
                  <a:srgbClr val="3FB8AF"/>
                </a:solidFill>
                <a:latin typeface="Calibri"/>
                <a:ea typeface="Calibri"/>
                <a:cs typeface="Calibri"/>
                <a:sym typeface="Calibri"/>
              </a:rPr>
              <a:t> Elrendezés</a:t>
            </a:r>
            <a:endParaRPr b="0" i="0" sz="1700" u="none" cap="none" strike="noStrike">
              <a:solidFill>
                <a:schemeClr val="dk1"/>
              </a:solidFill>
              <a:latin typeface="Calibri"/>
              <a:ea typeface="Calibri"/>
              <a:cs typeface="Calibri"/>
              <a:sym typeface="Calibri"/>
            </a:endParaRPr>
          </a:p>
        </p:txBody>
      </p:sp>
      <p:sp>
        <p:nvSpPr>
          <p:cNvPr id="142" name="Google Shape;142;p8"/>
          <p:cNvSpPr/>
          <p:nvPr/>
        </p:nvSpPr>
        <p:spPr>
          <a:xfrm>
            <a:off x="822960" y="2468880"/>
            <a:ext cx="4846320" cy="3108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300"/>
              <a:buFont typeface="Calibri"/>
              <a:buNone/>
            </a:pPr>
            <a:r>
              <a:rPr b="1" i="0" lang="en-US" sz="1300" u="none" cap="none" strike="noStrike">
                <a:solidFill>
                  <a:srgbClr val="EDE7F2"/>
                </a:solidFill>
                <a:latin typeface="Calibri"/>
                <a:ea typeface="Calibri"/>
                <a:cs typeface="Calibri"/>
                <a:sym typeface="Calibri"/>
              </a:rPr>
              <a:t>Korlátozott véletlen bolyongásos növelés (constrained random-walk expansion)</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A szobák rácson nőnek a kezdőponttól; egy új szoba legfeljebb egy meglévőt érinthet.</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3FB8AF"/>
              </a:buClr>
              <a:buSzPts val="1300"/>
              <a:buFont typeface="Calibri"/>
              <a:buNone/>
            </a:pPr>
            <a:r>
              <a:rPr b="0" i="1" lang="en-US" sz="1300" u="none" cap="none" strike="noStrike">
                <a:solidFill>
                  <a:srgbClr val="3FB8AF"/>
                </a:solidFill>
                <a:latin typeface="Calibri"/>
                <a:ea typeface="Calibri"/>
                <a:cs typeface="Calibri"/>
                <a:sym typeface="Calibri"/>
              </a:rPr>
              <a:t>→ elágazó, folyosószerű szintek</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3FB8AF"/>
              </a:buClr>
              <a:buSzPts val="1300"/>
              <a:buFont typeface="Calibri"/>
              <a:buNone/>
            </a:pPr>
            <a:r>
              <a:rPr b="0" i="1" lang="en-US" sz="1300" u="none" cap="none" strike="noStrike">
                <a:solidFill>
                  <a:srgbClr val="3FB8AF"/>
                </a:solidFill>
                <a:latin typeface="Calibri"/>
                <a:ea typeface="Calibri"/>
                <a:cs typeface="Calibri"/>
                <a:sym typeface="Calibri"/>
              </a:rPr>
              <a:t>→ felépítéséből adódóan összefüggő (sosem megoldhatatlan)</a:t>
            </a:r>
            <a:endParaRPr b="0" i="0" sz="1300" u="none" cap="none" strike="noStrike">
              <a:solidFill>
                <a:schemeClr val="dk1"/>
              </a:solidFill>
              <a:latin typeface="Calibri"/>
              <a:ea typeface="Calibri"/>
              <a:cs typeface="Calibri"/>
              <a:sym typeface="Calibri"/>
            </a:endParaRPr>
          </a:p>
        </p:txBody>
      </p:sp>
      <p:sp>
        <p:nvSpPr>
          <p:cNvPr id="143" name="Google Shape;143;p8"/>
          <p:cNvSpPr/>
          <p:nvPr/>
        </p:nvSpPr>
        <p:spPr>
          <a:xfrm>
            <a:off x="6217920" y="1828800"/>
            <a:ext cx="5394960" cy="3931920"/>
          </a:xfrm>
          <a:prstGeom prst="roundRect">
            <a:avLst>
              <a:gd fmla="val 1860"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6492240" y="201168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700"/>
              <a:buFont typeface="Calibri"/>
              <a:buNone/>
            </a:pPr>
            <a:r>
              <a:rPr b="1" i="0" lang="en-US" sz="1700" u="none" cap="none" strike="noStrike">
                <a:solidFill>
                  <a:srgbClr val="3FB8AF"/>
                </a:solidFill>
                <a:latin typeface="Calibri"/>
                <a:ea typeface="Calibri"/>
                <a:cs typeface="Calibri"/>
                <a:sym typeface="Calibri"/>
              </a:rPr>
              <a:t>2. fázis </a:t>
            </a:r>
            <a:r>
              <a:rPr b="1" lang="en-US" sz="1700">
                <a:solidFill>
                  <a:srgbClr val="3FB8AF"/>
                </a:solidFill>
                <a:latin typeface="Calibri"/>
                <a:ea typeface="Calibri"/>
                <a:cs typeface="Calibri"/>
                <a:sym typeface="Calibri"/>
              </a:rPr>
              <a:t>-</a:t>
            </a:r>
            <a:r>
              <a:rPr b="1" i="0" lang="en-US" sz="1700" u="none" cap="none" strike="noStrike">
                <a:solidFill>
                  <a:srgbClr val="3FB8AF"/>
                </a:solidFill>
                <a:latin typeface="Calibri"/>
                <a:ea typeface="Calibri"/>
                <a:cs typeface="Calibri"/>
                <a:sym typeface="Calibri"/>
              </a:rPr>
              <a:t> Szobatípusok</a:t>
            </a:r>
            <a:endParaRPr b="0" i="0" sz="1700" u="none" cap="none" strike="noStrike">
              <a:solidFill>
                <a:schemeClr val="dk1"/>
              </a:solidFill>
              <a:latin typeface="Calibri"/>
              <a:ea typeface="Calibri"/>
              <a:cs typeface="Calibri"/>
              <a:sym typeface="Calibri"/>
            </a:endParaRPr>
          </a:p>
        </p:txBody>
      </p:sp>
      <p:sp>
        <p:nvSpPr>
          <p:cNvPr id="145" name="Google Shape;145;p8"/>
          <p:cNvSpPr/>
          <p:nvPr/>
        </p:nvSpPr>
        <p:spPr>
          <a:xfrm>
            <a:off x="6492240" y="2468880"/>
            <a:ext cx="4846320" cy="3108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300"/>
              <a:buFont typeface="Calibri"/>
              <a:buNone/>
            </a:pPr>
            <a:r>
              <a:rPr b="1" i="0" lang="en-US" sz="1300" u="none" cap="none" strike="noStrike">
                <a:solidFill>
                  <a:srgbClr val="EDE7F2"/>
                </a:solidFill>
                <a:latin typeface="Calibri"/>
                <a:ea typeface="Calibri"/>
                <a:cs typeface="Calibri"/>
                <a:sym typeface="Calibri"/>
              </a:rPr>
              <a:t>Szélességi bejáráson (breadth-first search, BFS) alapuló kiosztás</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A kezdőszobától indított BFS minden szobának távolságot ad.</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3FB8AF"/>
              </a:buClr>
              <a:buSzPts val="1300"/>
              <a:buFont typeface="Calibri"/>
              <a:buNone/>
            </a:pPr>
            <a:r>
              <a:rPr b="0" i="1" lang="en-US" sz="1300" u="none" cap="none" strike="noStrike">
                <a:solidFill>
                  <a:srgbClr val="3FB8AF"/>
                </a:solidFill>
                <a:latin typeface="Calibri"/>
                <a:ea typeface="Calibri"/>
                <a:cs typeface="Calibri"/>
                <a:sym typeface="Calibri"/>
              </a:rPr>
              <a:t>Főellenség = legtávolabb a kezdéstől</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3FB8AF"/>
              </a:buClr>
              <a:buSzPts val="1300"/>
              <a:buFont typeface="Calibri"/>
              <a:buNone/>
            </a:pPr>
            <a:r>
              <a:rPr b="0" i="1" lang="en-US" sz="1300" u="none" cap="none" strike="noStrike">
                <a:solidFill>
                  <a:srgbClr val="3FB8AF"/>
                </a:solidFill>
                <a:latin typeface="Calibri"/>
                <a:ea typeface="Calibri"/>
                <a:cs typeface="Calibri"/>
                <a:sym typeface="Calibri"/>
              </a:rPr>
              <a:t>Kincs = legtávolabb a főellenségtől</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9A8FA8"/>
              </a:buClr>
              <a:buSzPts val="1300"/>
              <a:buFont typeface="Calibri"/>
              <a:buNone/>
            </a:pPr>
            <a:r>
              <a:rPr b="0" i="0" lang="en-US" sz="1300" u="none" cap="none" strike="noStrike">
                <a:solidFill>
                  <a:srgbClr val="9A8FA8"/>
                </a:solidFill>
                <a:latin typeface="Calibri"/>
                <a:ea typeface="Calibri"/>
                <a:cs typeface="Calibri"/>
                <a:sym typeface="Calibri"/>
              </a:rPr>
              <a:t>Feltétel nélküli szabály — a főellenség elhelyezése nem hiúsulhat meg.</a:t>
            </a:r>
            <a:endParaRPr b="0" i="0" sz="1300" u="none" cap="none" strike="noStrike">
              <a:solidFill>
                <a:schemeClr val="dk1"/>
              </a:solidFill>
              <a:latin typeface="Calibri"/>
              <a:ea typeface="Calibri"/>
              <a:cs typeface="Calibri"/>
              <a:sym typeface="Calibri"/>
            </a:endParaRPr>
          </a:p>
        </p:txBody>
      </p:sp>
      <p:sp>
        <p:nvSpPr>
          <p:cNvPr id="146" name="Google Shape;146;p8"/>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151" name="Shape 151"/>
        <p:cNvGrpSpPr/>
        <p:nvPr/>
      </p:nvGrpSpPr>
      <p:grpSpPr>
        <a:xfrm>
          <a:off x="0" y="0"/>
          <a:ext cx="0" cy="0"/>
          <a:chOff x="0" y="0"/>
          <a:chExt cx="0" cy="0"/>
        </a:xfrm>
      </p:grpSpPr>
      <p:sp>
        <p:nvSpPr>
          <p:cNvPr id="152" name="Google Shape;152;p9"/>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KÖZPONTI RENDSZER 1</a:t>
            </a:r>
            <a:endParaRPr b="0" i="0" sz="1200" u="none" cap="none" strike="noStrike">
              <a:solidFill>
                <a:schemeClr val="dk1"/>
              </a:solidFill>
              <a:latin typeface="Calibri"/>
              <a:ea typeface="Calibri"/>
              <a:cs typeface="Calibri"/>
              <a:sym typeface="Calibri"/>
            </a:endParaRPr>
          </a:p>
        </p:txBody>
      </p:sp>
      <p:sp>
        <p:nvSpPr>
          <p:cNvPr id="153" name="Google Shape;153;p9"/>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lang="en-US" sz="3200">
                <a:solidFill>
                  <a:srgbClr val="EDE7F2"/>
                </a:solidFill>
                <a:latin typeface="Cambria"/>
                <a:ea typeface="Cambria"/>
                <a:cs typeface="Cambria"/>
                <a:sym typeface="Cambria"/>
              </a:rPr>
              <a:t>Egy kigenerált pályára példa</a:t>
            </a:r>
            <a:endParaRPr b="0" i="0" sz="3200" u="none" cap="none" strike="noStrike">
              <a:solidFill>
                <a:schemeClr val="dk1"/>
              </a:solidFill>
              <a:latin typeface="Calibri"/>
              <a:ea typeface="Calibri"/>
              <a:cs typeface="Calibri"/>
              <a:sym typeface="Calibri"/>
            </a:endParaRPr>
          </a:p>
        </p:txBody>
      </p:sp>
      <p:sp>
        <p:nvSpPr>
          <p:cNvPr id="154" name="Google Shape;154;p9"/>
          <p:cNvSpPr/>
          <p:nvPr/>
        </p:nvSpPr>
        <p:spPr>
          <a:xfrm>
            <a:off x="8138160" y="1920240"/>
            <a:ext cx="35661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450"/>
              <a:buFont typeface="Calibri"/>
              <a:buNone/>
            </a:pPr>
            <a:r>
              <a:rPr b="1" i="0" lang="en-US" sz="1450" u="none" cap="none" strike="noStrike">
                <a:solidFill>
                  <a:srgbClr val="3FB8AF"/>
                </a:solidFill>
                <a:latin typeface="Calibri"/>
                <a:ea typeface="Calibri"/>
                <a:cs typeface="Calibri"/>
                <a:sym typeface="Calibri"/>
              </a:rPr>
              <a:t>Amit érdemes kiemelni:</a:t>
            </a:r>
            <a:endParaRPr b="0" i="0" sz="1450" u="none" cap="none" strike="noStrike">
              <a:solidFill>
                <a:schemeClr val="dk1"/>
              </a:solidFill>
              <a:latin typeface="Calibri"/>
              <a:ea typeface="Calibri"/>
              <a:cs typeface="Calibri"/>
              <a:sym typeface="Calibri"/>
            </a:endParaRPr>
          </a:p>
        </p:txBody>
      </p:sp>
      <p:sp>
        <p:nvSpPr>
          <p:cNvPr id="155" name="Google Shape;155;p9"/>
          <p:cNvSpPr/>
          <p:nvPr/>
        </p:nvSpPr>
        <p:spPr>
          <a:xfrm>
            <a:off x="8138160" y="2468880"/>
            <a:ext cx="3566160" cy="3108960"/>
          </a:xfrm>
          <a:prstGeom prst="rect">
            <a:avLst/>
          </a:prstGeom>
          <a:noFill/>
          <a:ln>
            <a:noFill/>
          </a:ln>
        </p:spPr>
        <p:txBody>
          <a:bodyPr anchorCtr="0" anchor="ctr" bIns="0" lIns="0" spcFirstLastPara="1" rIns="0" wrap="square" tIns="0">
            <a:noAutofit/>
          </a:bodyPr>
          <a:lstStyle/>
          <a:p>
            <a:pPr indent="-190500" lvl="0" marL="190500" marR="0" rtl="0" algn="l">
              <a:spcBef>
                <a:spcPts val="0"/>
              </a:spcBef>
              <a:spcAft>
                <a:spcPts val="0"/>
              </a:spcAft>
              <a:buClr>
                <a:srgbClr val="EDE7F2"/>
              </a:buClr>
              <a:buSzPts val="1300"/>
              <a:buFont typeface="Calibri"/>
              <a:buChar char="•"/>
            </a:pPr>
            <a:r>
              <a:rPr b="0" i="0" lang="en-US" sz="1300" u="none" cap="none" strike="noStrike">
                <a:solidFill>
                  <a:srgbClr val="EDE7F2"/>
                </a:solidFill>
                <a:latin typeface="Calibri"/>
                <a:ea typeface="Calibri"/>
                <a:cs typeface="Calibri"/>
                <a:sym typeface="Calibri"/>
              </a:rPr>
              <a:t>Minden szint más</a:t>
            </a:r>
            <a:endParaRPr b="0" i="0" sz="1300" u="none" cap="none" strike="noStrike">
              <a:solidFill>
                <a:schemeClr val="dk1"/>
              </a:solidFill>
              <a:latin typeface="Calibri"/>
              <a:ea typeface="Calibri"/>
              <a:cs typeface="Calibri"/>
              <a:sym typeface="Calibri"/>
            </a:endParaRPr>
          </a:p>
          <a:p>
            <a:pPr indent="-190500" lvl="0" marL="190500" marR="0" rtl="0" algn="l">
              <a:spcBef>
                <a:spcPts val="800"/>
              </a:spcBef>
              <a:spcAft>
                <a:spcPts val="0"/>
              </a:spcAft>
              <a:buClr>
                <a:srgbClr val="EDE7F2"/>
              </a:buClr>
              <a:buSzPts val="1300"/>
              <a:buFont typeface="Calibri"/>
              <a:buChar char="•"/>
            </a:pPr>
            <a:r>
              <a:rPr b="0" i="0" lang="en-US" sz="1300" u="none" cap="none" strike="noStrike">
                <a:solidFill>
                  <a:srgbClr val="EDE7F2"/>
                </a:solidFill>
                <a:latin typeface="Calibri"/>
                <a:ea typeface="Calibri"/>
                <a:cs typeface="Calibri"/>
                <a:sym typeface="Calibri"/>
              </a:rPr>
              <a:t>A szobák ajtó-ajtóhoz kapcsolódnak, folyosók nélkül</a:t>
            </a:r>
            <a:endParaRPr b="0" i="0" sz="1300" u="none" cap="none" strike="noStrike">
              <a:solidFill>
                <a:schemeClr val="dk1"/>
              </a:solidFill>
              <a:latin typeface="Calibri"/>
              <a:ea typeface="Calibri"/>
              <a:cs typeface="Calibri"/>
              <a:sym typeface="Calibri"/>
            </a:endParaRPr>
          </a:p>
          <a:p>
            <a:pPr indent="-190500" lvl="0" marL="190500" marR="0" rtl="0" algn="l">
              <a:spcBef>
                <a:spcPts val="800"/>
              </a:spcBef>
              <a:spcAft>
                <a:spcPts val="0"/>
              </a:spcAft>
              <a:buClr>
                <a:srgbClr val="EDE7F2"/>
              </a:buClr>
              <a:buSzPts val="1300"/>
              <a:buFont typeface="Calibri"/>
              <a:buChar char="•"/>
            </a:pPr>
            <a:r>
              <a:rPr b="0" i="0" lang="en-US" sz="1300" u="none" cap="none" strike="noStrike">
                <a:solidFill>
                  <a:srgbClr val="EDE7F2"/>
                </a:solidFill>
                <a:latin typeface="Calibri"/>
                <a:ea typeface="Calibri"/>
                <a:cs typeface="Calibri"/>
                <a:sym typeface="Calibri"/>
              </a:rPr>
              <a:t>A minitérkép a szobagráfot tükrözi</a:t>
            </a:r>
            <a:endParaRPr b="0" i="0" sz="1300" u="none" cap="none" strike="noStrike">
              <a:solidFill>
                <a:schemeClr val="dk1"/>
              </a:solidFill>
              <a:latin typeface="Calibri"/>
              <a:ea typeface="Calibri"/>
              <a:cs typeface="Calibri"/>
              <a:sym typeface="Calibri"/>
            </a:endParaRPr>
          </a:p>
          <a:p>
            <a:pPr indent="-190500" lvl="0" marL="190500" marR="0" rtl="0" algn="l">
              <a:spcBef>
                <a:spcPts val="800"/>
              </a:spcBef>
              <a:spcAft>
                <a:spcPts val="0"/>
              </a:spcAft>
              <a:buClr>
                <a:srgbClr val="EDE7F2"/>
              </a:buClr>
              <a:buSzPts val="1300"/>
              <a:buFont typeface="Calibri"/>
              <a:buChar char="•"/>
            </a:pPr>
            <a:r>
              <a:rPr b="0" i="0" lang="en-US" sz="1300" u="none" cap="none" strike="noStrike">
                <a:solidFill>
                  <a:srgbClr val="EDE7F2"/>
                </a:solidFill>
                <a:latin typeface="Calibri"/>
                <a:ea typeface="Calibri"/>
                <a:cs typeface="Calibri"/>
                <a:sym typeface="Calibri"/>
              </a:rPr>
              <a:t>A főellenség a </a:t>
            </a:r>
            <a:r>
              <a:rPr lang="en-US" sz="1300">
                <a:solidFill>
                  <a:srgbClr val="EDE7F2"/>
                </a:solidFill>
                <a:latin typeface="Calibri"/>
                <a:ea typeface="Calibri"/>
                <a:cs typeface="Calibri"/>
                <a:sym typeface="Calibri"/>
              </a:rPr>
              <a:t>kezdő szobától eső legtávolabbi szoba</a:t>
            </a:r>
            <a:endParaRPr sz="1300">
              <a:solidFill>
                <a:srgbClr val="EDE7F2"/>
              </a:solidFill>
              <a:latin typeface="Calibri"/>
              <a:ea typeface="Calibri"/>
              <a:cs typeface="Calibri"/>
              <a:sym typeface="Calibri"/>
            </a:endParaRPr>
          </a:p>
          <a:p>
            <a:pPr indent="0" lvl="0" marL="457200" marR="0" rtl="0" algn="l">
              <a:spcBef>
                <a:spcPts val="800"/>
              </a:spcBef>
              <a:spcAft>
                <a:spcPts val="0"/>
              </a:spcAft>
              <a:buNone/>
            </a:pPr>
            <a:r>
              <a:t/>
            </a:r>
            <a:endParaRPr sz="1300">
              <a:solidFill>
                <a:srgbClr val="EDE7F2"/>
              </a:solidFill>
              <a:latin typeface="Calibri"/>
              <a:ea typeface="Calibri"/>
              <a:cs typeface="Calibri"/>
              <a:sym typeface="Calibri"/>
            </a:endParaRPr>
          </a:p>
        </p:txBody>
      </p:sp>
      <p:sp>
        <p:nvSpPr>
          <p:cNvPr id="156" name="Google Shape;156;p9"/>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pic>
        <p:nvPicPr>
          <p:cNvPr id="157" name="Google Shape;157;p9" title="generated-floor-ingame.png"/>
          <p:cNvPicPr preferRelativeResize="0"/>
          <p:nvPr/>
        </p:nvPicPr>
        <p:blipFill>
          <a:blip r:embed="rId3">
            <a:alphaModFix/>
          </a:blip>
          <a:stretch>
            <a:fillRect/>
          </a:stretch>
        </p:blipFill>
        <p:spPr>
          <a:xfrm>
            <a:off x="152400" y="1615440"/>
            <a:ext cx="7674838" cy="509016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162" name="Shape 162"/>
        <p:cNvGrpSpPr/>
        <p:nvPr/>
      </p:nvGrpSpPr>
      <p:grpSpPr>
        <a:xfrm>
          <a:off x="0" y="0"/>
          <a:ext cx="0" cy="0"/>
          <a:chOff x="0" y="0"/>
          <a:chExt cx="0" cy="0"/>
        </a:xfrm>
      </p:grpSpPr>
      <p:sp>
        <p:nvSpPr>
          <p:cNvPr id="163" name="Google Shape;163;p10"/>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KÖZPONTI RENDSZER 2</a:t>
            </a:r>
            <a:endParaRPr b="0" i="0" sz="1200" u="none" cap="none" strike="noStrike">
              <a:solidFill>
                <a:schemeClr val="dk1"/>
              </a:solidFill>
              <a:latin typeface="Calibri"/>
              <a:ea typeface="Calibri"/>
              <a:cs typeface="Calibri"/>
              <a:sym typeface="Calibri"/>
            </a:endParaRPr>
          </a:p>
        </p:txBody>
      </p:sp>
      <p:sp>
        <p:nvSpPr>
          <p:cNvPr id="164" name="Google Shape;164;p10"/>
          <p:cNvSpPr/>
          <p:nvPr/>
        </p:nvSpPr>
        <p:spPr>
          <a:xfrm>
            <a:off x="548640" y="640080"/>
            <a:ext cx="110643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Harc: villám</a:t>
            </a:r>
            <a:r>
              <a:rPr b="1" lang="en-US" sz="3200">
                <a:solidFill>
                  <a:srgbClr val="EDE7F2"/>
                </a:solidFill>
                <a:latin typeface="Cambria"/>
                <a:ea typeface="Cambria"/>
                <a:cs typeface="Cambria"/>
                <a:sym typeface="Cambria"/>
              </a:rPr>
              <a:t> csóva</a:t>
            </a:r>
            <a:endParaRPr b="0" i="0" sz="3200" u="none" cap="none" strike="noStrike">
              <a:solidFill>
                <a:schemeClr val="dk1"/>
              </a:solidFill>
              <a:latin typeface="Calibri"/>
              <a:ea typeface="Calibri"/>
              <a:cs typeface="Calibri"/>
              <a:sym typeface="Calibri"/>
            </a:endParaRPr>
          </a:p>
        </p:txBody>
      </p:sp>
      <p:sp>
        <p:nvSpPr>
          <p:cNvPr id="165" name="Google Shape;165;p10"/>
          <p:cNvSpPr/>
          <p:nvPr/>
        </p:nvSpPr>
        <p:spPr>
          <a:xfrm>
            <a:off x="548640" y="1783080"/>
            <a:ext cx="11064240" cy="5486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400"/>
              <a:buFont typeface="Calibri"/>
              <a:buNone/>
            </a:pPr>
            <a:r>
              <a:rPr b="0" i="0" lang="en-US" sz="1400" u="none" cap="none" strike="noStrike">
                <a:solidFill>
                  <a:srgbClr val="EDE7F2"/>
                </a:solidFill>
                <a:latin typeface="Calibri"/>
                <a:ea typeface="Calibri"/>
                <a:cs typeface="Calibri"/>
                <a:sym typeface="Calibri"/>
              </a:rPr>
              <a:t>A játékos támadása villámnyalábot lő kúp alakban a kurzor felé. A találatérzékelés két lépésben fut.</a:t>
            </a:r>
            <a:endParaRPr b="0" i="0" sz="1400" u="none" cap="none" strike="noStrike">
              <a:solidFill>
                <a:schemeClr val="dk1"/>
              </a:solidFill>
              <a:latin typeface="Calibri"/>
              <a:ea typeface="Calibri"/>
              <a:cs typeface="Calibri"/>
              <a:sym typeface="Calibri"/>
            </a:endParaRPr>
          </a:p>
        </p:txBody>
      </p:sp>
      <p:sp>
        <p:nvSpPr>
          <p:cNvPr id="166" name="Google Shape;166;p10"/>
          <p:cNvSpPr/>
          <p:nvPr/>
        </p:nvSpPr>
        <p:spPr>
          <a:xfrm>
            <a:off x="548640" y="2468880"/>
            <a:ext cx="11064240" cy="1005840"/>
          </a:xfrm>
          <a:prstGeom prst="roundRect">
            <a:avLst>
              <a:gd fmla="val 7273"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0"/>
          <p:cNvSpPr/>
          <p:nvPr/>
        </p:nvSpPr>
        <p:spPr>
          <a:xfrm>
            <a:off x="822960" y="2724912"/>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0"/>
          <p:cNvSpPr/>
          <p:nvPr/>
        </p:nvSpPr>
        <p:spPr>
          <a:xfrm>
            <a:off x="1097280" y="2615184"/>
            <a:ext cx="2743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450"/>
              <a:buFont typeface="Calibri"/>
              <a:buNone/>
            </a:pPr>
            <a:r>
              <a:rPr b="1" i="0" lang="en-US" sz="1450" u="none" cap="none" strike="noStrike">
                <a:solidFill>
                  <a:srgbClr val="3FB8AF"/>
                </a:solidFill>
                <a:latin typeface="Calibri"/>
                <a:ea typeface="Calibri"/>
                <a:cs typeface="Calibri"/>
                <a:sym typeface="Calibri"/>
              </a:rPr>
              <a:t>1 · Durva fázis</a:t>
            </a:r>
            <a:endParaRPr b="0" i="0" sz="1450" u="none" cap="none" strike="noStrike">
              <a:solidFill>
                <a:schemeClr val="dk1"/>
              </a:solidFill>
              <a:latin typeface="Calibri"/>
              <a:ea typeface="Calibri"/>
              <a:cs typeface="Calibri"/>
              <a:sym typeface="Calibri"/>
            </a:endParaRPr>
          </a:p>
        </p:txBody>
      </p:sp>
      <p:sp>
        <p:nvSpPr>
          <p:cNvPr id="169" name="Google Shape;169;p10"/>
          <p:cNvSpPr/>
          <p:nvPr/>
        </p:nvSpPr>
        <p:spPr>
          <a:xfrm>
            <a:off x="3840480" y="2560320"/>
            <a:ext cx="7498080" cy="8229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Egy overlap-circle lekérdezés csak a közeli ellenségeket gyűjti </a:t>
            </a:r>
            <a:r>
              <a:rPr lang="en-US" sz="1250">
                <a:solidFill>
                  <a:srgbClr val="EDE7F2"/>
                </a:solidFill>
                <a:latin typeface="Calibri"/>
                <a:ea typeface="Calibri"/>
                <a:cs typeface="Calibri"/>
                <a:sym typeface="Calibri"/>
              </a:rPr>
              <a:t>-</a:t>
            </a:r>
            <a:r>
              <a:rPr b="0" i="0" lang="en-US" sz="1250" u="none" cap="none" strike="noStrike">
                <a:solidFill>
                  <a:srgbClr val="EDE7F2"/>
                </a:solidFill>
                <a:latin typeface="Calibri"/>
                <a:ea typeface="Calibri"/>
                <a:cs typeface="Calibri"/>
                <a:sym typeface="Calibri"/>
              </a:rPr>
              <a:t> a szoba többi részét sosem vizsgálja.</a:t>
            </a:r>
            <a:endParaRPr b="0" i="0" sz="1250" u="none" cap="none" strike="noStrike">
              <a:solidFill>
                <a:schemeClr val="dk1"/>
              </a:solidFill>
              <a:latin typeface="Calibri"/>
              <a:ea typeface="Calibri"/>
              <a:cs typeface="Calibri"/>
              <a:sym typeface="Calibri"/>
            </a:endParaRPr>
          </a:p>
        </p:txBody>
      </p:sp>
      <p:sp>
        <p:nvSpPr>
          <p:cNvPr id="170" name="Google Shape;170;p10"/>
          <p:cNvSpPr/>
          <p:nvPr/>
        </p:nvSpPr>
        <p:spPr>
          <a:xfrm>
            <a:off x="548640" y="3611880"/>
            <a:ext cx="11064240" cy="1005840"/>
          </a:xfrm>
          <a:prstGeom prst="roundRect">
            <a:avLst>
              <a:gd fmla="val 7273"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0"/>
          <p:cNvSpPr/>
          <p:nvPr/>
        </p:nvSpPr>
        <p:spPr>
          <a:xfrm>
            <a:off x="822960" y="3867912"/>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0"/>
          <p:cNvSpPr/>
          <p:nvPr/>
        </p:nvSpPr>
        <p:spPr>
          <a:xfrm>
            <a:off x="1097280" y="3758184"/>
            <a:ext cx="2743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450"/>
              <a:buFont typeface="Calibri"/>
              <a:buNone/>
            </a:pPr>
            <a:r>
              <a:rPr b="1" i="0" lang="en-US" sz="1450" u="none" cap="none" strike="noStrike">
                <a:solidFill>
                  <a:srgbClr val="3FB8AF"/>
                </a:solidFill>
                <a:latin typeface="Calibri"/>
                <a:ea typeface="Calibri"/>
                <a:cs typeface="Calibri"/>
                <a:sym typeface="Calibri"/>
              </a:rPr>
              <a:t>2 · Pontos fázis</a:t>
            </a:r>
            <a:endParaRPr b="0" i="0" sz="1450" u="none" cap="none" strike="noStrike">
              <a:solidFill>
                <a:schemeClr val="dk1"/>
              </a:solidFill>
              <a:latin typeface="Calibri"/>
              <a:ea typeface="Calibri"/>
              <a:cs typeface="Calibri"/>
              <a:sym typeface="Calibri"/>
            </a:endParaRPr>
          </a:p>
        </p:txBody>
      </p:sp>
      <p:sp>
        <p:nvSpPr>
          <p:cNvPr id="173" name="Google Shape;173;p10"/>
          <p:cNvSpPr/>
          <p:nvPr/>
        </p:nvSpPr>
        <p:spPr>
          <a:xfrm>
            <a:off x="3840480" y="3703320"/>
            <a:ext cx="7498080" cy="8229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A kúpban lévő minden ellenségre a 2D vektoriális szorzat (2D cross product) adja a merőleges távolságot minden villámhoz </a:t>
            </a:r>
            <a:r>
              <a:rPr lang="en-US" sz="1250">
                <a:solidFill>
                  <a:srgbClr val="EDE7F2"/>
                </a:solidFill>
                <a:latin typeface="Calibri"/>
                <a:ea typeface="Calibri"/>
                <a:cs typeface="Calibri"/>
                <a:sym typeface="Calibri"/>
              </a:rPr>
              <a:t>-</a:t>
            </a:r>
            <a:r>
              <a:rPr b="0" i="0" lang="en-US" sz="1250" u="none" cap="none" strike="noStrike">
                <a:solidFill>
                  <a:srgbClr val="EDE7F2"/>
                </a:solidFill>
                <a:latin typeface="Calibri"/>
                <a:ea typeface="Calibri"/>
                <a:cs typeface="Calibri"/>
                <a:sym typeface="Calibri"/>
              </a:rPr>
              <a:t> megszámolva, hány találja el.</a:t>
            </a:r>
            <a:endParaRPr b="0" i="0" sz="1250" u="none" cap="none" strike="noStrike">
              <a:solidFill>
                <a:schemeClr val="dk1"/>
              </a:solidFill>
              <a:latin typeface="Calibri"/>
              <a:ea typeface="Calibri"/>
              <a:cs typeface="Calibri"/>
              <a:sym typeface="Calibri"/>
            </a:endParaRPr>
          </a:p>
        </p:txBody>
      </p:sp>
      <p:sp>
        <p:nvSpPr>
          <p:cNvPr id="174" name="Google Shape;174;p10"/>
          <p:cNvSpPr/>
          <p:nvPr/>
        </p:nvSpPr>
        <p:spPr>
          <a:xfrm>
            <a:off x="548640" y="4754880"/>
            <a:ext cx="11064240" cy="1005840"/>
          </a:xfrm>
          <a:prstGeom prst="roundRect">
            <a:avLst>
              <a:gd fmla="val 7273"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0"/>
          <p:cNvSpPr/>
          <p:nvPr/>
        </p:nvSpPr>
        <p:spPr>
          <a:xfrm>
            <a:off x="822960" y="5010912"/>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0"/>
          <p:cNvSpPr/>
          <p:nvPr/>
        </p:nvSpPr>
        <p:spPr>
          <a:xfrm>
            <a:off x="1097280" y="4901184"/>
            <a:ext cx="2743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450"/>
              <a:buFont typeface="Calibri"/>
              <a:buNone/>
            </a:pPr>
            <a:r>
              <a:rPr b="1" i="0" lang="en-US" sz="1450" u="none" cap="none" strike="noStrike">
                <a:solidFill>
                  <a:srgbClr val="3FB8AF"/>
                </a:solidFill>
                <a:latin typeface="Calibri"/>
                <a:ea typeface="Calibri"/>
                <a:cs typeface="Calibri"/>
                <a:sym typeface="Calibri"/>
              </a:rPr>
              <a:t>Arányos sebzés</a:t>
            </a:r>
            <a:endParaRPr b="0" i="0" sz="1450" u="none" cap="none" strike="noStrike">
              <a:solidFill>
                <a:schemeClr val="dk1"/>
              </a:solidFill>
              <a:latin typeface="Calibri"/>
              <a:ea typeface="Calibri"/>
              <a:cs typeface="Calibri"/>
              <a:sym typeface="Calibri"/>
            </a:endParaRPr>
          </a:p>
        </p:txBody>
      </p:sp>
      <p:sp>
        <p:nvSpPr>
          <p:cNvPr id="177" name="Google Shape;177;p10"/>
          <p:cNvSpPr/>
          <p:nvPr/>
        </p:nvSpPr>
        <p:spPr>
          <a:xfrm>
            <a:off x="3840480" y="4846320"/>
            <a:ext cx="7498080" cy="8229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Több villám egy ellenségen = több sebzés. Az egytalálatos alsó küszöb kizárja a nulla sebzésű határeseteket.</a:t>
            </a:r>
            <a:endParaRPr b="0" i="0" sz="1250" u="none" cap="none" strike="noStrike">
              <a:solidFill>
                <a:schemeClr val="dk1"/>
              </a:solidFill>
              <a:latin typeface="Calibri"/>
              <a:ea typeface="Calibri"/>
              <a:cs typeface="Calibri"/>
              <a:sym typeface="Calibri"/>
            </a:endParaRPr>
          </a:p>
        </p:txBody>
      </p:sp>
      <p:sp>
        <p:nvSpPr>
          <p:cNvPr id="178" name="Google Shape;178;p10"/>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8</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183" name="Shape 183"/>
        <p:cNvGrpSpPr/>
        <p:nvPr/>
      </p:nvGrpSpPr>
      <p:grpSpPr>
        <a:xfrm>
          <a:off x="0" y="0"/>
          <a:ext cx="0" cy="0"/>
          <a:chOff x="0" y="0"/>
          <a:chExt cx="0" cy="0"/>
        </a:xfrm>
      </p:grpSpPr>
      <p:sp>
        <p:nvSpPr>
          <p:cNvPr id="184" name="Google Shape;184;p11"/>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RENDSZEREK</a:t>
            </a:r>
            <a:endParaRPr b="0" i="0" sz="1200" u="none" cap="none" strike="noStrike">
              <a:solidFill>
                <a:schemeClr val="dk1"/>
              </a:solidFill>
              <a:latin typeface="Calibri"/>
              <a:ea typeface="Calibri"/>
              <a:cs typeface="Calibri"/>
              <a:sym typeface="Calibri"/>
            </a:endParaRPr>
          </a:p>
        </p:txBody>
      </p:sp>
      <p:sp>
        <p:nvSpPr>
          <p:cNvPr id="185" name="Google Shape;185;p11"/>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Két út az erősödéshez</a:t>
            </a:r>
            <a:endParaRPr b="0" i="0" sz="3200" u="none" cap="none" strike="noStrike">
              <a:solidFill>
                <a:schemeClr val="dk1"/>
              </a:solidFill>
              <a:latin typeface="Calibri"/>
              <a:ea typeface="Calibri"/>
              <a:cs typeface="Calibri"/>
              <a:sym typeface="Calibri"/>
            </a:endParaRPr>
          </a:p>
        </p:txBody>
      </p:sp>
      <p:sp>
        <p:nvSpPr>
          <p:cNvPr id="186" name="Google Shape;186;p11"/>
          <p:cNvSpPr/>
          <p:nvPr/>
        </p:nvSpPr>
        <p:spPr>
          <a:xfrm>
            <a:off x="548640" y="1920240"/>
            <a:ext cx="5394960" cy="3749040"/>
          </a:xfrm>
          <a:prstGeom prst="roundRect">
            <a:avLst>
              <a:gd fmla="val 195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a:off x="822960" y="221284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a:off x="1097280" y="210312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600"/>
              <a:buFont typeface="Calibri"/>
              <a:buNone/>
            </a:pPr>
            <a:r>
              <a:rPr b="1" i="0" lang="en-US" sz="1600" u="none" cap="none" strike="noStrike">
                <a:solidFill>
                  <a:srgbClr val="3FB8AF"/>
                </a:solidFill>
                <a:latin typeface="Calibri"/>
                <a:ea typeface="Calibri"/>
                <a:cs typeface="Calibri"/>
                <a:sym typeface="Calibri"/>
              </a:rPr>
              <a:t>Kincses szobák tárgyai</a:t>
            </a:r>
            <a:endParaRPr b="0" i="0" sz="1600" u="none" cap="none" strike="noStrike">
              <a:solidFill>
                <a:schemeClr val="dk1"/>
              </a:solidFill>
              <a:latin typeface="Calibri"/>
              <a:ea typeface="Calibri"/>
              <a:cs typeface="Calibri"/>
              <a:sym typeface="Calibri"/>
            </a:endParaRPr>
          </a:p>
        </p:txBody>
      </p:sp>
      <p:sp>
        <p:nvSpPr>
          <p:cNvPr id="189" name="Google Shape;189;p11"/>
          <p:cNvSpPr/>
          <p:nvPr/>
        </p:nvSpPr>
        <p:spPr>
          <a:xfrm>
            <a:off x="1097280" y="2606040"/>
            <a:ext cx="4572000" cy="28346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300"/>
              <a:buFont typeface="Calibri"/>
              <a:buNone/>
            </a:pPr>
            <a:r>
              <a:rPr b="1" i="0" lang="en-US" sz="1300" u="none" cap="none" strike="noStrike">
                <a:solidFill>
                  <a:srgbClr val="EDE7F2"/>
                </a:solidFill>
                <a:latin typeface="Calibri"/>
                <a:ea typeface="Calibri"/>
                <a:cs typeface="Calibri"/>
                <a:sym typeface="Calibri"/>
              </a:rPr>
              <a:t>A játékos választásai</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Minden tárgy egy ScriptableObject egy hatással (gyorsabb </a:t>
            </a:r>
            <a:r>
              <a:rPr lang="en-US" sz="1300">
                <a:solidFill>
                  <a:srgbClr val="EDE7F2"/>
                </a:solidFill>
                <a:latin typeface="Calibri"/>
                <a:ea typeface="Calibri"/>
                <a:cs typeface="Calibri"/>
                <a:sym typeface="Calibri"/>
              </a:rPr>
              <a:t>támadás</a:t>
            </a:r>
            <a:r>
              <a:rPr b="0" i="0" lang="en-US" sz="1300" u="none" cap="none" strike="noStrike">
                <a:solidFill>
                  <a:srgbClr val="EDE7F2"/>
                </a:solidFill>
                <a:latin typeface="Calibri"/>
                <a:ea typeface="Calibri"/>
                <a:cs typeface="Calibri"/>
                <a:sym typeface="Calibri"/>
              </a:rPr>
              <a:t>, plusz lövedék, regeneráció…).</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Shuffle bagből húzva </a:t>
            </a:r>
            <a:r>
              <a:rPr lang="en-US" sz="1300">
                <a:solidFill>
                  <a:srgbClr val="EDE7F2"/>
                </a:solidFill>
                <a:latin typeface="Calibri"/>
                <a:ea typeface="Calibri"/>
                <a:cs typeface="Calibri"/>
                <a:sym typeface="Calibri"/>
              </a:rPr>
              <a:t>-</a:t>
            </a:r>
            <a:r>
              <a:rPr b="0" i="0" lang="en-US" sz="1300" u="none" cap="none" strike="noStrike">
                <a:solidFill>
                  <a:srgbClr val="EDE7F2"/>
                </a:solidFill>
                <a:latin typeface="Calibri"/>
                <a:ea typeface="Calibri"/>
                <a:cs typeface="Calibri"/>
                <a:sym typeface="Calibri"/>
              </a:rPr>
              <a:t> egy tárgy sem ismétlődik egy játszmán belül.</a:t>
            </a:r>
            <a:endParaRPr b="0" i="0" sz="1300" u="none" cap="none" strike="noStrike">
              <a:solidFill>
                <a:schemeClr val="dk1"/>
              </a:solidFill>
              <a:latin typeface="Calibri"/>
              <a:ea typeface="Calibri"/>
              <a:cs typeface="Calibri"/>
              <a:sym typeface="Calibri"/>
            </a:endParaRPr>
          </a:p>
        </p:txBody>
      </p:sp>
      <p:sp>
        <p:nvSpPr>
          <p:cNvPr id="190" name="Google Shape;190;p11"/>
          <p:cNvSpPr/>
          <p:nvPr/>
        </p:nvSpPr>
        <p:spPr>
          <a:xfrm>
            <a:off x="6217920" y="1920240"/>
            <a:ext cx="5394960" cy="3749040"/>
          </a:xfrm>
          <a:prstGeom prst="roundRect">
            <a:avLst>
              <a:gd fmla="val 195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a:off x="6492240" y="221284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a:off x="6766560" y="2103120"/>
            <a:ext cx="4754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500"/>
              <a:buFont typeface="Calibri"/>
              <a:buNone/>
            </a:pPr>
            <a:r>
              <a:rPr b="1" i="0" lang="en-US" sz="1500" u="none" cap="none" strike="noStrike">
                <a:solidFill>
                  <a:srgbClr val="3FB8AF"/>
                </a:solidFill>
                <a:latin typeface="Calibri"/>
                <a:ea typeface="Calibri"/>
                <a:cs typeface="Calibri"/>
                <a:sym typeface="Calibri"/>
              </a:rPr>
              <a:t>Bónusz minden kitakarított szobáért</a:t>
            </a:r>
            <a:endParaRPr b="0" i="0" sz="1500" u="none" cap="none" strike="noStrike">
              <a:solidFill>
                <a:schemeClr val="dk1"/>
              </a:solidFill>
              <a:latin typeface="Calibri"/>
              <a:ea typeface="Calibri"/>
              <a:cs typeface="Calibri"/>
              <a:sym typeface="Calibri"/>
            </a:endParaRPr>
          </a:p>
        </p:txBody>
      </p:sp>
      <p:sp>
        <p:nvSpPr>
          <p:cNvPr id="193" name="Google Shape;193;p11"/>
          <p:cNvSpPr/>
          <p:nvPr/>
        </p:nvSpPr>
        <p:spPr>
          <a:xfrm>
            <a:off x="6766560" y="2606040"/>
            <a:ext cx="4572000" cy="28346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300"/>
              <a:buFont typeface="Calibri"/>
              <a:buNone/>
            </a:pPr>
            <a:r>
              <a:rPr b="1" i="0" lang="en-US" sz="1300" u="none" cap="none" strike="noStrike">
                <a:solidFill>
                  <a:srgbClr val="EDE7F2"/>
                </a:solidFill>
                <a:latin typeface="Calibri"/>
                <a:ea typeface="Calibri"/>
                <a:cs typeface="Calibri"/>
                <a:sym typeface="Calibri"/>
              </a:rPr>
              <a:t>Automatikus növekedés</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Minden kitakarított harci szoba egy véletlenszerű statisztikát 10%-kal növel (kamatos).</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Kivétel: a lövedékszám fixen +1.</a:t>
            </a:r>
            <a:endParaRPr b="0" i="0" sz="13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9A8FA8"/>
              </a:buClr>
              <a:buSzPts val="1300"/>
              <a:buFont typeface="Calibri"/>
              <a:buNone/>
            </a:pPr>
            <a:r>
              <a:rPr b="0" i="1" lang="en-US" sz="1300" u="none" cap="none" strike="noStrike">
                <a:solidFill>
                  <a:srgbClr val="9A8FA8"/>
                </a:solidFill>
                <a:latin typeface="Calibri"/>
                <a:ea typeface="Calibri"/>
                <a:cs typeface="Calibri"/>
                <a:sym typeface="Calibri"/>
              </a:rPr>
              <a:t>Az arány játékteszteléssel hangolva.</a:t>
            </a:r>
            <a:endParaRPr b="0" i="0" sz="1300" u="none" cap="none" strike="noStrike">
              <a:solidFill>
                <a:schemeClr val="dk1"/>
              </a:solidFill>
              <a:latin typeface="Calibri"/>
              <a:ea typeface="Calibri"/>
              <a:cs typeface="Calibri"/>
              <a:sym typeface="Calibri"/>
            </a:endParaRPr>
          </a:p>
        </p:txBody>
      </p:sp>
      <p:sp>
        <p:nvSpPr>
          <p:cNvPr id="194" name="Google Shape;194;p11"/>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199" name="Shape 199"/>
        <p:cNvGrpSpPr/>
        <p:nvPr/>
      </p:nvGrpSpPr>
      <p:grpSpPr>
        <a:xfrm>
          <a:off x="0" y="0"/>
          <a:ext cx="0" cy="0"/>
          <a:chOff x="0" y="0"/>
          <a:chExt cx="0" cy="0"/>
        </a:xfrm>
      </p:grpSpPr>
      <p:sp>
        <p:nvSpPr>
          <p:cNvPr id="200" name="Google Shape;200;p12"/>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RENDSZEREK</a:t>
            </a:r>
            <a:endParaRPr b="0" i="0" sz="1200" u="none" cap="none" strike="noStrike">
              <a:solidFill>
                <a:schemeClr val="dk1"/>
              </a:solidFill>
              <a:latin typeface="Calibri"/>
              <a:ea typeface="Calibri"/>
              <a:cs typeface="Calibri"/>
              <a:sym typeface="Calibri"/>
            </a:endParaRPr>
          </a:p>
        </p:txBody>
      </p:sp>
      <p:sp>
        <p:nvSpPr>
          <p:cNvPr id="201" name="Google Shape;201;p12"/>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Online ranglista</a:t>
            </a:r>
            <a:endParaRPr b="0" i="0" sz="3200" u="none" cap="none" strike="noStrike">
              <a:solidFill>
                <a:schemeClr val="dk1"/>
              </a:solidFill>
              <a:latin typeface="Calibri"/>
              <a:ea typeface="Calibri"/>
              <a:cs typeface="Calibri"/>
              <a:sym typeface="Calibri"/>
            </a:endParaRPr>
          </a:p>
        </p:txBody>
      </p:sp>
      <p:sp>
        <p:nvSpPr>
          <p:cNvPr id="202" name="Google Shape;202;p12"/>
          <p:cNvSpPr/>
          <p:nvPr/>
        </p:nvSpPr>
        <p:spPr>
          <a:xfrm>
            <a:off x="548640" y="1783080"/>
            <a:ext cx="11064240" cy="5486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350"/>
              <a:buFont typeface="Calibri"/>
              <a:buNone/>
            </a:pPr>
            <a:r>
              <a:rPr b="0" i="0" lang="en-US" sz="1350" u="none" cap="none" strike="noStrike">
                <a:solidFill>
                  <a:srgbClr val="EDE7F2"/>
                </a:solidFill>
                <a:latin typeface="Calibri"/>
                <a:ea typeface="Calibri"/>
                <a:cs typeface="Calibri"/>
                <a:sym typeface="Calibri"/>
              </a:rPr>
              <a:t>Egy globális ranglista teszi lehetővé a pontszámok beküldését és összehasonlítását — az egyetlen funkció, amellyel az összehasonlítható játékok nem rendelkeznek.</a:t>
            </a:r>
            <a:endParaRPr b="0" i="0" sz="1350" u="none" cap="none" strike="noStrike">
              <a:solidFill>
                <a:schemeClr val="dk1"/>
              </a:solidFill>
              <a:latin typeface="Calibri"/>
              <a:ea typeface="Calibri"/>
              <a:cs typeface="Calibri"/>
              <a:sym typeface="Calibri"/>
            </a:endParaRPr>
          </a:p>
        </p:txBody>
      </p:sp>
      <p:sp>
        <p:nvSpPr>
          <p:cNvPr id="203" name="Google Shape;203;p12"/>
          <p:cNvSpPr/>
          <p:nvPr/>
        </p:nvSpPr>
        <p:spPr>
          <a:xfrm>
            <a:off x="548640" y="2468880"/>
            <a:ext cx="11064240" cy="960120"/>
          </a:xfrm>
          <a:prstGeom prst="roundRect">
            <a:avLst>
              <a:gd fmla="val 7619"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2"/>
          <p:cNvSpPr/>
          <p:nvPr/>
        </p:nvSpPr>
        <p:spPr>
          <a:xfrm>
            <a:off x="822960" y="271576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2"/>
          <p:cNvSpPr/>
          <p:nvPr/>
        </p:nvSpPr>
        <p:spPr>
          <a:xfrm>
            <a:off x="1097280" y="2578608"/>
            <a:ext cx="28346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400"/>
              <a:buFont typeface="Calibri"/>
              <a:buNone/>
            </a:pPr>
            <a:r>
              <a:rPr b="1" i="0" lang="en-US" sz="1400" u="none" cap="none" strike="noStrike">
                <a:solidFill>
                  <a:srgbClr val="3FB8AF"/>
                </a:solidFill>
                <a:latin typeface="Calibri"/>
                <a:ea typeface="Calibri"/>
                <a:cs typeface="Calibri"/>
                <a:sym typeface="Calibri"/>
              </a:rPr>
              <a:t>Cloud Firestore</a:t>
            </a:r>
            <a:endParaRPr b="0" i="0" sz="1400" u="none" cap="none" strike="noStrike">
              <a:solidFill>
                <a:schemeClr val="dk1"/>
              </a:solidFill>
              <a:latin typeface="Calibri"/>
              <a:ea typeface="Calibri"/>
              <a:cs typeface="Calibri"/>
              <a:sym typeface="Calibri"/>
            </a:endParaRPr>
          </a:p>
        </p:txBody>
      </p:sp>
      <p:sp>
        <p:nvSpPr>
          <p:cNvPr id="206" name="Google Shape;206;p12"/>
          <p:cNvSpPr/>
          <p:nvPr/>
        </p:nvSpPr>
        <p:spPr>
          <a:xfrm>
            <a:off x="3931920" y="2542032"/>
            <a:ext cx="7406640" cy="8229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EDE7F2"/>
              </a:buClr>
              <a:buSzPts val="1200"/>
              <a:buFont typeface="Calibri"/>
              <a:buNone/>
            </a:pPr>
            <a:r>
              <a:rPr b="0" i="0" lang="en-US" sz="1200" u="none" cap="none" strike="noStrike">
                <a:solidFill>
                  <a:srgbClr val="EDE7F2"/>
                </a:solidFill>
                <a:latin typeface="Calibri"/>
                <a:ea typeface="Calibri"/>
                <a:cs typeface="Calibri"/>
                <a:sym typeface="Calibri"/>
              </a:rPr>
              <a:t>A Realtime DB helyett szerveroldalon rendez és korlátoz, így a top pontszámok már rendezve érkeznek.</a:t>
            </a:r>
            <a:endParaRPr b="0" i="0" sz="1200" u="none" cap="none" strike="noStrike">
              <a:solidFill>
                <a:schemeClr val="dk1"/>
              </a:solidFill>
              <a:latin typeface="Calibri"/>
              <a:ea typeface="Calibri"/>
              <a:cs typeface="Calibri"/>
              <a:sym typeface="Calibri"/>
            </a:endParaRPr>
          </a:p>
        </p:txBody>
      </p:sp>
      <p:sp>
        <p:nvSpPr>
          <p:cNvPr id="207" name="Google Shape;207;p12"/>
          <p:cNvSpPr/>
          <p:nvPr/>
        </p:nvSpPr>
        <p:spPr>
          <a:xfrm>
            <a:off x="548640" y="3566160"/>
            <a:ext cx="11064240" cy="960120"/>
          </a:xfrm>
          <a:prstGeom prst="roundRect">
            <a:avLst>
              <a:gd fmla="val 7619"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2"/>
          <p:cNvSpPr/>
          <p:nvPr/>
        </p:nvSpPr>
        <p:spPr>
          <a:xfrm>
            <a:off x="822960" y="381304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2"/>
          <p:cNvSpPr/>
          <p:nvPr/>
        </p:nvSpPr>
        <p:spPr>
          <a:xfrm>
            <a:off x="1097280" y="3675888"/>
            <a:ext cx="28346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400"/>
              <a:buFont typeface="Calibri"/>
              <a:buNone/>
            </a:pPr>
            <a:r>
              <a:rPr b="1" i="0" lang="en-US" sz="1400" u="none" cap="none" strike="noStrike">
                <a:solidFill>
                  <a:srgbClr val="3FB8AF"/>
                </a:solidFill>
                <a:latin typeface="Calibri"/>
                <a:ea typeface="Calibri"/>
                <a:cs typeface="Calibri"/>
                <a:sym typeface="Calibri"/>
              </a:rPr>
              <a:t>REST, nem SDK</a:t>
            </a:r>
            <a:endParaRPr b="0" i="0" sz="1400" u="none" cap="none" strike="noStrike">
              <a:solidFill>
                <a:schemeClr val="dk1"/>
              </a:solidFill>
              <a:latin typeface="Calibri"/>
              <a:ea typeface="Calibri"/>
              <a:cs typeface="Calibri"/>
              <a:sym typeface="Calibri"/>
            </a:endParaRPr>
          </a:p>
        </p:txBody>
      </p:sp>
      <p:sp>
        <p:nvSpPr>
          <p:cNvPr id="210" name="Google Shape;210;p12"/>
          <p:cNvSpPr/>
          <p:nvPr/>
        </p:nvSpPr>
        <p:spPr>
          <a:xfrm>
            <a:off x="3931920" y="3639312"/>
            <a:ext cx="7406640" cy="8229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EDE7F2"/>
              </a:buClr>
              <a:buSzPts val="1200"/>
              <a:buFont typeface="Calibri"/>
              <a:buNone/>
            </a:pPr>
            <a:r>
              <a:rPr b="0" i="0" lang="en-US" sz="1200" u="none" cap="none" strike="noStrike">
                <a:solidFill>
                  <a:srgbClr val="EDE7F2"/>
                </a:solidFill>
                <a:latin typeface="Calibri"/>
                <a:ea typeface="Calibri"/>
                <a:cs typeface="Calibri"/>
                <a:sym typeface="Calibri"/>
              </a:rPr>
              <a:t>A Firebase Unity SDK mobilorientált. Sima HTTP UnityWebRequesttel extra csomagok nélkül.</a:t>
            </a:r>
            <a:endParaRPr b="0" i="0" sz="1200" u="none" cap="none" strike="noStrike">
              <a:solidFill>
                <a:schemeClr val="dk1"/>
              </a:solidFill>
              <a:latin typeface="Calibri"/>
              <a:ea typeface="Calibri"/>
              <a:cs typeface="Calibri"/>
              <a:sym typeface="Calibri"/>
            </a:endParaRPr>
          </a:p>
        </p:txBody>
      </p:sp>
      <p:sp>
        <p:nvSpPr>
          <p:cNvPr id="211" name="Google Shape;211;p12"/>
          <p:cNvSpPr/>
          <p:nvPr/>
        </p:nvSpPr>
        <p:spPr>
          <a:xfrm>
            <a:off x="548640" y="4663440"/>
            <a:ext cx="11064240" cy="960120"/>
          </a:xfrm>
          <a:prstGeom prst="roundRect">
            <a:avLst>
              <a:gd fmla="val 7619"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2"/>
          <p:cNvSpPr/>
          <p:nvPr/>
        </p:nvSpPr>
        <p:spPr>
          <a:xfrm>
            <a:off x="822960" y="491032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2"/>
          <p:cNvSpPr/>
          <p:nvPr/>
        </p:nvSpPr>
        <p:spPr>
          <a:xfrm>
            <a:off x="1097280" y="4773168"/>
            <a:ext cx="28346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400"/>
              <a:buFont typeface="Calibri"/>
              <a:buNone/>
            </a:pPr>
            <a:r>
              <a:rPr b="1" i="0" lang="en-US" sz="1400" u="none" cap="none" strike="noStrike">
                <a:solidFill>
                  <a:srgbClr val="3FB8AF"/>
                </a:solidFill>
                <a:latin typeface="Calibri"/>
                <a:ea typeface="Calibri"/>
                <a:cs typeface="Calibri"/>
                <a:sym typeface="Calibri"/>
              </a:rPr>
              <a:t>Szerveroldali szabályok</a:t>
            </a:r>
            <a:endParaRPr b="0" i="0" sz="1400" u="none" cap="none" strike="noStrike">
              <a:solidFill>
                <a:schemeClr val="dk1"/>
              </a:solidFill>
              <a:latin typeface="Calibri"/>
              <a:ea typeface="Calibri"/>
              <a:cs typeface="Calibri"/>
              <a:sym typeface="Calibri"/>
            </a:endParaRPr>
          </a:p>
        </p:txBody>
      </p:sp>
      <p:sp>
        <p:nvSpPr>
          <p:cNvPr id="214" name="Google Shape;214;p12"/>
          <p:cNvSpPr/>
          <p:nvPr/>
        </p:nvSpPr>
        <p:spPr>
          <a:xfrm>
            <a:off x="3931920" y="4736592"/>
            <a:ext cx="7406640" cy="8229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EDE7F2"/>
              </a:buClr>
              <a:buSzPts val="1200"/>
              <a:buFont typeface="Calibri"/>
              <a:buNone/>
            </a:pPr>
            <a:r>
              <a:rPr b="0" i="0" lang="en-US" sz="1200" u="none" cap="none" strike="noStrike">
                <a:solidFill>
                  <a:srgbClr val="EDE7F2"/>
                </a:solidFill>
                <a:latin typeface="Calibri"/>
                <a:ea typeface="Calibri"/>
                <a:cs typeface="Calibri"/>
                <a:sym typeface="Calibri"/>
              </a:rPr>
              <a:t>Az olvasás szabad; az írás validált (névhossz, nemnegatív pontszám). Fiókok nélkül kizárja a triviális visszaélést.</a:t>
            </a:r>
            <a:endParaRPr b="0" i="0" sz="1200" u="none" cap="none" strike="noStrike">
              <a:solidFill>
                <a:schemeClr val="dk1"/>
              </a:solidFill>
              <a:latin typeface="Calibri"/>
              <a:ea typeface="Calibri"/>
              <a:cs typeface="Calibri"/>
              <a:sym typeface="Calibri"/>
            </a:endParaRPr>
          </a:p>
        </p:txBody>
      </p:sp>
      <p:sp>
        <p:nvSpPr>
          <p:cNvPr id="215" name="Google Shape;215;p12"/>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11</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1C33"/>
        </a:solidFill>
      </p:bgPr>
    </p:bg>
    <p:spTree>
      <p:nvGrpSpPr>
        <p:cNvPr id="220" name="Shape 220"/>
        <p:cNvGrpSpPr/>
        <p:nvPr/>
      </p:nvGrpSpPr>
      <p:grpSpPr>
        <a:xfrm>
          <a:off x="0" y="0"/>
          <a:ext cx="0" cy="0"/>
          <a:chOff x="0" y="0"/>
          <a:chExt cx="0" cy="0"/>
        </a:xfrm>
      </p:grpSpPr>
      <p:sp>
        <p:nvSpPr>
          <p:cNvPr id="221" name="Google Shape;221;p13"/>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HOZZÁJÁRULÁS</a:t>
            </a:r>
            <a:endParaRPr b="0" i="0" sz="1200" u="none" cap="none" strike="noStrike">
              <a:solidFill>
                <a:schemeClr val="dk1"/>
              </a:solidFill>
              <a:latin typeface="Calibri"/>
              <a:ea typeface="Calibri"/>
              <a:cs typeface="Calibri"/>
              <a:sym typeface="Calibri"/>
            </a:endParaRPr>
          </a:p>
        </p:txBody>
      </p:sp>
      <p:sp>
        <p:nvSpPr>
          <p:cNvPr id="222" name="Google Shape;222;p13"/>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Mi az én hozzájárulásom</a:t>
            </a:r>
            <a:endParaRPr b="0" i="0" sz="3200" u="none" cap="none" strike="noStrike">
              <a:solidFill>
                <a:schemeClr val="dk1"/>
              </a:solidFill>
              <a:latin typeface="Calibri"/>
              <a:ea typeface="Calibri"/>
              <a:cs typeface="Calibri"/>
              <a:sym typeface="Calibri"/>
            </a:endParaRPr>
          </a:p>
        </p:txBody>
      </p:sp>
      <p:sp>
        <p:nvSpPr>
          <p:cNvPr id="223" name="Google Shape;223;p13"/>
          <p:cNvSpPr/>
          <p:nvPr/>
        </p:nvSpPr>
        <p:spPr>
          <a:xfrm>
            <a:off x="548640" y="1783080"/>
            <a:ext cx="11064240" cy="5486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500"/>
              <a:buFont typeface="Calibri"/>
              <a:buNone/>
            </a:pPr>
            <a:r>
              <a:rPr b="0" i="0" lang="en-US" sz="1500" u="none" cap="none" strike="noStrike">
                <a:solidFill>
                  <a:srgbClr val="EDE7F2"/>
                </a:solidFill>
                <a:latin typeface="Calibri"/>
                <a:ea typeface="Calibri"/>
                <a:cs typeface="Calibri"/>
                <a:sym typeface="Calibri"/>
              </a:rPr>
              <a:t>Nem új algoritmus vagy műfaj</a:t>
            </a:r>
            <a:r>
              <a:rPr lang="en-US" sz="1500">
                <a:solidFill>
                  <a:srgbClr val="EDE7F2"/>
                </a:solidFill>
                <a:latin typeface="Calibri"/>
                <a:ea typeface="Calibri"/>
                <a:cs typeface="Calibri"/>
                <a:sym typeface="Calibri"/>
              </a:rPr>
              <a:t>.</a:t>
            </a:r>
            <a:r>
              <a:rPr b="0" i="0" lang="en-US" sz="1500" u="none" cap="none" strike="noStrike">
                <a:solidFill>
                  <a:srgbClr val="EDE7F2"/>
                </a:solidFill>
                <a:latin typeface="Calibri"/>
                <a:ea typeface="Calibri"/>
                <a:cs typeface="Calibri"/>
                <a:sym typeface="Calibri"/>
              </a:rPr>
              <a:t> A hozzájárulás tervezés és szintézis:</a:t>
            </a:r>
            <a:endParaRPr b="0" i="0" sz="1500" u="none" cap="none" strike="noStrike">
              <a:solidFill>
                <a:schemeClr val="dk1"/>
              </a:solidFill>
              <a:latin typeface="Calibri"/>
              <a:ea typeface="Calibri"/>
              <a:cs typeface="Calibri"/>
              <a:sym typeface="Calibri"/>
            </a:endParaRPr>
          </a:p>
        </p:txBody>
      </p:sp>
      <p:sp>
        <p:nvSpPr>
          <p:cNvPr id="224" name="Google Shape;224;p13"/>
          <p:cNvSpPr/>
          <p:nvPr/>
        </p:nvSpPr>
        <p:spPr>
          <a:xfrm>
            <a:off x="548640" y="2560320"/>
            <a:ext cx="3474720" cy="2468880"/>
          </a:xfrm>
          <a:prstGeom prst="roundRect">
            <a:avLst>
              <a:gd fmla="val 2963" name="adj"/>
            </a:avLst>
          </a:prstGeom>
          <a:solidFill>
            <a:srgbClr val="1A1526"/>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3"/>
          <p:cNvSpPr/>
          <p:nvPr/>
        </p:nvSpPr>
        <p:spPr>
          <a:xfrm>
            <a:off x="804672" y="285292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3"/>
          <p:cNvSpPr/>
          <p:nvPr/>
        </p:nvSpPr>
        <p:spPr>
          <a:xfrm>
            <a:off x="1005840" y="2743200"/>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600"/>
              <a:buFont typeface="Calibri"/>
              <a:buNone/>
            </a:pPr>
            <a:r>
              <a:rPr b="1" i="0" lang="en-US" sz="1600" u="none" cap="none" strike="noStrike">
                <a:solidFill>
                  <a:srgbClr val="3FB8AF"/>
                </a:solidFill>
                <a:latin typeface="Calibri"/>
                <a:ea typeface="Calibri"/>
                <a:cs typeface="Calibri"/>
                <a:sym typeface="Calibri"/>
              </a:rPr>
              <a:t>A koncepció</a:t>
            </a:r>
            <a:endParaRPr b="0" i="0" sz="1600" u="none" cap="none" strike="noStrike">
              <a:solidFill>
                <a:schemeClr val="dk1"/>
              </a:solidFill>
              <a:latin typeface="Calibri"/>
              <a:ea typeface="Calibri"/>
              <a:cs typeface="Calibri"/>
              <a:sym typeface="Calibri"/>
            </a:endParaRPr>
          </a:p>
        </p:txBody>
      </p:sp>
      <p:sp>
        <p:nvSpPr>
          <p:cNvPr id="227" name="Google Shape;227;p13"/>
          <p:cNvSpPr/>
          <p:nvPr/>
        </p:nvSpPr>
        <p:spPr>
          <a:xfrm>
            <a:off x="822960" y="3246120"/>
            <a:ext cx="2926080" cy="1645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Eredeti játék a kóma / tudatalatti gondolatra építve, amely összeköti a témát, a grafikát és a szerkezetet.</a:t>
            </a:r>
            <a:endParaRPr b="0" i="0" sz="1250" u="none" cap="none" strike="noStrike">
              <a:solidFill>
                <a:schemeClr val="dk1"/>
              </a:solidFill>
              <a:latin typeface="Calibri"/>
              <a:ea typeface="Calibri"/>
              <a:cs typeface="Calibri"/>
              <a:sym typeface="Calibri"/>
            </a:endParaRPr>
          </a:p>
        </p:txBody>
      </p:sp>
      <p:sp>
        <p:nvSpPr>
          <p:cNvPr id="228" name="Google Shape;228;p13"/>
          <p:cNvSpPr/>
          <p:nvPr/>
        </p:nvSpPr>
        <p:spPr>
          <a:xfrm>
            <a:off x="4251960" y="2560320"/>
            <a:ext cx="3474720" cy="2468880"/>
          </a:xfrm>
          <a:prstGeom prst="roundRect">
            <a:avLst>
              <a:gd fmla="val 2963" name="adj"/>
            </a:avLst>
          </a:prstGeom>
          <a:solidFill>
            <a:srgbClr val="1A1526"/>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3"/>
          <p:cNvSpPr/>
          <p:nvPr/>
        </p:nvSpPr>
        <p:spPr>
          <a:xfrm>
            <a:off x="4507992" y="285292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3"/>
          <p:cNvSpPr/>
          <p:nvPr/>
        </p:nvSpPr>
        <p:spPr>
          <a:xfrm>
            <a:off x="4709160" y="2743200"/>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600"/>
              <a:buFont typeface="Calibri"/>
              <a:buNone/>
            </a:pPr>
            <a:r>
              <a:rPr b="1" i="0" lang="en-US" sz="1600" u="none" cap="none" strike="noStrike">
                <a:solidFill>
                  <a:srgbClr val="3FB8AF"/>
                </a:solidFill>
                <a:latin typeface="Calibri"/>
                <a:ea typeface="Calibri"/>
                <a:cs typeface="Calibri"/>
                <a:sym typeface="Calibri"/>
              </a:rPr>
              <a:t>A rendszerek</a:t>
            </a:r>
            <a:endParaRPr b="0" i="0" sz="1600" u="none" cap="none" strike="noStrike">
              <a:solidFill>
                <a:schemeClr val="dk1"/>
              </a:solidFill>
              <a:latin typeface="Calibri"/>
              <a:ea typeface="Calibri"/>
              <a:cs typeface="Calibri"/>
              <a:sym typeface="Calibri"/>
            </a:endParaRPr>
          </a:p>
        </p:txBody>
      </p:sp>
      <p:sp>
        <p:nvSpPr>
          <p:cNvPr id="231" name="Google Shape;231;p13"/>
          <p:cNvSpPr/>
          <p:nvPr/>
        </p:nvSpPr>
        <p:spPr>
          <a:xfrm>
            <a:off x="4526280" y="3246120"/>
            <a:ext cx="2926080" cy="1645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A kétfázisú generátor és a kúpalapú harc konkrét megtervezése, az itteni formájukban.</a:t>
            </a:r>
            <a:endParaRPr b="0" i="0" sz="1250" u="none" cap="none" strike="noStrike">
              <a:solidFill>
                <a:schemeClr val="dk1"/>
              </a:solidFill>
              <a:latin typeface="Calibri"/>
              <a:ea typeface="Calibri"/>
              <a:cs typeface="Calibri"/>
              <a:sym typeface="Calibri"/>
            </a:endParaRPr>
          </a:p>
        </p:txBody>
      </p:sp>
      <p:sp>
        <p:nvSpPr>
          <p:cNvPr id="232" name="Google Shape;232;p13"/>
          <p:cNvSpPr/>
          <p:nvPr/>
        </p:nvSpPr>
        <p:spPr>
          <a:xfrm>
            <a:off x="7955280" y="2560320"/>
            <a:ext cx="3474720" cy="2468880"/>
          </a:xfrm>
          <a:prstGeom prst="roundRect">
            <a:avLst>
              <a:gd fmla="val 2963" name="adj"/>
            </a:avLst>
          </a:prstGeom>
          <a:solidFill>
            <a:srgbClr val="1A1526"/>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3"/>
          <p:cNvSpPr/>
          <p:nvPr/>
        </p:nvSpPr>
        <p:spPr>
          <a:xfrm>
            <a:off x="8211312" y="285292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3"/>
          <p:cNvSpPr/>
          <p:nvPr/>
        </p:nvSpPr>
        <p:spPr>
          <a:xfrm>
            <a:off x="8412480" y="2743200"/>
            <a:ext cx="2834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600"/>
              <a:buFont typeface="Calibri"/>
              <a:buNone/>
            </a:pPr>
            <a:r>
              <a:rPr b="1" i="0" lang="en-US" sz="1600" u="none" cap="none" strike="noStrike">
                <a:solidFill>
                  <a:srgbClr val="3FB8AF"/>
                </a:solidFill>
                <a:latin typeface="Calibri"/>
                <a:ea typeface="Calibri"/>
                <a:cs typeface="Calibri"/>
                <a:sym typeface="Calibri"/>
              </a:rPr>
              <a:t>Az integráció</a:t>
            </a:r>
            <a:endParaRPr b="0" i="0" sz="1600" u="none" cap="none" strike="noStrike">
              <a:solidFill>
                <a:schemeClr val="dk1"/>
              </a:solidFill>
              <a:latin typeface="Calibri"/>
              <a:ea typeface="Calibri"/>
              <a:cs typeface="Calibri"/>
              <a:sym typeface="Calibri"/>
            </a:endParaRPr>
          </a:p>
        </p:txBody>
      </p:sp>
      <p:sp>
        <p:nvSpPr>
          <p:cNvPr id="235" name="Google Shape;235;p13"/>
          <p:cNvSpPr/>
          <p:nvPr/>
        </p:nvSpPr>
        <p:spPr>
          <a:xfrm>
            <a:off x="8229600" y="3246120"/>
            <a:ext cx="2926080" cy="16459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Bevált technikák kiválasztása és összeillesztése egy teljes, stabil, játszható egésszé.</a:t>
            </a:r>
            <a:endParaRPr b="0" i="0" sz="1250" u="none" cap="none" strike="noStrike">
              <a:solidFill>
                <a:schemeClr val="dk1"/>
              </a:solidFill>
              <a:latin typeface="Calibri"/>
              <a:ea typeface="Calibri"/>
              <a:cs typeface="Calibri"/>
              <a:sym typeface="Calibri"/>
            </a:endParaRPr>
          </a:p>
        </p:txBody>
      </p:sp>
      <p:sp>
        <p:nvSpPr>
          <p:cNvPr id="236" name="Google Shape;236;p13"/>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12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241" name="Shape 241"/>
        <p:cNvGrpSpPr/>
        <p:nvPr/>
      </p:nvGrpSpPr>
      <p:grpSpPr>
        <a:xfrm>
          <a:off x="0" y="0"/>
          <a:ext cx="0" cy="0"/>
          <a:chOff x="0" y="0"/>
          <a:chExt cx="0" cy="0"/>
        </a:xfrm>
      </p:grpSpPr>
      <p:sp>
        <p:nvSpPr>
          <p:cNvPr id="242" name="Google Shape;242;p14"/>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TESZTELÉS ÉS VALIDÁLÁS</a:t>
            </a:r>
            <a:endParaRPr b="0" i="0" sz="1200" u="none" cap="none" strike="noStrike">
              <a:solidFill>
                <a:schemeClr val="dk1"/>
              </a:solidFill>
              <a:latin typeface="Calibri"/>
              <a:ea typeface="Calibri"/>
              <a:cs typeface="Calibri"/>
              <a:sym typeface="Calibri"/>
            </a:endParaRPr>
          </a:p>
        </p:txBody>
      </p:sp>
      <p:sp>
        <p:nvSpPr>
          <p:cNvPr id="243" name="Google Shape;243;p14"/>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Honnan tudom, hogy működik</a:t>
            </a:r>
            <a:endParaRPr b="0" i="0" sz="3200" u="none" cap="none" strike="noStrike">
              <a:solidFill>
                <a:schemeClr val="dk1"/>
              </a:solidFill>
              <a:latin typeface="Calibri"/>
              <a:ea typeface="Calibri"/>
              <a:cs typeface="Calibri"/>
              <a:sym typeface="Calibri"/>
            </a:endParaRPr>
          </a:p>
        </p:txBody>
      </p:sp>
      <p:sp>
        <p:nvSpPr>
          <p:cNvPr id="244" name="Google Shape;244;p14"/>
          <p:cNvSpPr/>
          <p:nvPr/>
        </p:nvSpPr>
        <p:spPr>
          <a:xfrm>
            <a:off x="548640" y="1920240"/>
            <a:ext cx="5394960" cy="3749040"/>
          </a:xfrm>
          <a:prstGeom prst="roundRect">
            <a:avLst>
              <a:gd fmla="val 195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4"/>
          <p:cNvSpPr/>
          <p:nvPr/>
        </p:nvSpPr>
        <p:spPr>
          <a:xfrm>
            <a:off x="822960" y="221284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4"/>
          <p:cNvSpPr/>
          <p:nvPr/>
        </p:nvSpPr>
        <p:spPr>
          <a:xfrm>
            <a:off x="1097280" y="210312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1600"/>
              <a:buFont typeface="Calibri"/>
              <a:buNone/>
            </a:pPr>
            <a:r>
              <a:rPr b="1" i="0" lang="en-US" sz="1600" u="none" cap="none" strike="noStrike">
                <a:solidFill>
                  <a:srgbClr val="3FB8AF"/>
                </a:solidFill>
                <a:latin typeface="Calibri"/>
                <a:ea typeface="Calibri"/>
                <a:cs typeface="Calibri"/>
                <a:sym typeface="Calibri"/>
              </a:rPr>
              <a:t>Amit csináltam</a:t>
            </a:r>
            <a:endParaRPr b="0" i="0" sz="1600" u="none" cap="none" strike="noStrike">
              <a:solidFill>
                <a:schemeClr val="dk1"/>
              </a:solidFill>
              <a:latin typeface="Calibri"/>
              <a:ea typeface="Calibri"/>
              <a:cs typeface="Calibri"/>
              <a:sym typeface="Calibri"/>
            </a:endParaRPr>
          </a:p>
        </p:txBody>
      </p:sp>
      <p:sp>
        <p:nvSpPr>
          <p:cNvPr id="247" name="Google Shape;247;p14"/>
          <p:cNvSpPr/>
          <p:nvPr/>
        </p:nvSpPr>
        <p:spPr>
          <a:xfrm>
            <a:off x="1097280" y="2606040"/>
            <a:ext cx="4572000" cy="2926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250"/>
              <a:buFont typeface="Calibri"/>
              <a:buNone/>
            </a:pPr>
            <a:r>
              <a:rPr b="1" i="0" lang="en-US" sz="1250" u="none" cap="none" strike="noStrike">
                <a:solidFill>
                  <a:srgbClr val="EDE7F2"/>
                </a:solidFill>
                <a:latin typeface="Calibri"/>
                <a:ea typeface="Calibri"/>
                <a:cs typeface="Calibri"/>
                <a:sym typeface="Calibri"/>
              </a:rPr>
              <a:t>Folyamatos játéktesztelés</a:t>
            </a:r>
            <a:endParaRPr b="0" i="0" sz="12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A mindig játszható build révén minden rendszer azonnal kipróbálásra került, amint elkészült.</a:t>
            </a:r>
            <a:endParaRPr b="0" i="0" sz="12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250"/>
              <a:buFont typeface="Calibri"/>
              <a:buNone/>
            </a:pPr>
            <a:r>
              <a:rPr b="1" i="0" lang="en-US" sz="1250" u="none" cap="none" strike="noStrike">
                <a:solidFill>
                  <a:srgbClr val="EDE7F2"/>
                </a:solidFill>
                <a:latin typeface="Calibri"/>
                <a:ea typeface="Calibri"/>
                <a:cs typeface="Calibri"/>
                <a:sym typeface="Calibri"/>
              </a:rPr>
              <a:t>Célzott funkciótesztelés</a:t>
            </a:r>
            <a:endParaRPr b="0" i="0" sz="12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Minden viselkedés végigvezetve a normál és határeseteken; az eredmények a követelményekre vetítve.</a:t>
            </a:r>
            <a:endParaRPr b="0" i="0" sz="1250" u="none" cap="none" strike="noStrike">
              <a:solidFill>
                <a:schemeClr val="dk1"/>
              </a:solidFill>
              <a:latin typeface="Calibri"/>
              <a:ea typeface="Calibri"/>
              <a:cs typeface="Calibri"/>
              <a:sym typeface="Calibri"/>
            </a:endParaRPr>
          </a:p>
        </p:txBody>
      </p:sp>
      <p:sp>
        <p:nvSpPr>
          <p:cNvPr id="248" name="Google Shape;248;p14"/>
          <p:cNvSpPr/>
          <p:nvPr/>
        </p:nvSpPr>
        <p:spPr>
          <a:xfrm>
            <a:off x="6217920" y="1920240"/>
            <a:ext cx="5394960" cy="3749040"/>
          </a:xfrm>
          <a:prstGeom prst="roundRect">
            <a:avLst>
              <a:gd fmla="val 195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4"/>
          <p:cNvSpPr/>
          <p:nvPr/>
        </p:nvSpPr>
        <p:spPr>
          <a:xfrm>
            <a:off x="6492240" y="2212848"/>
            <a:ext cx="128016" cy="128016"/>
          </a:xfrm>
          <a:prstGeom prst="ellipse">
            <a:avLst/>
          </a:prstGeom>
          <a:solidFill>
            <a:srgbClr val="3FB8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4"/>
          <p:cNvSpPr/>
          <p:nvPr/>
        </p:nvSpPr>
        <p:spPr>
          <a:xfrm>
            <a:off x="6766560" y="210312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A458"/>
              </a:buClr>
              <a:buSzPts val="1600"/>
              <a:buFont typeface="Calibri"/>
              <a:buNone/>
            </a:pPr>
            <a:r>
              <a:rPr b="1" i="0" lang="en-US" sz="1600" u="none" cap="none" strike="noStrike">
                <a:solidFill>
                  <a:srgbClr val="E0A458"/>
                </a:solidFill>
                <a:latin typeface="Calibri"/>
                <a:ea typeface="Calibri"/>
                <a:cs typeface="Calibri"/>
                <a:sym typeface="Calibri"/>
              </a:rPr>
              <a:t>Vállalt korlátok</a:t>
            </a:r>
            <a:endParaRPr b="0" i="0" sz="1600" u="none" cap="none" strike="noStrike">
              <a:solidFill>
                <a:schemeClr val="dk1"/>
              </a:solidFill>
              <a:latin typeface="Calibri"/>
              <a:ea typeface="Calibri"/>
              <a:cs typeface="Calibri"/>
              <a:sym typeface="Calibri"/>
            </a:endParaRPr>
          </a:p>
        </p:txBody>
      </p:sp>
      <p:sp>
        <p:nvSpPr>
          <p:cNvPr id="251" name="Google Shape;251;p14"/>
          <p:cNvSpPr/>
          <p:nvPr/>
        </p:nvSpPr>
        <p:spPr>
          <a:xfrm>
            <a:off x="6766560" y="2606040"/>
            <a:ext cx="4572000" cy="2926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DE7F2"/>
              </a:buClr>
              <a:buSzPts val="1250"/>
              <a:buFont typeface="Calibri"/>
              <a:buNone/>
            </a:pPr>
            <a:r>
              <a:rPr b="1" i="0" lang="en-US" sz="1250" u="none" cap="none" strike="noStrike">
                <a:solidFill>
                  <a:srgbClr val="EDE7F2"/>
                </a:solidFill>
                <a:latin typeface="Calibri"/>
                <a:ea typeface="Calibri"/>
                <a:cs typeface="Calibri"/>
                <a:sym typeface="Calibri"/>
              </a:rPr>
              <a:t>Kézi, nem automatizált.</a:t>
            </a:r>
            <a:endParaRPr b="0" i="0" sz="12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250"/>
              <a:buFont typeface="Calibri"/>
              <a:buNone/>
            </a:pPr>
            <a:r>
              <a:rPr b="0" i="0" lang="en-US" sz="1250" u="none" cap="none" strike="noStrike">
                <a:solidFill>
                  <a:srgbClr val="EDE7F2"/>
                </a:solidFill>
                <a:latin typeface="Calibri"/>
                <a:ea typeface="Calibri"/>
                <a:cs typeface="Calibri"/>
                <a:sym typeface="Calibri"/>
              </a:rPr>
              <a:t>Nincs unit-teszt csomag. A generátort sok játszma validálja </a:t>
            </a:r>
            <a:r>
              <a:rPr lang="en-US" sz="1250">
                <a:solidFill>
                  <a:srgbClr val="EDE7F2"/>
                </a:solidFill>
                <a:latin typeface="Calibri"/>
                <a:ea typeface="Calibri"/>
                <a:cs typeface="Calibri"/>
                <a:sym typeface="Calibri"/>
              </a:rPr>
              <a:t>-</a:t>
            </a:r>
            <a:r>
              <a:rPr b="0" i="0" lang="en-US" sz="1250" u="none" cap="none" strike="noStrike">
                <a:solidFill>
                  <a:srgbClr val="EDE7F2"/>
                </a:solidFill>
                <a:latin typeface="Calibri"/>
                <a:ea typeface="Calibri"/>
                <a:cs typeface="Calibri"/>
                <a:sym typeface="Calibri"/>
              </a:rPr>
              <a:t> a felépítésbeli garanciáira támaszkodva.</a:t>
            </a:r>
            <a:endParaRPr b="0" i="0" sz="12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DE7F2"/>
              </a:buClr>
              <a:buSzPts val="1250"/>
              <a:buFont typeface="Calibri"/>
              <a:buNone/>
            </a:pPr>
            <a:r>
              <a:rPr b="1" i="0" lang="en-US" sz="1250" u="none" cap="none" strike="noStrike">
                <a:solidFill>
                  <a:srgbClr val="EDE7F2"/>
                </a:solidFill>
                <a:latin typeface="Calibri"/>
                <a:ea typeface="Calibri"/>
                <a:cs typeface="Calibri"/>
                <a:sym typeface="Calibri"/>
              </a:rPr>
              <a:t>Jövő: </a:t>
            </a:r>
            <a:r>
              <a:rPr b="0" i="0" lang="en-US" sz="1250" u="none" cap="none" strike="noStrike">
                <a:solidFill>
                  <a:srgbClr val="EDE7F2"/>
                </a:solidFill>
                <a:latin typeface="Calibri"/>
                <a:ea typeface="Calibri"/>
                <a:cs typeface="Calibri"/>
                <a:sym typeface="Calibri"/>
              </a:rPr>
              <a:t>automatizált megoldhatósági ellenőrzés, unit tesztek, külső felhasználói tesztelés.</a:t>
            </a:r>
            <a:endParaRPr b="0" i="0" sz="1250" u="none" cap="none" strike="noStrike">
              <a:solidFill>
                <a:schemeClr val="dk1"/>
              </a:solidFill>
              <a:latin typeface="Calibri"/>
              <a:ea typeface="Calibri"/>
              <a:cs typeface="Calibri"/>
              <a:sym typeface="Calibri"/>
            </a:endParaRPr>
          </a:p>
        </p:txBody>
      </p:sp>
      <p:sp>
        <p:nvSpPr>
          <p:cNvPr id="252" name="Google Shape;252;p14"/>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13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257" name="Shape 257"/>
        <p:cNvGrpSpPr/>
        <p:nvPr/>
      </p:nvGrpSpPr>
      <p:grpSpPr>
        <a:xfrm>
          <a:off x="0" y="0"/>
          <a:ext cx="0" cy="0"/>
          <a:chOff x="0" y="0"/>
          <a:chExt cx="0" cy="0"/>
        </a:xfrm>
      </p:grpSpPr>
      <p:sp>
        <p:nvSpPr>
          <p:cNvPr id="258" name="Google Shape;258;p15"/>
          <p:cNvSpPr/>
          <p:nvPr/>
        </p:nvSpPr>
        <p:spPr>
          <a:xfrm>
            <a:off x="548640" y="384048"/>
            <a:ext cx="10515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FB8AF"/>
              </a:buClr>
              <a:buSzPts val="1200"/>
              <a:buFont typeface="Calibri"/>
              <a:buNone/>
            </a:pPr>
            <a:r>
              <a:rPr b="1" i="0" lang="en-US" sz="1200" u="none" cap="none" strike="noStrike">
                <a:solidFill>
                  <a:srgbClr val="3FB8AF"/>
                </a:solidFill>
                <a:latin typeface="Calibri"/>
                <a:ea typeface="Calibri"/>
                <a:cs typeface="Calibri"/>
                <a:sym typeface="Calibri"/>
              </a:rPr>
              <a:t>KÖVETKEZTETÉSEK</a:t>
            </a:r>
            <a:endParaRPr b="0" i="0" sz="1200" u="none" cap="none" strike="noStrike">
              <a:solidFill>
                <a:schemeClr val="dk1"/>
              </a:solidFill>
              <a:latin typeface="Calibri"/>
              <a:ea typeface="Calibri"/>
              <a:cs typeface="Calibri"/>
              <a:sym typeface="Calibri"/>
            </a:endParaRPr>
          </a:p>
        </p:txBody>
      </p:sp>
      <p:sp>
        <p:nvSpPr>
          <p:cNvPr id="259" name="Google Shape;259;p15"/>
          <p:cNvSpPr/>
          <p:nvPr/>
        </p:nvSpPr>
        <p:spPr>
          <a:xfrm>
            <a:off x="548640" y="640080"/>
            <a:ext cx="110642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DE7F2"/>
              </a:buClr>
              <a:buSzPts val="3200"/>
              <a:buFont typeface="Cambria"/>
              <a:buNone/>
            </a:pPr>
            <a:r>
              <a:rPr b="1" i="0" lang="en-US" sz="3200" u="none" cap="none" strike="noStrike">
                <a:solidFill>
                  <a:srgbClr val="EDE7F2"/>
                </a:solidFill>
                <a:latin typeface="Cambria"/>
                <a:ea typeface="Cambria"/>
                <a:cs typeface="Cambria"/>
                <a:sym typeface="Cambria"/>
              </a:rPr>
              <a:t>Hová jutott a projekt</a:t>
            </a:r>
            <a:endParaRPr b="0" i="0" sz="3200" u="none" cap="none" strike="noStrike">
              <a:solidFill>
                <a:schemeClr val="dk1"/>
              </a:solidFill>
              <a:latin typeface="Calibri"/>
              <a:ea typeface="Calibri"/>
              <a:cs typeface="Calibri"/>
              <a:sym typeface="Calibri"/>
            </a:endParaRPr>
          </a:p>
        </p:txBody>
      </p:sp>
      <p:sp>
        <p:nvSpPr>
          <p:cNvPr id="260" name="Google Shape;260;p15"/>
          <p:cNvSpPr/>
          <p:nvPr/>
        </p:nvSpPr>
        <p:spPr>
          <a:xfrm>
            <a:off x="548640" y="2011680"/>
            <a:ext cx="3474720" cy="1737360"/>
          </a:xfrm>
          <a:prstGeom prst="roundRect">
            <a:avLst>
              <a:gd fmla="val 421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5"/>
          <p:cNvSpPr/>
          <p:nvPr/>
        </p:nvSpPr>
        <p:spPr>
          <a:xfrm>
            <a:off x="822960" y="2267712"/>
            <a:ext cx="2926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2200"/>
              <a:buFont typeface="Cambria"/>
              <a:buNone/>
            </a:pPr>
            <a:r>
              <a:rPr b="1" i="0" lang="en-US" sz="2200" u="none" cap="none" strike="noStrike">
                <a:solidFill>
                  <a:srgbClr val="3FB8AF"/>
                </a:solidFill>
                <a:latin typeface="Cambria"/>
                <a:ea typeface="Cambria"/>
                <a:cs typeface="Cambria"/>
                <a:sym typeface="Cambria"/>
              </a:rPr>
              <a:t>Teljes</a:t>
            </a:r>
            <a:endParaRPr b="0" i="0" sz="2200" u="none" cap="none" strike="noStrike">
              <a:solidFill>
                <a:schemeClr val="dk1"/>
              </a:solidFill>
              <a:latin typeface="Calibri"/>
              <a:ea typeface="Calibri"/>
              <a:cs typeface="Calibri"/>
              <a:sym typeface="Calibri"/>
            </a:endParaRPr>
          </a:p>
        </p:txBody>
      </p:sp>
      <p:sp>
        <p:nvSpPr>
          <p:cNvPr id="262" name="Google Shape;262;p15"/>
          <p:cNvSpPr/>
          <p:nvPr/>
        </p:nvSpPr>
        <p:spPr>
          <a:xfrm>
            <a:off x="822960" y="2926080"/>
            <a:ext cx="2926080" cy="7315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200"/>
              <a:buFont typeface="Calibri"/>
              <a:buNone/>
            </a:pPr>
            <a:r>
              <a:rPr b="0" i="0" lang="en-US" sz="1200" u="none" cap="none" strike="noStrike">
                <a:solidFill>
                  <a:srgbClr val="EDE7F2"/>
                </a:solidFill>
                <a:latin typeface="Calibri"/>
                <a:ea typeface="Calibri"/>
                <a:cs typeface="Calibri"/>
                <a:sym typeface="Calibri"/>
              </a:rPr>
              <a:t>Teljes játszma a kezdéstől a főellenségig, győzelmi állapottal.</a:t>
            </a:r>
            <a:endParaRPr b="0" i="0" sz="1200" u="none" cap="none" strike="noStrike">
              <a:solidFill>
                <a:schemeClr val="dk1"/>
              </a:solidFill>
              <a:latin typeface="Calibri"/>
              <a:ea typeface="Calibri"/>
              <a:cs typeface="Calibri"/>
              <a:sym typeface="Calibri"/>
            </a:endParaRPr>
          </a:p>
        </p:txBody>
      </p:sp>
      <p:sp>
        <p:nvSpPr>
          <p:cNvPr id="263" name="Google Shape;263;p15"/>
          <p:cNvSpPr/>
          <p:nvPr/>
        </p:nvSpPr>
        <p:spPr>
          <a:xfrm>
            <a:off x="4251960" y="2011680"/>
            <a:ext cx="3474720" cy="1737360"/>
          </a:xfrm>
          <a:prstGeom prst="roundRect">
            <a:avLst>
              <a:gd fmla="val 421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5"/>
          <p:cNvSpPr/>
          <p:nvPr/>
        </p:nvSpPr>
        <p:spPr>
          <a:xfrm>
            <a:off x="4526280" y="2267712"/>
            <a:ext cx="2926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2200"/>
              <a:buFont typeface="Cambria"/>
              <a:buNone/>
            </a:pPr>
            <a:r>
              <a:rPr b="1" i="0" lang="en-US" sz="2200" u="none" cap="none" strike="noStrike">
                <a:solidFill>
                  <a:srgbClr val="3FB8AF"/>
                </a:solidFill>
                <a:latin typeface="Cambria"/>
                <a:ea typeface="Cambria"/>
                <a:cs typeface="Cambria"/>
                <a:sym typeface="Cambria"/>
              </a:rPr>
              <a:t>Koherens</a:t>
            </a:r>
            <a:endParaRPr b="0" i="0" sz="2200" u="none" cap="none" strike="noStrike">
              <a:solidFill>
                <a:schemeClr val="dk1"/>
              </a:solidFill>
              <a:latin typeface="Calibri"/>
              <a:ea typeface="Calibri"/>
              <a:cs typeface="Calibri"/>
              <a:sym typeface="Calibri"/>
            </a:endParaRPr>
          </a:p>
        </p:txBody>
      </p:sp>
      <p:sp>
        <p:nvSpPr>
          <p:cNvPr id="265" name="Google Shape;265;p15"/>
          <p:cNvSpPr/>
          <p:nvPr/>
        </p:nvSpPr>
        <p:spPr>
          <a:xfrm>
            <a:off x="4526280" y="2926080"/>
            <a:ext cx="2926080" cy="7315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200"/>
              <a:buFont typeface="Calibri"/>
              <a:buNone/>
            </a:pPr>
            <a:r>
              <a:rPr b="0" i="0" lang="en-US" sz="1200" u="none" cap="none" strike="noStrike">
                <a:solidFill>
                  <a:srgbClr val="EDE7F2"/>
                </a:solidFill>
                <a:latin typeface="Calibri"/>
                <a:ea typeface="Calibri"/>
                <a:cs typeface="Calibri"/>
                <a:sym typeface="Calibri"/>
              </a:rPr>
              <a:t>Egyetlen koncepció köti össze a témát, a grafikát és a fejlődést.</a:t>
            </a:r>
            <a:endParaRPr b="0" i="0" sz="1200" u="none" cap="none" strike="noStrike">
              <a:solidFill>
                <a:schemeClr val="dk1"/>
              </a:solidFill>
              <a:latin typeface="Calibri"/>
              <a:ea typeface="Calibri"/>
              <a:cs typeface="Calibri"/>
              <a:sym typeface="Calibri"/>
            </a:endParaRPr>
          </a:p>
        </p:txBody>
      </p:sp>
      <p:sp>
        <p:nvSpPr>
          <p:cNvPr id="266" name="Google Shape;266;p15"/>
          <p:cNvSpPr/>
          <p:nvPr/>
        </p:nvSpPr>
        <p:spPr>
          <a:xfrm>
            <a:off x="7955280" y="2011680"/>
            <a:ext cx="3474720" cy="1737360"/>
          </a:xfrm>
          <a:prstGeom prst="roundRect">
            <a:avLst>
              <a:gd fmla="val 4211"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5"/>
          <p:cNvSpPr/>
          <p:nvPr/>
        </p:nvSpPr>
        <p:spPr>
          <a:xfrm>
            <a:off x="8229600" y="2267712"/>
            <a:ext cx="2926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8AF"/>
              </a:buClr>
              <a:buSzPts val="2200"/>
              <a:buFont typeface="Cambria"/>
              <a:buNone/>
            </a:pPr>
            <a:r>
              <a:rPr b="1" i="0" lang="en-US" sz="2200" u="none" cap="none" strike="noStrike">
                <a:solidFill>
                  <a:srgbClr val="3FB8AF"/>
                </a:solidFill>
                <a:latin typeface="Cambria"/>
                <a:ea typeface="Cambria"/>
                <a:cs typeface="Cambria"/>
                <a:sym typeface="Cambria"/>
              </a:rPr>
              <a:t>Bővíthető</a:t>
            </a:r>
            <a:endParaRPr b="0" i="0" sz="2200" u="none" cap="none" strike="noStrike">
              <a:solidFill>
                <a:schemeClr val="dk1"/>
              </a:solidFill>
              <a:latin typeface="Calibri"/>
              <a:ea typeface="Calibri"/>
              <a:cs typeface="Calibri"/>
              <a:sym typeface="Calibri"/>
            </a:endParaRPr>
          </a:p>
        </p:txBody>
      </p:sp>
      <p:sp>
        <p:nvSpPr>
          <p:cNvPr id="268" name="Google Shape;268;p15"/>
          <p:cNvSpPr/>
          <p:nvPr/>
        </p:nvSpPr>
        <p:spPr>
          <a:xfrm>
            <a:off x="8229600" y="2926080"/>
            <a:ext cx="2926080" cy="7315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DE7F2"/>
              </a:buClr>
              <a:buSzPts val="1200"/>
              <a:buFont typeface="Calibri"/>
              <a:buNone/>
            </a:pPr>
            <a:r>
              <a:rPr b="0" i="0" lang="en-US" sz="1200" u="none" cap="none" strike="noStrike">
                <a:solidFill>
                  <a:srgbClr val="EDE7F2"/>
                </a:solidFill>
                <a:latin typeface="Calibri"/>
                <a:ea typeface="Calibri"/>
                <a:cs typeface="Calibri"/>
                <a:sym typeface="Calibri"/>
              </a:rPr>
              <a:t>Új ellenségek a régi kód érintése nélkül.</a:t>
            </a:r>
            <a:endParaRPr b="0" i="0" sz="1200" u="none" cap="none" strike="noStrike">
              <a:solidFill>
                <a:schemeClr val="dk1"/>
              </a:solidFill>
              <a:latin typeface="Calibri"/>
              <a:ea typeface="Calibri"/>
              <a:cs typeface="Calibri"/>
              <a:sym typeface="Calibri"/>
            </a:endParaRPr>
          </a:p>
        </p:txBody>
      </p:sp>
      <p:sp>
        <p:nvSpPr>
          <p:cNvPr id="269" name="Google Shape;269;p15"/>
          <p:cNvSpPr/>
          <p:nvPr/>
        </p:nvSpPr>
        <p:spPr>
          <a:xfrm>
            <a:off x="548640" y="4023360"/>
            <a:ext cx="11064240" cy="1645920"/>
          </a:xfrm>
          <a:prstGeom prst="roundRect">
            <a:avLst>
              <a:gd fmla="val 4444" name="adj"/>
            </a:avLst>
          </a:prstGeom>
          <a:solidFill>
            <a:srgbClr val="241C33"/>
          </a:solidFill>
          <a:ln cap="flat" cmpd="sng" w="9525">
            <a:solidFill>
              <a:srgbClr val="2A7A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5"/>
          <p:cNvSpPr/>
          <p:nvPr/>
        </p:nvSpPr>
        <p:spPr>
          <a:xfrm>
            <a:off x="868680" y="416052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A458"/>
              </a:buClr>
              <a:buSzPts val="1500"/>
              <a:buFont typeface="Calibri"/>
              <a:buNone/>
            </a:pPr>
            <a:r>
              <a:rPr b="1" i="0" lang="en-US" sz="1500" u="none" cap="none" strike="noStrike">
                <a:solidFill>
                  <a:srgbClr val="E0A458"/>
                </a:solidFill>
                <a:latin typeface="Calibri"/>
                <a:ea typeface="Calibri"/>
                <a:cs typeface="Calibri"/>
                <a:sym typeface="Calibri"/>
              </a:rPr>
              <a:t>Jövőbeli irányok</a:t>
            </a:r>
            <a:endParaRPr b="0" i="0" sz="1500" u="none" cap="none" strike="noStrike">
              <a:solidFill>
                <a:schemeClr val="dk1"/>
              </a:solidFill>
              <a:latin typeface="Calibri"/>
              <a:ea typeface="Calibri"/>
              <a:cs typeface="Calibri"/>
              <a:sym typeface="Calibri"/>
            </a:endParaRPr>
          </a:p>
        </p:txBody>
      </p:sp>
      <p:sp>
        <p:nvSpPr>
          <p:cNvPr id="271" name="Google Shape;271;p15"/>
          <p:cNvSpPr/>
          <p:nvPr/>
        </p:nvSpPr>
        <p:spPr>
          <a:xfrm>
            <a:off x="868680" y="4572000"/>
            <a:ext cx="10424160" cy="914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EDE7F2"/>
              </a:buClr>
              <a:buSzPts val="1300"/>
              <a:buFont typeface="Calibri"/>
              <a:buNone/>
            </a:pPr>
            <a:r>
              <a:rPr b="0" i="0" lang="en-US" sz="1300" u="none" cap="none" strike="noStrike">
                <a:solidFill>
                  <a:srgbClr val="EDE7F2"/>
                </a:solidFill>
                <a:latin typeface="Calibri"/>
                <a:ea typeface="Calibri"/>
                <a:cs typeface="Calibri"/>
                <a:sym typeface="Calibri"/>
              </a:rPr>
              <a:t>Automatizált generátor- és unit tesztek  ·  több szint, ellenség, tárgy  ·  gazdagabb narratíva  ·  erősített csalásvédelem  ·  kontrollertámogatás</a:t>
            </a:r>
            <a:endParaRPr b="0" i="0" sz="1300" u="none" cap="none" strike="noStrike">
              <a:solidFill>
                <a:schemeClr val="dk1"/>
              </a:solidFill>
              <a:latin typeface="Calibri"/>
              <a:ea typeface="Calibri"/>
              <a:cs typeface="Calibri"/>
              <a:sym typeface="Calibri"/>
            </a:endParaRPr>
          </a:p>
        </p:txBody>
      </p:sp>
      <p:sp>
        <p:nvSpPr>
          <p:cNvPr id="272" name="Google Shape;272;p15"/>
          <p:cNvSpPr/>
          <p:nvPr/>
        </p:nvSpPr>
        <p:spPr>
          <a:xfrm>
            <a:off x="11521440" y="640080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A8FA8"/>
              </a:buClr>
              <a:buSzPts val="1000"/>
              <a:buFont typeface="Calibri"/>
              <a:buNone/>
            </a:pPr>
            <a:r>
              <a:rPr b="0" i="0" lang="en-US" sz="1000" u="none" cap="none" strike="noStrike">
                <a:solidFill>
                  <a:srgbClr val="9A8FA8"/>
                </a:solidFill>
                <a:latin typeface="Calibri"/>
                <a:ea typeface="Calibri"/>
                <a:cs typeface="Calibri"/>
                <a:sym typeface="Calibri"/>
              </a:rPr>
              <a:t>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526"/>
        </a:solidFill>
      </p:bgPr>
    </p:bg>
    <p:spTree>
      <p:nvGrpSpPr>
        <p:cNvPr id="277" name="Shape 277"/>
        <p:cNvGrpSpPr/>
        <p:nvPr/>
      </p:nvGrpSpPr>
      <p:grpSpPr>
        <a:xfrm>
          <a:off x="0" y="0"/>
          <a:ext cx="0" cy="0"/>
          <a:chOff x="0" y="0"/>
          <a:chExt cx="0" cy="0"/>
        </a:xfrm>
      </p:grpSpPr>
      <p:sp>
        <p:nvSpPr>
          <p:cNvPr id="278" name="Google Shape;278;p16"/>
          <p:cNvSpPr/>
          <p:nvPr/>
        </p:nvSpPr>
        <p:spPr>
          <a:xfrm>
            <a:off x="640080" y="640080"/>
            <a:ext cx="91440" cy="91440"/>
          </a:xfrm>
          <a:prstGeom prst="ellipse">
            <a:avLst/>
          </a:prstGeom>
          <a:solidFill>
            <a:srgbClr val="2A7A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6"/>
          <p:cNvSpPr/>
          <p:nvPr/>
        </p:nvSpPr>
        <p:spPr>
          <a:xfrm>
            <a:off x="914400" y="868680"/>
            <a:ext cx="91440" cy="91440"/>
          </a:xfrm>
          <a:prstGeom prst="ellipse">
            <a:avLst/>
          </a:prstGeom>
          <a:solidFill>
            <a:srgbClr val="2A7A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6"/>
          <p:cNvSpPr/>
          <p:nvPr/>
        </p:nvSpPr>
        <p:spPr>
          <a:xfrm>
            <a:off x="777240" y="1143000"/>
            <a:ext cx="91440" cy="91440"/>
          </a:xfrm>
          <a:prstGeom prst="ellipse">
            <a:avLst/>
          </a:prstGeom>
          <a:solidFill>
            <a:srgbClr val="2A7A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6"/>
          <p:cNvSpPr/>
          <p:nvPr/>
        </p:nvSpPr>
        <p:spPr>
          <a:xfrm>
            <a:off x="563878" y="2599990"/>
            <a:ext cx="110643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DE7F2"/>
              </a:buClr>
              <a:buSzPts val="5000"/>
              <a:buFont typeface="Cambria"/>
              <a:buNone/>
            </a:pPr>
            <a:r>
              <a:rPr b="1" lang="en-US" sz="5000">
                <a:solidFill>
                  <a:srgbClr val="EDE7F2"/>
                </a:solidFill>
                <a:latin typeface="Cambria"/>
                <a:ea typeface="Cambria"/>
                <a:cs typeface="Cambria"/>
                <a:sym typeface="Cambria"/>
              </a:rPr>
              <a:t>Köszönöm a figyelmet</a:t>
            </a:r>
            <a:endParaRPr b="0" i="0" sz="5000" u="none" cap="none" strike="noStrike">
              <a:solidFill>
                <a:schemeClr val="dk1"/>
              </a:solidFill>
              <a:latin typeface="Calibri"/>
              <a:ea typeface="Calibri"/>
              <a:cs typeface="Calibri"/>
              <a:sym typeface="Calibri"/>
            </a:endParaRPr>
          </a:p>
        </p:txBody>
      </p:sp>
      <p:sp>
        <p:nvSpPr>
          <p:cNvPr id="282" name="Google Shape;282;p16"/>
          <p:cNvSpPr/>
          <p:nvPr/>
        </p:nvSpPr>
        <p:spPr>
          <a:xfrm>
            <a:off x="563878" y="3919380"/>
            <a:ext cx="110643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FB8AF"/>
              </a:buClr>
              <a:buSzPts val="1800"/>
              <a:buFont typeface="Calibri"/>
              <a:buNone/>
            </a:pPr>
            <a:r>
              <a:rPr lang="en-US" sz="1800">
                <a:solidFill>
                  <a:srgbClr val="3FB8AF"/>
                </a:solidFill>
                <a:latin typeface="Calibri"/>
                <a:ea typeface="Calibri"/>
                <a:cs typeface="Calibri"/>
                <a:sym typeface="Calibri"/>
              </a:rPr>
              <a:t>Várom a kérdéseiket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