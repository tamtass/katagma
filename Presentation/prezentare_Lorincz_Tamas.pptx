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Lst>
  <p:sldSz cy="6858000" cx="12192000"/>
  <p:notesSz cx="6858000" cy="12192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5" Type="http://schemas.openxmlformats.org/officeDocument/2006/relationships/slide" Target="slides/slide1.xml"/><Relationship Id="rId6" Type="http://schemas.openxmlformats.org/officeDocument/2006/relationships/slide" Target="slides/slide2.xml"/><Relationship Id="rId18" Type="http://schemas.openxmlformats.org/officeDocument/2006/relationships/slide" Target="slides/slide14.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Bună ziua. Mă numesc Lőrincz Tamás și voi prezenta proiectul meu de licență: Katagma, un joc roguelike de tip dungeon crawler cu generare procedurală, dezvoltat în Unity. Coordonatorul meu a fost conf. univ. dr. Finta Béla. În următoarele minute voi prezenta ce este jocul, problema pe care o abordează, cum l-am construit și care este contribuția mea, apoi îl voi arăta rulând în direct.</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 name="Shape 24"/>
        <p:cNvGrpSpPr/>
        <p:nvPr/>
      </p:nvGrpSpPr>
      <p:grpSpPr>
        <a:xfrm>
          <a:off x="0" y="0"/>
          <a:ext cx="0" cy="0"/>
          <a:chOff x="0" y="0"/>
          <a:chExt cx="0" cy="0"/>
        </a:xfrm>
      </p:grpSpPr>
      <p:sp>
        <p:nvSpPr>
          <p:cNvPr id="25" name="Google Shape;25;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 name="Google Shape;26;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Katagma înseamnă „fractură” în greacă. Premisa: jucătorul este o minte în comă, care urcă prin propriul subconștient pentru a se trezi. Când mori, mintea se fracturează — la asta se referă titlul, iar jocul afișează cuvântul FRACTURED pe ecranul morții. Conceptul nu este decorativ: direcția ascendentă, lumea organică, personajul-creier și narațiunea provin toate din această idee. Am ales un roguelike pentru că generarea procedurală oferă rejucabilitate reală și o problemă inginerească autentică, bucla încercărilor repetate se potrivește temei trezirii și, esențial, scopul este realizabil — am putut livra un joc complet și șlefuit, nu un prototip neterminat. Caracterul complet a fost măsura succesului.</a:t>
            </a:r>
            <a:endParaRPr/>
          </a:p>
        </p:txBody>
      </p:sp>
      <p:sp>
        <p:nvSpPr>
          <p:cNvPr id="27" name="Google Shape;27;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 name="Shape 40"/>
        <p:cNvGrpSpPr/>
        <p:nvPr/>
      </p:nvGrpSpPr>
      <p:grpSpPr>
        <a:xfrm>
          <a:off x="0" y="0"/>
          <a:ext cx="0" cy="0"/>
          <a:chOff x="0" y="0"/>
          <a:chExt cx="0" cy="0"/>
        </a:xfrm>
      </p:grpSpPr>
      <p:sp>
        <p:nvSpPr>
          <p:cNvPr id="41" name="Google Shape;41;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 name="Google Shape;42;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Obiectivul central a fost realizarea unui joc complet și șlefuit, nu a unui demo tehnic. Concret, asta a însemnat șase lucruri: un generator procedural care produce un labirint conectat diferit la fiecare nivel; luptă în timp real cu mai multe tipuri de inamici; două sisteme de progresie care funcționează împreună; mai multe niveluri care culminează cu un boss și o condiție de victorie; o narațiune dezvăluită prin partide câștigate; și cadrul complet de care are nevoie un joc finit — meniuri, HUD, minimap, salvare și un clasament online. Un obiectiv secundar a fost un cod curat și extensibil — și voi arăta că acest lucru a dat roade când am adăugat inamici noi târziu în dezvoltare.</a:t>
            </a:r>
            <a:endParaRPr/>
          </a:p>
        </p:txBody>
      </p:sp>
      <p:sp>
        <p:nvSpPr>
          <p:cNvPr id="43" name="Google Shape;43;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4" name="Google Shape;74;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Genul roguelike combină generarea procedurală cu permadeath. Katagma se situează în ramura top-down cu camere, cel mai aproape de The Binding of Isaac. Tabelul arată poziționarea față de titlurile cunoscute. Divergența esențială este progresia: acolo unde Dead Cells și Hades oferă putere care se păstrează între partide, Katagma menține toată creșterea de putere în interiorul unei singure partide. Combinația sa distinctivă: progresie strict per-partidă, upgrade-uri exclusiv pasive și un clasament online. Voi fi sincer: nu pretind un algoritm nou. Contribuția mea este proiectarea și integrarea unor tehnici consacrate într-un joc finalizat.</a:t>
            </a:r>
            <a:endParaRPr/>
          </a:p>
        </p:txBody>
      </p:sp>
      <p:sp>
        <p:nvSpPr>
          <p:cNvPr id="75" name="Google Shape;75;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0" name="Google Shape;110;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Arhitectura este modelul de componente Unity plus câțiva manageri singleton persistenți. GameManager este sursa unică de adevăr pentru starea partidei — inamicii și camerele îi raportează evenimente, în loc să-și țină propriul scor. TransitionScreen centralizează toate tranzițiile în jurul unui singur overlay negru, ceea ce a rezolvat o întreagă clasă de defecte de sincronizare UI. LeaderboardManager comunică direct cu baza de date cloud prin REST. Designul a fost gândit pentru extindere: inamicii noi extind o clasă de bază, obiectele noi implementează o interfață, camerele noi intră într-un pool. Nu e doar o afirmație — am adăugat doi inamici noi târziu în proiect fără să ating codul existent.</a:t>
            </a:r>
            <a:endParaRPr/>
          </a:p>
        </p:txBody>
      </p:sp>
      <p:sp>
        <p:nvSpPr>
          <p:cNvPr id="111" name="Google Shape;111;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5" name="Google Shape;135;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Sistemul tehnic principal este generatorul. Funcționează în două faze. Faza întâi construiește nivelul prin expansiune de tip parcurgere aleatoare cu restricții — pornind de la o cameră și adăugând camere pe o grilă, unde fiecare cameră nouă poate atinge cel mult o cameră existentă. Această unică restricție produce niveluri ramificate, tip coridor, nu blocuri dense. Și pentru că fiecare cameră se atașează doar de una existentă, nivelul este conectat prin construcție — nu poate fi niciodată nerezolvabil. Faza a doua atribuie tipurile camerelor prin distanțe de parcurgere în lățime: camera boss-ului este cea mai îndepărtată de start, deci trebuie să traversezi nivelul, iar camerele cu comori sunt plasate cât mai departe de boss, pentru a răsplăti explorarea. Regula boss-ului este necondiționată — orice cameră poate fi boss — deci plasarea nu poate eșua. O versiune anterioară cerea o fundătură și eșua ocazional; am simplificat-o la o regulă care nu poate eșua. La acest subiect mă aștept la întrebări.</a:t>
            </a:r>
            <a:endParaRPr/>
          </a:p>
        </p:txBody>
      </p:sp>
      <p:sp>
        <p:nvSpPr>
          <p:cNvPr id="136" name="Google Shape;136;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9" name="Google Shape;149;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Acesta este un nivel generat. De subliniat: fiecare nivel este diferit, camerele se conectează direct ușă-la-ușă fără coridoare, ca în The Binding of Isaac, minimap-ul din colț reflectă exact graful de camere construit de generator, iar camera boss-ului se află la capătul îndepărtat. Acesta e un moment natural pentru a trece scurt la demonstrația live, dacă vreți să generez câteva niveluri în fața comisiei.</a:t>
            </a:r>
            <a:endParaRPr/>
          </a:p>
        </p:txBody>
      </p:sp>
      <p:sp>
        <p:nvSpPr>
          <p:cNvPr id="150" name="Google Shape;150;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9" name="Google Shape;159;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Al doilea sistem central este lupta — cel mai complex cod de gameplay din punct de vedere tehnic. Atacul trimite un con de fulgere spre cursor. Detecția loviturilor are două etape. Întâi faza brută: o interogare overlap-circle adună doar inamicii din apropierea jucătorului, deci nu testez niciodată toată camera. Apoi faza precisă: pentru fiecare inamic din con, folosesc produsul vectorial 2D pentru a obține distanța perpendiculară până la fiecare fulger individual, ceea ce îmi spune exact câte fulgere îl lovesc. Daunele cresc cu numărul de fulgere, și există un prag de o lovitură, astfel încât un inamic prins la marginea conului să nu poată primi zero daune printr-o particularitate geometrică. Fulgerele sunt desenate prin deplasarea punctului de mijloc, pentru aspectul zimțat. Acesta și generatorul sunt sistemele la care mă aștept la cele mai multe întrebări.</a:t>
            </a:r>
            <a:endParaRPr/>
          </a:p>
        </p:txBody>
      </p:sp>
      <p:sp>
        <p:nvSpPr>
          <p:cNvPr id="160" name="Google Shape;160;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0" name="Google Shape;180;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Puterea crește pe două căi, cu roluri diferite. Camerele cu comori conțin obiecte alese — fiecare este un ScriptableObject care implementează o interfață de efect, extras dintr-un shuffle bag, astfel încât același obiect nu apare de două ori într-o partidă. Acestea sunt alegeri deliberate, care definesc build-ul. Separat, fiecare cameră de luptă curățată crește automat o statistică aleatoare cu zece procente, compus — cu excepția numărului de proiectile, care crește cu unu fix, fiind un întreg discret. Rata de zece procente a venit din playtesting: douăzeci și cinci făcea jucătorul supraputernic în două camere, cinci era imperceptibil. Ambele sisteme sunt pasive — nu există obiecte active și niciun inventar de gestionat.</a:t>
            </a:r>
            <a:endParaRPr/>
          </a:p>
        </p:txBody>
      </p:sp>
      <p:sp>
        <p:nvSpPr>
          <p:cNvPr id="181" name="Google Shape;181;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6" name="Google Shape;196;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Clasamentul este singura funcție pe care niciun joc comercial comparabil nu o are. Rulează pe Cloud Firestore, pe care l-am ales în locul Realtime Database pentru că sortează și limitează la nivel de interogare — serverul returnează scorurile de top deja ordonate. Nu am folosit SDK-ul Firebase pentru Unity, orientat spre mobil și incomod pe desktop; apelez direct API-ul REST al Firestore prin cererile web integrate în Unity, deci fără dependențe suplimentare. Scrierile sunt validate prin reguli de securitate pe server — lungimea numelui și scor nenegativ — ceea ce oprește abuzul trivial fără conturi de utilizator. În lucrare menționez sincer că acest lucru nu previne complet falsificarea scorurilor, notată ca direcție viitoare.</a:t>
            </a:r>
            <a:endParaRPr/>
          </a:p>
        </p:txBody>
      </p:sp>
      <p:sp>
        <p:nvSpPr>
          <p:cNvPr id="197" name="Google Shape;197;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7" name="Google Shape;217;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Permiteți-mi să fiu direct în privința contribuției, pentru că comisia va întreba. Nu am inventat un algoritm nou și nici un gen nou, și nu pretind asta. Contribuția este proiectare și sinteză la trei niveluri. Întâi, conceptul — un joc original construit pe ideea comei și a subconștientului, care leagă tema, arta și progresia. Al doilea, sistemele — proiectarea concretă a generatorului în două faze și a luptei bazate pe con, în forma specifică de aici. Al treilea, și cel mai important, integrarea — selectarea tehnicilor potrivite pentru constrângerile date și combinarea lor într-un joc complet, stabil și jucabil. Exact asta trebuie să evalueze proiectul de licență: drumul de la concept la un produs funcțional. Prefer să afirm asta onest decât să supralicitez o noutate pe care ar trebui s-o apăr.</a:t>
            </a:r>
            <a:endParaRPr/>
          </a:p>
        </p:txBody>
      </p:sp>
      <p:sp>
        <p:nvSpPr>
          <p:cNvPr id="218" name="Google Shape;218;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8" name="Google Shape;238;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Despre testare voi fi direct în privința a ce am făcut și ce nu. Validarea a fost manuală: playtesting continuu, posibil datorită build-ului mereu jucabil, plus testare țintită a fiecărei funcții prin cazurile normale și de limită, mapate pe cerințe. Nu am scris o suită de teste automate. Generatorul este validat prin multe partide jucate — dar, esențial, observația este susținută de garanțiile prin construcție menționate: conectivitatea e structurală, iar boss-ul există întotdeauna. Declar deschis această limită în lucrare și identific ce ar întări-o: o verificare automată de rezolvabilitate care generează mii de niveluri, teste unitare pe logica de sine stătătoare și testare structurată cu utilizatori. Prefer să prezint o testare manuală onestă, cu limite clare, decât să pretind o rigoare pe care nu am avut-o.</a:t>
            </a:r>
            <a:endParaRPr/>
          </a:p>
        </p:txBody>
      </p:sp>
      <p:sp>
        <p:nvSpPr>
          <p:cNvPr id="239" name="Google Shape;239;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4" name="Google Shape;254;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În concluzie: proiectul și-a atins obiectivele. Este complet — o partidă întreagă de la start, prin niveluri generate, până la boss și starea de victorie. Este coerent — un singur concept leagă tema, arta și progresia. Și este extensibil — dovedit prin adăugarea de inamici târziu, fără a atinge codul existent. Direcțiile viitoare decurg direct din limitele recunoscute: testare automată pentru generator și teste unitare, mai mult conținut, o utilizare mai bogată a sistemului narativ, anti-cheat întărit pe clasament și suport pentru controller, pe care arhitectura de input îl permite deja. Scopul central — drumul unui joc de la concept la produs finit și șlefuit — a fost atins.</a:t>
            </a:r>
            <a:endParaRPr/>
          </a:p>
        </p:txBody>
      </p:sp>
      <p:sp>
        <p:nvSpPr>
          <p:cNvPr id="255" name="Google Shape;255;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4" name="Google Shape;274;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Aceasta a fost prezentarea generală — acum permiteți-mi să arăt jocul în funcțiune. [Treceți la joc. Flux sugerat: porniți o partidă; mișcare și atac pentru con; curățați o cameră pentru sigilare + bonusul de statistici; câteva camere pentru varietate; luați un obiect din camera cu comori; boss-ul cu cele două faze; moarte sau victorie pentru secvența FRACTURED / deblocarea narativă; deschideți clasamentul și trimiteți un scor.] Vă mulțumesc — aștept întrebările dumneavoastră.</a:t>
            </a:r>
            <a:endParaRPr/>
          </a:p>
        </p:txBody>
      </p:sp>
      <p:sp>
        <p:nvSpPr>
          <p:cNvPr id="275" name="Google Shape;275;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1526"/>
        </a:solidFill>
      </p:bgPr>
    </p:bg>
    <p:spTree>
      <p:nvGrpSpPr>
        <p:cNvPr id="15" name="Shape 15"/>
        <p:cNvGrpSpPr/>
        <p:nvPr/>
      </p:nvGrpSpPr>
      <p:grpSpPr>
        <a:xfrm>
          <a:off x="0" y="0"/>
          <a:ext cx="0" cy="0"/>
          <a:chOff x="0" y="0"/>
          <a:chExt cx="0" cy="0"/>
        </a:xfrm>
      </p:grpSpPr>
      <p:sp>
        <p:nvSpPr>
          <p:cNvPr id="16" name="Google Shape;16;p3"/>
          <p:cNvSpPr/>
          <p:nvPr/>
        </p:nvSpPr>
        <p:spPr>
          <a:xfrm>
            <a:off x="640080" y="640080"/>
            <a:ext cx="91440" cy="91440"/>
          </a:xfrm>
          <a:prstGeom prst="ellipse">
            <a:avLst/>
          </a:prstGeom>
          <a:solidFill>
            <a:srgbClr val="2A7A7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3"/>
          <p:cNvSpPr/>
          <p:nvPr/>
        </p:nvSpPr>
        <p:spPr>
          <a:xfrm>
            <a:off x="914400" y="868680"/>
            <a:ext cx="91440" cy="91440"/>
          </a:xfrm>
          <a:prstGeom prst="ellipse">
            <a:avLst/>
          </a:prstGeom>
          <a:solidFill>
            <a:srgbClr val="2A7A7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 name="Google Shape;18;p3"/>
          <p:cNvSpPr/>
          <p:nvPr/>
        </p:nvSpPr>
        <p:spPr>
          <a:xfrm>
            <a:off x="777240" y="1143000"/>
            <a:ext cx="91440" cy="91440"/>
          </a:xfrm>
          <a:prstGeom prst="ellipse">
            <a:avLst/>
          </a:prstGeom>
          <a:solidFill>
            <a:srgbClr val="2A7A7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 name="Google Shape;19;p3"/>
          <p:cNvSpPr/>
          <p:nvPr/>
        </p:nvSpPr>
        <p:spPr>
          <a:xfrm>
            <a:off x="548640" y="2286000"/>
            <a:ext cx="11064240" cy="11887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EDE7F2"/>
              </a:buClr>
              <a:buSzPts val="7200"/>
              <a:buFont typeface="Cambria"/>
              <a:buNone/>
            </a:pPr>
            <a:r>
              <a:rPr b="1" i="0" lang="en-US" sz="7200" u="none" cap="none" strike="noStrike">
                <a:solidFill>
                  <a:srgbClr val="EDE7F2"/>
                </a:solidFill>
                <a:latin typeface="Cambria"/>
                <a:ea typeface="Cambria"/>
                <a:cs typeface="Cambria"/>
                <a:sym typeface="Cambria"/>
              </a:rPr>
              <a:t>KATAGMA</a:t>
            </a:r>
            <a:endParaRPr b="0" i="0" sz="7200" u="none" cap="none" strike="noStrike">
              <a:solidFill>
                <a:schemeClr val="dk1"/>
              </a:solidFill>
              <a:latin typeface="Calibri"/>
              <a:ea typeface="Calibri"/>
              <a:cs typeface="Calibri"/>
              <a:sym typeface="Calibri"/>
            </a:endParaRPr>
          </a:p>
        </p:txBody>
      </p:sp>
      <p:sp>
        <p:nvSpPr>
          <p:cNvPr id="20" name="Google Shape;20;p3"/>
          <p:cNvSpPr/>
          <p:nvPr/>
        </p:nvSpPr>
        <p:spPr>
          <a:xfrm>
            <a:off x="914400" y="3566160"/>
            <a:ext cx="1033272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3FB8AF"/>
              </a:buClr>
              <a:buSzPts val="1800"/>
              <a:buFont typeface="Calibri"/>
              <a:buNone/>
            </a:pPr>
            <a:r>
              <a:rPr b="0" i="0" lang="en-US" sz="1800" u="none" cap="none" strike="noStrike">
                <a:solidFill>
                  <a:srgbClr val="3FB8AF"/>
                </a:solidFill>
                <a:latin typeface="Calibri"/>
                <a:ea typeface="Calibri"/>
                <a:cs typeface="Calibri"/>
                <a:sym typeface="Calibri"/>
              </a:rPr>
              <a:t>Un joc roguelike de tip dungeon crawler cu generare procedurală, dezvoltat în Unity</a:t>
            </a:r>
            <a:endParaRPr b="0" i="0" sz="1800" u="none" cap="none" strike="noStrike">
              <a:solidFill>
                <a:schemeClr val="dk1"/>
              </a:solidFill>
              <a:latin typeface="Calibri"/>
              <a:ea typeface="Calibri"/>
              <a:cs typeface="Calibri"/>
              <a:sym typeface="Calibri"/>
            </a:endParaRPr>
          </a:p>
        </p:txBody>
      </p:sp>
      <p:sp>
        <p:nvSpPr>
          <p:cNvPr id="21" name="Google Shape;21;p3"/>
          <p:cNvSpPr/>
          <p:nvPr/>
        </p:nvSpPr>
        <p:spPr>
          <a:xfrm>
            <a:off x="914400" y="4297680"/>
            <a:ext cx="1033272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9A8FA8"/>
              </a:buClr>
              <a:buSzPts val="1300"/>
              <a:buFont typeface="Calibri"/>
              <a:buNone/>
            </a:pPr>
            <a:r>
              <a:rPr b="0" i="0" lang="en-US" sz="1300" u="none" cap="none" strike="noStrike">
                <a:solidFill>
                  <a:srgbClr val="9A8FA8"/>
                </a:solidFill>
                <a:latin typeface="Calibri"/>
                <a:ea typeface="Calibri"/>
                <a:cs typeface="Calibri"/>
                <a:sym typeface="Calibri"/>
              </a:rPr>
              <a:t>Proiect de licență  ·  Informatică - Limba </a:t>
            </a:r>
            <a:r>
              <a:rPr lang="en-US" sz="1300">
                <a:solidFill>
                  <a:srgbClr val="9A8FA8"/>
                </a:solidFill>
                <a:latin typeface="Calibri"/>
                <a:ea typeface="Calibri"/>
                <a:cs typeface="Calibri"/>
                <a:sym typeface="Calibri"/>
              </a:rPr>
              <a:t>maghiară</a:t>
            </a:r>
            <a:r>
              <a:rPr b="0" i="0" lang="en-US" sz="1300" u="none" cap="none" strike="noStrike">
                <a:solidFill>
                  <a:srgbClr val="9A8FA8"/>
                </a:solidFill>
                <a:latin typeface="Calibri"/>
                <a:ea typeface="Calibri"/>
                <a:cs typeface="Calibri"/>
                <a:sym typeface="Calibri"/>
              </a:rPr>
              <a:t>  ·  UMFST „George Emil Palade” Târgu Mureș</a:t>
            </a:r>
            <a:endParaRPr b="0" i="0" sz="1300" u="none" cap="none" strike="noStrike">
              <a:solidFill>
                <a:schemeClr val="dk1"/>
              </a:solidFill>
              <a:latin typeface="Calibri"/>
              <a:ea typeface="Calibri"/>
              <a:cs typeface="Calibri"/>
              <a:sym typeface="Calibri"/>
            </a:endParaRPr>
          </a:p>
        </p:txBody>
      </p:sp>
      <p:sp>
        <p:nvSpPr>
          <p:cNvPr id="22" name="Google Shape;22;p3"/>
          <p:cNvSpPr/>
          <p:nvPr/>
        </p:nvSpPr>
        <p:spPr>
          <a:xfrm>
            <a:off x="914400" y="5394960"/>
            <a:ext cx="1033272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9A8FA8"/>
              </a:buClr>
              <a:buSzPts val="1400"/>
              <a:buFont typeface="Calibri"/>
              <a:buNone/>
            </a:pPr>
            <a:r>
              <a:rPr b="1" i="0" lang="en-US" sz="1400" u="none" cap="none" strike="noStrike">
                <a:solidFill>
                  <a:srgbClr val="9A8FA8"/>
                </a:solidFill>
                <a:latin typeface="Calibri"/>
                <a:ea typeface="Calibri"/>
                <a:cs typeface="Calibri"/>
                <a:sym typeface="Calibri"/>
              </a:rPr>
              <a:t>Absolvent: </a:t>
            </a:r>
            <a:r>
              <a:rPr b="0" i="0" lang="en-US" sz="1400" u="none" cap="none" strike="noStrike">
                <a:solidFill>
                  <a:srgbClr val="EDE7F2"/>
                </a:solidFill>
                <a:latin typeface="Calibri"/>
                <a:ea typeface="Calibri"/>
                <a:cs typeface="Calibri"/>
                <a:sym typeface="Calibri"/>
              </a:rPr>
              <a:t>Lőrincz Tamás</a:t>
            </a:r>
            <a:r>
              <a:rPr b="1" i="0" lang="en-US" sz="1400" u="none" cap="none" strike="noStrike">
                <a:solidFill>
                  <a:srgbClr val="9A8FA8"/>
                </a:solidFill>
                <a:latin typeface="Calibri"/>
                <a:ea typeface="Calibri"/>
                <a:cs typeface="Calibri"/>
                <a:sym typeface="Calibri"/>
              </a:rPr>
              <a:t>          Coordonator: </a:t>
            </a:r>
            <a:r>
              <a:rPr b="0" i="0" lang="en-US" sz="1400" u="none" cap="none" strike="noStrike">
                <a:solidFill>
                  <a:srgbClr val="EDE7F2"/>
                </a:solidFill>
                <a:latin typeface="Calibri"/>
                <a:ea typeface="Calibri"/>
                <a:cs typeface="Calibri"/>
                <a:sym typeface="Calibri"/>
              </a:rPr>
              <a:t>conf. univ. dr. Finta Béla</a:t>
            </a:r>
            <a:endParaRPr b="0" i="0" sz="1400" u="none" cap="none" strike="noStrike">
              <a:solidFill>
                <a:schemeClr val="dk1"/>
              </a:solidFill>
              <a:latin typeface="Calibri"/>
              <a:ea typeface="Calibri"/>
              <a:cs typeface="Calibri"/>
              <a:sym typeface="Calibri"/>
            </a:endParaRPr>
          </a:p>
        </p:txBody>
      </p:sp>
      <p:sp>
        <p:nvSpPr>
          <p:cNvPr id="23" name="Google Shape;23;p3"/>
          <p:cNvSpPr/>
          <p:nvPr/>
        </p:nvSpPr>
        <p:spPr>
          <a:xfrm>
            <a:off x="914400" y="5852160"/>
            <a:ext cx="10332720" cy="2743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9A8FA8"/>
              </a:buClr>
              <a:buSzPts val="1200"/>
              <a:buFont typeface="Calibri"/>
              <a:buNone/>
            </a:pPr>
            <a:r>
              <a:rPr b="0" i="0" lang="en-US" sz="1200" u="none" cap="none" strike="noStrike">
                <a:solidFill>
                  <a:srgbClr val="9A8FA8"/>
                </a:solidFill>
                <a:latin typeface="Calibri"/>
                <a:ea typeface="Calibri"/>
                <a:cs typeface="Calibri"/>
                <a:sym typeface="Calibri"/>
              </a:rPr>
              <a:t>Promoția 2026</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1526"/>
        </a:solidFill>
      </p:bgPr>
    </p:bg>
    <p:spTree>
      <p:nvGrpSpPr>
        <p:cNvPr id="28" name="Shape 28"/>
        <p:cNvGrpSpPr/>
        <p:nvPr/>
      </p:nvGrpSpPr>
      <p:grpSpPr>
        <a:xfrm>
          <a:off x="0" y="0"/>
          <a:ext cx="0" cy="0"/>
          <a:chOff x="0" y="0"/>
          <a:chExt cx="0" cy="0"/>
        </a:xfrm>
      </p:grpSpPr>
      <p:sp>
        <p:nvSpPr>
          <p:cNvPr id="29" name="Google Shape;29;p4"/>
          <p:cNvSpPr/>
          <p:nvPr/>
        </p:nvSpPr>
        <p:spPr>
          <a:xfrm>
            <a:off x="548640" y="384048"/>
            <a:ext cx="10515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FB8AF"/>
              </a:buClr>
              <a:buSzPts val="1200"/>
              <a:buFont typeface="Calibri"/>
              <a:buNone/>
            </a:pPr>
            <a:r>
              <a:rPr b="1" i="0" lang="en-US" sz="1200" u="none" cap="none" strike="noStrike">
                <a:solidFill>
                  <a:srgbClr val="3FB8AF"/>
                </a:solidFill>
                <a:latin typeface="Calibri"/>
                <a:ea typeface="Calibri"/>
                <a:cs typeface="Calibri"/>
                <a:sym typeface="Calibri"/>
              </a:rPr>
              <a:t>CONCEPTUL</a:t>
            </a:r>
            <a:endParaRPr b="0" i="0" sz="1200" u="none" cap="none" strike="noStrike">
              <a:solidFill>
                <a:schemeClr val="dk1"/>
              </a:solidFill>
              <a:latin typeface="Calibri"/>
              <a:ea typeface="Calibri"/>
              <a:cs typeface="Calibri"/>
              <a:sym typeface="Calibri"/>
            </a:endParaRPr>
          </a:p>
        </p:txBody>
      </p:sp>
      <p:sp>
        <p:nvSpPr>
          <p:cNvPr id="30" name="Google Shape;30;p4"/>
          <p:cNvSpPr/>
          <p:nvPr/>
        </p:nvSpPr>
        <p:spPr>
          <a:xfrm>
            <a:off x="548640" y="640080"/>
            <a:ext cx="11064240" cy="8229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DE7F2"/>
              </a:buClr>
              <a:buSzPts val="3200"/>
              <a:buFont typeface="Cambria"/>
              <a:buNone/>
            </a:pPr>
            <a:r>
              <a:rPr b="1" i="0" lang="en-US" sz="3200" u="none" cap="none" strike="noStrike">
                <a:solidFill>
                  <a:srgbClr val="EDE7F2"/>
                </a:solidFill>
                <a:latin typeface="Cambria"/>
                <a:ea typeface="Cambria"/>
                <a:cs typeface="Cambria"/>
                <a:sym typeface="Cambria"/>
              </a:rPr>
              <a:t>O minte care încearcă să se trezească</a:t>
            </a:r>
            <a:endParaRPr b="0" i="0" sz="3200" u="none" cap="none" strike="noStrike">
              <a:solidFill>
                <a:schemeClr val="dk1"/>
              </a:solidFill>
              <a:latin typeface="Calibri"/>
              <a:ea typeface="Calibri"/>
              <a:cs typeface="Calibri"/>
              <a:sym typeface="Calibri"/>
            </a:endParaRPr>
          </a:p>
        </p:txBody>
      </p:sp>
      <p:sp>
        <p:nvSpPr>
          <p:cNvPr id="31" name="Google Shape;31;p4"/>
          <p:cNvSpPr/>
          <p:nvPr/>
        </p:nvSpPr>
        <p:spPr>
          <a:xfrm>
            <a:off x="548640" y="1828800"/>
            <a:ext cx="566928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B8AF"/>
              </a:buClr>
              <a:buSzPts val="1800"/>
              <a:buFont typeface="Calibri"/>
              <a:buNone/>
            </a:pPr>
            <a:r>
              <a:rPr b="1" i="0" lang="en-US" sz="1800" u="none" cap="none" strike="noStrike">
                <a:solidFill>
                  <a:srgbClr val="3FB8AF"/>
                </a:solidFill>
                <a:latin typeface="Calibri"/>
                <a:ea typeface="Calibri"/>
                <a:cs typeface="Calibri"/>
                <a:sym typeface="Calibri"/>
              </a:rPr>
              <a:t>Katagma</a:t>
            </a:r>
            <a:r>
              <a:rPr b="0" i="0" lang="en-US" sz="1800" u="none" cap="none" strike="noStrike">
                <a:solidFill>
                  <a:srgbClr val="EDE7F2"/>
                </a:solidFill>
                <a:latin typeface="Calibri"/>
                <a:ea typeface="Calibri"/>
                <a:cs typeface="Calibri"/>
                <a:sym typeface="Calibri"/>
              </a:rPr>
              <a:t> este cuvântul grecesc pentru </a:t>
            </a:r>
            <a:r>
              <a:rPr b="0" i="1" lang="en-US" sz="1800" u="none" cap="none" strike="noStrike">
                <a:solidFill>
                  <a:srgbClr val="EDE7F2"/>
                </a:solidFill>
                <a:latin typeface="Calibri"/>
                <a:ea typeface="Calibri"/>
                <a:cs typeface="Calibri"/>
                <a:sym typeface="Calibri"/>
              </a:rPr>
              <a:t>fractură</a:t>
            </a:r>
            <a:r>
              <a:rPr b="0" i="0" lang="en-US" sz="1800" u="none" cap="none" strike="noStrike">
                <a:solidFill>
                  <a:srgbClr val="EDE7F2"/>
                </a:solidFill>
                <a:latin typeface="Calibri"/>
                <a:ea typeface="Calibri"/>
                <a:cs typeface="Calibri"/>
                <a:sym typeface="Calibri"/>
              </a:rPr>
              <a:t>.</a:t>
            </a:r>
            <a:endParaRPr b="0" i="0" sz="1800" u="none" cap="none" strike="noStrike">
              <a:solidFill>
                <a:schemeClr val="dk1"/>
              </a:solidFill>
              <a:latin typeface="Calibri"/>
              <a:ea typeface="Calibri"/>
              <a:cs typeface="Calibri"/>
              <a:sym typeface="Calibri"/>
            </a:endParaRPr>
          </a:p>
        </p:txBody>
      </p:sp>
      <p:sp>
        <p:nvSpPr>
          <p:cNvPr id="32" name="Google Shape;32;p4"/>
          <p:cNvSpPr/>
          <p:nvPr/>
        </p:nvSpPr>
        <p:spPr>
          <a:xfrm>
            <a:off x="548640" y="2953990"/>
            <a:ext cx="5669400" cy="201180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EDE7F2"/>
              </a:buClr>
              <a:buSzPts val="1550"/>
              <a:buFont typeface="Calibri"/>
              <a:buNone/>
            </a:pPr>
            <a:r>
              <a:rPr b="0" i="0" lang="en-US" sz="1550" u="none" cap="none" strike="noStrike">
                <a:solidFill>
                  <a:srgbClr val="EDE7F2"/>
                </a:solidFill>
                <a:latin typeface="Calibri"/>
                <a:ea typeface="Calibri"/>
                <a:cs typeface="Calibri"/>
                <a:sym typeface="Calibri"/>
              </a:rPr>
              <a:t>Jucătorul este o minte aflată în comă, care urcă prin straturile propriului subconștient pentru a se trezi. Fiecare partidă este o încercare de a ajunge la suprafață. Când o partidă se încheie prin moarte, mintea se fracturează și nu reușește să se trezească </a:t>
            </a:r>
            <a:r>
              <a:rPr lang="en-US" sz="1550">
                <a:solidFill>
                  <a:srgbClr val="EDE7F2"/>
                </a:solidFill>
                <a:latin typeface="Calibri"/>
                <a:ea typeface="Calibri"/>
                <a:cs typeface="Calibri"/>
                <a:sym typeface="Calibri"/>
              </a:rPr>
              <a:t>-</a:t>
            </a:r>
            <a:r>
              <a:rPr b="0" i="0" lang="en-US" sz="1550" u="none" cap="none" strike="noStrike">
                <a:solidFill>
                  <a:srgbClr val="EDE7F2"/>
                </a:solidFill>
                <a:latin typeface="Calibri"/>
                <a:ea typeface="Calibri"/>
                <a:cs typeface="Calibri"/>
                <a:sym typeface="Calibri"/>
              </a:rPr>
              <a:t> eșecul pe care titlul îl numește.</a:t>
            </a:r>
            <a:endParaRPr b="0" i="0" sz="1550" u="none" cap="none" strike="noStrike">
              <a:solidFill>
                <a:schemeClr val="dk1"/>
              </a:solidFill>
              <a:latin typeface="Calibri"/>
              <a:ea typeface="Calibri"/>
              <a:cs typeface="Calibri"/>
              <a:sym typeface="Calibri"/>
            </a:endParaRPr>
          </a:p>
        </p:txBody>
      </p:sp>
      <p:sp>
        <p:nvSpPr>
          <p:cNvPr id="33" name="Google Shape;33;p4"/>
          <p:cNvSpPr/>
          <p:nvPr/>
        </p:nvSpPr>
        <p:spPr>
          <a:xfrm>
            <a:off x="6675120" y="1828800"/>
            <a:ext cx="4937760" cy="3840480"/>
          </a:xfrm>
          <a:prstGeom prst="roundRect">
            <a:avLst>
              <a:gd fmla="val 1905" name="adj"/>
            </a:avLst>
          </a:prstGeom>
          <a:solidFill>
            <a:srgbClr val="241C33"/>
          </a:solidFill>
          <a:ln cap="flat" cmpd="sng" w="9525">
            <a:solidFill>
              <a:srgbClr val="2A7A7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4"/>
          <p:cNvSpPr/>
          <p:nvPr/>
        </p:nvSpPr>
        <p:spPr>
          <a:xfrm>
            <a:off x="6949440" y="2148840"/>
            <a:ext cx="128016" cy="128016"/>
          </a:xfrm>
          <a:prstGeom prst="ellipse">
            <a:avLst/>
          </a:prstGeom>
          <a:solidFill>
            <a:srgbClr val="3FB8A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4"/>
          <p:cNvSpPr/>
          <p:nvPr/>
        </p:nvSpPr>
        <p:spPr>
          <a:xfrm>
            <a:off x="7223760" y="2057400"/>
            <a:ext cx="420624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FB8AF"/>
              </a:buClr>
              <a:buSzPts val="1600"/>
              <a:buFont typeface="Calibri"/>
              <a:buNone/>
            </a:pPr>
            <a:r>
              <a:rPr b="1" i="0" lang="en-US" sz="1600" u="none" cap="none" strike="noStrike">
                <a:solidFill>
                  <a:srgbClr val="3FB8AF"/>
                </a:solidFill>
                <a:latin typeface="Calibri"/>
                <a:ea typeface="Calibri"/>
                <a:cs typeface="Calibri"/>
                <a:sym typeface="Calibri"/>
              </a:rPr>
              <a:t>De ce un roguelike?</a:t>
            </a:r>
            <a:endParaRPr b="0" i="0" sz="1600" u="none" cap="none" strike="noStrike">
              <a:solidFill>
                <a:schemeClr val="dk1"/>
              </a:solidFill>
              <a:latin typeface="Calibri"/>
              <a:ea typeface="Calibri"/>
              <a:cs typeface="Calibri"/>
              <a:sym typeface="Calibri"/>
            </a:endParaRPr>
          </a:p>
        </p:txBody>
      </p:sp>
      <p:sp>
        <p:nvSpPr>
          <p:cNvPr id="36" name="Google Shape;36;p4"/>
          <p:cNvSpPr/>
          <p:nvPr/>
        </p:nvSpPr>
        <p:spPr>
          <a:xfrm>
            <a:off x="7223760" y="2560320"/>
            <a:ext cx="4206240" cy="91440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EDE7F2"/>
              </a:buClr>
              <a:buSzPts val="1350"/>
              <a:buFont typeface="Calibri"/>
              <a:buNone/>
            </a:pPr>
            <a:r>
              <a:rPr b="1" i="0" lang="en-US" sz="1350" u="none" cap="none" strike="noStrike">
                <a:solidFill>
                  <a:srgbClr val="EDE7F2"/>
                </a:solidFill>
                <a:latin typeface="Calibri"/>
                <a:ea typeface="Calibri"/>
                <a:cs typeface="Calibri"/>
                <a:sym typeface="Calibri"/>
              </a:rPr>
              <a:t>Generarea procedurală </a:t>
            </a:r>
            <a:r>
              <a:rPr b="0" i="0" lang="en-US" sz="1350" u="none" cap="none" strike="noStrike">
                <a:solidFill>
                  <a:srgbClr val="EDE7F2"/>
                </a:solidFill>
                <a:latin typeface="Calibri"/>
                <a:ea typeface="Calibri"/>
                <a:cs typeface="Calibri"/>
                <a:sym typeface="Calibri"/>
              </a:rPr>
              <a:t>oferă o lume nouă la fiecare partidă </a:t>
            </a:r>
            <a:r>
              <a:rPr lang="en-US" sz="1350">
                <a:solidFill>
                  <a:srgbClr val="EDE7F2"/>
                </a:solidFill>
                <a:latin typeface="Calibri"/>
                <a:ea typeface="Calibri"/>
                <a:cs typeface="Calibri"/>
                <a:sym typeface="Calibri"/>
              </a:rPr>
              <a:t>-</a:t>
            </a:r>
            <a:r>
              <a:rPr b="0" i="0" lang="en-US" sz="1350" u="none" cap="none" strike="noStrike">
                <a:solidFill>
                  <a:srgbClr val="EDE7F2"/>
                </a:solidFill>
                <a:latin typeface="Calibri"/>
                <a:ea typeface="Calibri"/>
                <a:cs typeface="Calibri"/>
                <a:sym typeface="Calibri"/>
              </a:rPr>
              <a:t> rejucabilitate reală și o problemă tehnică autentică.</a:t>
            </a:r>
            <a:endParaRPr b="0" i="0" sz="1350" u="none" cap="none" strike="noStrike">
              <a:solidFill>
                <a:schemeClr val="dk1"/>
              </a:solidFill>
              <a:latin typeface="Calibri"/>
              <a:ea typeface="Calibri"/>
              <a:cs typeface="Calibri"/>
              <a:sym typeface="Calibri"/>
            </a:endParaRPr>
          </a:p>
        </p:txBody>
      </p:sp>
      <p:sp>
        <p:nvSpPr>
          <p:cNvPr id="37" name="Google Shape;37;p4"/>
          <p:cNvSpPr/>
          <p:nvPr/>
        </p:nvSpPr>
        <p:spPr>
          <a:xfrm>
            <a:off x="7223760" y="3566160"/>
            <a:ext cx="4206240" cy="91440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EDE7F2"/>
              </a:buClr>
              <a:buSzPts val="1350"/>
              <a:buFont typeface="Calibri"/>
              <a:buNone/>
            </a:pPr>
            <a:r>
              <a:rPr b="1" i="0" lang="en-US" sz="1350" u="none" cap="none" strike="noStrike">
                <a:solidFill>
                  <a:srgbClr val="EDE7F2"/>
                </a:solidFill>
                <a:latin typeface="Calibri"/>
                <a:ea typeface="Calibri"/>
                <a:cs typeface="Calibri"/>
                <a:sym typeface="Calibri"/>
              </a:rPr>
              <a:t>Bucla încercărilor repetate </a:t>
            </a:r>
            <a:r>
              <a:rPr b="0" i="0" lang="en-US" sz="1350" u="none" cap="none" strike="noStrike">
                <a:solidFill>
                  <a:srgbClr val="EDE7F2"/>
                </a:solidFill>
                <a:latin typeface="Calibri"/>
                <a:ea typeface="Calibri"/>
                <a:cs typeface="Calibri"/>
                <a:sym typeface="Calibri"/>
              </a:rPr>
              <a:t>oglindește lupta de întoarcere spre conștiență.</a:t>
            </a:r>
            <a:endParaRPr b="0" i="0" sz="1350" u="none" cap="none" strike="noStrike">
              <a:solidFill>
                <a:schemeClr val="dk1"/>
              </a:solidFill>
              <a:latin typeface="Calibri"/>
              <a:ea typeface="Calibri"/>
              <a:cs typeface="Calibri"/>
              <a:sym typeface="Calibri"/>
            </a:endParaRPr>
          </a:p>
        </p:txBody>
      </p:sp>
      <p:sp>
        <p:nvSpPr>
          <p:cNvPr id="38" name="Google Shape;38;p4"/>
          <p:cNvSpPr/>
          <p:nvPr/>
        </p:nvSpPr>
        <p:spPr>
          <a:xfrm>
            <a:off x="7223760" y="4572000"/>
            <a:ext cx="4206240" cy="100584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EDE7F2"/>
              </a:buClr>
              <a:buSzPts val="1350"/>
              <a:buFont typeface="Calibri"/>
              <a:buNone/>
            </a:pPr>
            <a:r>
              <a:rPr b="1" i="0" lang="en-US" sz="1350" u="none" cap="none" strike="noStrike">
                <a:solidFill>
                  <a:srgbClr val="EDE7F2"/>
                </a:solidFill>
                <a:latin typeface="Calibri"/>
                <a:ea typeface="Calibri"/>
                <a:cs typeface="Calibri"/>
                <a:sym typeface="Calibri"/>
              </a:rPr>
              <a:t>Se potrivește unui proiect de licență: </a:t>
            </a:r>
            <a:r>
              <a:rPr b="0" i="0" lang="en-US" sz="1350" u="none" cap="none" strike="noStrike">
                <a:solidFill>
                  <a:srgbClr val="EDE7F2"/>
                </a:solidFill>
                <a:latin typeface="Calibri"/>
                <a:ea typeface="Calibri"/>
                <a:cs typeface="Calibri"/>
                <a:sym typeface="Calibri"/>
              </a:rPr>
              <a:t>o buclă de joc compactă poate fi finalizată și șlefuită, nu lăsată prototip.</a:t>
            </a:r>
            <a:endParaRPr b="0" i="0" sz="1350" u="none" cap="none" strike="noStrike">
              <a:solidFill>
                <a:schemeClr val="dk1"/>
              </a:solidFill>
              <a:latin typeface="Calibri"/>
              <a:ea typeface="Calibri"/>
              <a:cs typeface="Calibri"/>
              <a:sym typeface="Calibri"/>
            </a:endParaRPr>
          </a:p>
        </p:txBody>
      </p:sp>
      <p:sp>
        <p:nvSpPr>
          <p:cNvPr id="39" name="Google Shape;39;p4"/>
          <p:cNvSpPr/>
          <p:nvPr/>
        </p:nvSpPr>
        <p:spPr>
          <a:xfrm>
            <a:off x="11521440" y="6400800"/>
            <a:ext cx="4572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9A8FA8"/>
              </a:buClr>
              <a:buSzPts val="1000"/>
              <a:buFont typeface="Calibri"/>
              <a:buNone/>
            </a:pPr>
            <a:r>
              <a:rPr b="0" i="0" lang="en-US" sz="1000" u="none" cap="none" strike="noStrike">
                <a:solidFill>
                  <a:srgbClr val="9A8FA8"/>
                </a:solidFill>
                <a:latin typeface="Calibri"/>
                <a:ea typeface="Calibri"/>
                <a:cs typeface="Calibri"/>
                <a:sym typeface="Calibri"/>
              </a:rPr>
              <a:t>2</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1526"/>
        </a:solidFill>
      </p:bgPr>
    </p:bg>
    <p:spTree>
      <p:nvGrpSpPr>
        <p:cNvPr id="44" name="Shape 44"/>
        <p:cNvGrpSpPr/>
        <p:nvPr/>
      </p:nvGrpSpPr>
      <p:grpSpPr>
        <a:xfrm>
          <a:off x="0" y="0"/>
          <a:ext cx="0" cy="0"/>
          <a:chOff x="0" y="0"/>
          <a:chExt cx="0" cy="0"/>
        </a:xfrm>
      </p:grpSpPr>
      <p:sp>
        <p:nvSpPr>
          <p:cNvPr id="45" name="Google Shape;45;p5"/>
          <p:cNvSpPr/>
          <p:nvPr/>
        </p:nvSpPr>
        <p:spPr>
          <a:xfrm>
            <a:off x="548640" y="384048"/>
            <a:ext cx="10515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FB8AF"/>
              </a:buClr>
              <a:buSzPts val="1200"/>
              <a:buFont typeface="Calibri"/>
              <a:buNone/>
            </a:pPr>
            <a:r>
              <a:rPr b="1" i="0" lang="en-US" sz="1200" u="none" cap="none" strike="noStrike">
                <a:solidFill>
                  <a:srgbClr val="3FB8AF"/>
                </a:solidFill>
                <a:latin typeface="Calibri"/>
                <a:ea typeface="Calibri"/>
                <a:cs typeface="Calibri"/>
                <a:sym typeface="Calibri"/>
              </a:rPr>
              <a:t>OBIECTIVE</a:t>
            </a:r>
            <a:endParaRPr b="0" i="0" sz="1200" u="none" cap="none" strike="noStrike">
              <a:solidFill>
                <a:schemeClr val="dk1"/>
              </a:solidFill>
              <a:latin typeface="Calibri"/>
              <a:ea typeface="Calibri"/>
              <a:cs typeface="Calibri"/>
              <a:sym typeface="Calibri"/>
            </a:endParaRPr>
          </a:p>
        </p:txBody>
      </p:sp>
      <p:sp>
        <p:nvSpPr>
          <p:cNvPr id="46" name="Google Shape;46;p5"/>
          <p:cNvSpPr/>
          <p:nvPr/>
        </p:nvSpPr>
        <p:spPr>
          <a:xfrm>
            <a:off x="548640" y="640080"/>
            <a:ext cx="11064240" cy="8229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DE7F2"/>
              </a:buClr>
              <a:buSzPts val="3200"/>
              <a:buFont typeface="Cambria"/>
              <a:buNone/>
            </a:pPr>
            <a:r>
              <a:rPr b="1" i="0" lang="en-US" sz="3200" u="none" cap="none" strike="noStrike">
                <a:solidFill>
                  <a:srgbClr val="EDE7F2"/>
                </a:solidFill>
                <a:latin typeface="Cambria"/>
                <a:ea typeface="Cambria"/>
                <a:cs typeface="Cambria"/>
                <a:sym typeface="Cambria"/>
              </a:rPr>
              <a:t>Ce și-a propus proiectul</a:t>
            </a:r>
            <a:endParaRPr b="0" i="0" sz="3200" u="none" cap="none" strike="noStrike">
              <a:solidFill>
                <a:schemeClr val="dk1"/>
              </a:solidFill>
              <a:latin typeface="Calibri"/>
              <a:ea typeface="Calibri"/>
              <a:cs typeface="Calibri"/>
              <a:sym typeface="Calibri"/>
            </a:endParaRPr>
          </a:p>
        </p:txBody>
      </p:sp>
      <p:sp>
        <p:nvSpPr>
          <p:cNvPr id="47" name="Google Shape;47;p5"/>
          <p:cNvSpPr/>
          <p:nvPr/>
        </p:nvSpPr>
        <p:spPr>
          <a:xfrm>
            <a:off x="548640" y="1828800"/>
            <a:ext cx="5394960" cy="1234440"/>
          </a:xfrm>
          <a:prstGeom prst="roundRect">
            <a:avLst>
              <a:gd fmla="val 5926" name="adj"/>
            </a:avLst>
          </a:prstGeom>
          <a:solidFill>
            <a:srgbClr val="241C33"/>
          </a:solidFill>
          <a:ln cap="flat" cmpd="sng" w="9525">
            <a:solidFill>
              <a:srgbClr val="2A7A7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5"/>
          <p:cNvSpPr/>
          <p:nvPr/>
        </p:nvSpPr>
        <p:spPr>
          <a:xfrm>
            <a:off x="804672" y="2121408"/>
            <a:ext cx="128016" cy="128016"/>
          </a:xfrm>
          <a:prstGeom prst="ellipse">
            <a:avLst/>
          </a:prstGeom>
          <a:solidFill>
            <a:srgbClr val="3FB8A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 name="Google Shape;49;p5"/>
          <p:cNvSpPr/>
          <p:nvPr/>
        </p:nvSpPr>
        <p:spPr>
          <a:xfrm>
            <a:off x="1051560" y="1993392"/>
            <a:ext cx="466344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B8AF"/>
              </a:buClr>
              <a:buSzPts val="1550"/>
              <a:buFont typeface="Calibri"/>
              <a:buNone/>
            </a:pPr>
            <a:r>
              <a:rPr b="1" i="0" lang="en-US" sz="1550" u="none" cap="none" strike="noStrike">
                <a:solidFill>
                  <a:srgbClr val="3FB8AF"/>
                </a:solidFill>
                <a:latin typeface="Calibri"/>
                <a:ea typeface="Calibri"/>
                <a:cs typeface="Calibri"/>
                <a:sym typeface="Calibri"/>
              </a:rPr>
              <a:t>Generare procedurală (procedural generation)</a:t>
            </a:r>
            <a:endParaRPr b="0" i="0" sz="1550" u="none" cap="none" strike="noStrike">
              <a:solidFill>
                <a:schemeClr val="dk1"/>
              </a:solidFill>
              <a:latin typeface="Calibri"/>
              <a:ea typeface="Calibri"/>
              <a:cs typeface="Calibri"/>
              <a:sym typeface="Calibri"/>
            </a:endParaRPr>
          </a:p>
        </p:txBody>
      </p:sp>
      <p:sp>
        <p:nvSpPr>
          <p:cNvPr id="50" name="Google Shape;50;p5"/>
          <p:cNvSpPr/>
          <p:nvPr/>
        </p:nvSpPr>
        <p:spPr>
          <a:xfrm>
            <a:off x="1051560" y="2395728"/>
            <a:ext cx="4663440" cy="54864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EDE7F2"/>
              </a:buClr>
              <a:buSzPts val="1300"/>
              <a:buFont typeface="Calibri"/>
              <a:buNone/>
            </a:pPr>
            <a:r>
              <a:rPr b="0" i="0" lang="en-US" sz="1300" u="none" cap="none" strike="noStrike">
                <a:solidFill>
                  <a:srgbClr val="EDE7F2"/>
                </a:solidFill>
                <a:latin typeface="Calibri"/>
                <a:ea typeface="Calibri"/>
                <a:cs typeface="Calibri"/>
                <a:sym typeface="Calibri"/>
              </a:rPr>
              <a:t>Un labirint diferit și complet conectat pentru fiecare nivel.</a:t>
            </a:r>
            <a:endParaRPr b="0" i="0" sz="1300" u="none" cap="none" strike="noStrike">
              <a:solidFill>
                <a:schemeClr val="dk1"/>
              </a:solidFill>
              <a:latin typeface="Calibri"/>
              <a:ea typeface="Calibri"/>
              <a:cs typeface="Calibri"/>
              <a:sym typeface="Calibri"/>
            </a:endParaRPr>
          </a:p>
        </p:txBody>
      </p:sp>
      <p:sp>
        <p:nvSpPr>
          <p:cNvPr id="51" name="Google Shape;51;p5"/>
          <p:cNvSpPr/>
          <p:nvPr/>
        </p:nvSpPr>
        <p:spPr>
          <a:xfrm>
            <a:off x="6263640" y="1828800"/>
            <a:ext cx="5394960" cy="1234440"/>
          </a:xfrm>
          <a:prstGeom prst="roundRect">
            <a:avLst>
              <a:gd fmla="val 5926" name="adj"/>
            </a:avLst>
          </a:prstGeom>
          <a:solidFill>
            <a:srgbClr val="241C33"/>
          </a:solidFill>
          <a:ln cap="flat" cmpd="sng" w="9525">
            <a:solidFill>
              <a:srgbClr val="2A7A7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5"/>
          <p:cNvSpPr/>
          <p:nvPr/>
        </p:nvSpPr>
        <p:spPr>
          <a:xfrm>
            <a:off x="6519672" y="2121408"/>
            <a:ext cx="128016" cy="128016"/>
          </a:xfrm>
          <a:prstGeom prst="ellipse">
            <a:avLst/>
          </a:prstGeom>
          <a:solidFill>
            <a:srgbClr val="3FB8A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5"/>
          <p:cNvSpPr/>
          <p:nvPr/>
        </p:nvSpPr>
        <p:spPr>
          <a:xfrm>
            <a:off x="6766560" y="1993392"/>
            <a:ext cx="466344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B8AF"/>
              </a:buClr>
              <a:buSzPts val="1550"/>
              <a:buFont typeface="Calibri"/>
              <a:buNone/>
            </a:pPr>
            <a:r>
              <a:rPr b="1" i="0" lang="en-US" sz="1550" u="none" cap="none" strike="noStrike">
                <a:solidFill>
                  <a:srgbClr val="3FB8AF"/>
                </a:solidFill>
                <a:latin typeface="Calibri"/>
                <a:ea typeface="Calibri"/>
                <a:cs typeface="Calibri"/>
                <a:sym typeface="Calibri"/>
              </a:rPr>
              <a:t>Luptă în timp real</a:t>
            </a:r>
            <a:endParaRPr b="0" i="0" sz="1550" u="none" cap="none" strike="noStrike">
              <a:solidFill>
                <a:schemeClr val="dk1"/>
              </a:solidFill>
              <a:latin typeface="Calibri"/>
              <a:ea typeface="Calibri"/>
              <a:cs typeface="Calibri"/>
              <a:sym typeface="Calibri"/>
            </a:endParaRPr>
          </a:p>
        </p:txBody>
      </p:sp>
      <p:sp>
        <p:nvSpPr>
          <p:cNvPr id="54" name="Google Shape;54;p5"/>
          <p:cNvSpPr/>
          <p:nvPr/>
        </p:nvSpPr>
        <p:spPr>
          <a:xfrm>
            <a:off x="6766560" y="2395728"/>
            <a:ext cx="4663440" cy="54864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EDE7F2"/>
              </a:buClr>
              <a:buSzPts val="1300"/>
              <a:buFont typeface="Calibri"/>
              <a:buNone/>
            </a:pPr>
            <a:r>
              <a:rPr b="0" i="0" lang="en-US" sz="1300" u="none" cap="none" strike="noStrike">
                <a:solidFill>
                  <a:srgbClr val="EDE7F2"/>
                </a:solidFill>
                <a:latin typeface="Calibri"/>
                <a:ea typeface="Calibri"/>
                <a:cs typeface="Calibri"/>
                <a:sym typeface="Calibri"/>
              </a:rPr>
              <a:t>Un jucător, mai multe tipuri de inamici și un atac cu profunzime.</a:t>
            </a:r>
            <a:endParaRPr b="0" i="0" sz="1300" u="none" cap="none" strike="noStrike">
              <a:solidFill>
                <a:schemeClr val="dk1"/>
              </a:solidFill>
              <a:latin typeface="Calibri"/>
              <a:ea typeface="Calibri"/>
              <a:cs typeface="Calibri"/>
              <a:sym typeface="Calibri"/>
            </a:endParaRPr>
          </a:p>
        </p:txBody>
      </p:sp>
      <p:sp>
        <p:nvSpPr>
          <p:cNvPr id="55" name="Google Shape;55;p5"/>
          <p:cNvSpPr/>
          <p:nvPr/>
        </p:nvSpPr>
        <p:spPr>
          <a:xfrm>
            <a:off x="548640" y="3291840"/>
            <a:ext cx="5394960" cy="1234440"/>
          </a:xfrm>
          <a:prstGeom prst="roundRect">
            <a:avLst>
              <a:gd fmla="val 5926" name="adj"/>
            </a:avLst>
          </a:prstGeom>
          <a:solidFill>
            <a:srgbClr val="241C33"/>
          </a:solidFill>
          <a:ln cap="flat" cmpd="sng" w="9525">
            <a:solidFill>
              <a:srgbClr val="2A7A7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5"/>
          <p:cNvSpPr/>
          <p:nvPr/>
        </p:nvSpPr>
        <p:spPr>
          <a:xfrm>
            <a:off x="804672" y="3584448"/>
            <a:ext cx="128016" cy="128016"/>
          </a:xfrm>
          <a:prstGeom prst="ellipse">
            <a:avLst/>
          </a:prstGeom>
          <a:solidFill>
            <a:srgbClr val="3FB8A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5"/>
          <p:cNvSpPr/>
          <p:nvPr/>
        </p:nvSpPr>
        <p:spPr>
          <a:xfrm>
            <a:off x="1051560" y="3456432"/>
            <a:ext cx="466344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B8AF"/>
              </a:buClr>
              <a:buSzPts val="1550"/>
              <a:buFont typeface="Calibri"/>
              <a:buNone/>
            </a:pPr>
            <a:r>
              <a:rPr b="1" i="0" lang="en-US" sz="1550" u="none" cap="none" strike="noStrike">
                <a:solidFill>
                  <a:srgbClr val="3FB8AF"/>
                </a:solidFill>
                <a:latin typeface="Calibri"/>
                <a:ea typeface="Calibri"/>
                <a:cs typeface="Calibri"/>
                <a:sym typeface="Calibri"/>
              </a:rPr>
              <a:t>Două sisteme de progresie</a:t>
            </a:r>
            <a:endParaRPr b="0" i="0" sz="1550" u="none" cap="none" strike="noStrike">
              <a:solidFill>
                <a:schemeClr val="dk1"/>
              </a:solidFill>
              <a:latin typeface="Calibri"/>
              <a:ea typeface="Calibri"/>
              <a:cs typeface="Calibri"/>
              <a:sym typeface="Calibri"/>
            </a:endParaRPr>
          </a:p>
        </p:txBody>
      </p:sp>
      <p:sp>
        <p:nvSpPr>
          <p:cNvPr id="58" name="Google Shape;58;p5"/>
          <p:cNvSpPr/>
          <p:nvPr/>
        </p:nvSpPr>
        <p:spPr>
          <a:xfrm>
            <a:off x="1051560" y="3858768"/>
            <a:ext cx="4663440" cy="54864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EDE7F2"/>
              </a:buClr>
              <a:buSzPts val="1300"/>
              <a:buFont typeface="Calibri"/>
              <a:buNone/>
            </a:pPr>
            <a:r>
              <a:rPr b="0" i="0" lang="en-US" sz="1300" u="none" cap="none" strike="noStrike">
                <a:solidFill>
                  <a:srgbClr val="EDE7F2"/>
                </a:solidFill>
                <a:latin typeface="Calibri"/>
                <a:ea typeface="Calibri"/>
                <a:cs typeface="Calibri"/>
                <a:sym typeface="Calibri"/>
              </a:rPr>
              <a:t>Obiecte pasive și creștere automată a statisticilor.</a:t>
            </a:r>
            <a:endParaRPr b="0" i="0" sz="1300" u="none" cap="none" strike="noStrike">
              <a:solidFill>
                <a:schemeClr val="dk1"/>
              </a:solidFill>
              <a:latin typeface="Calibri"/>
              <a:ea typeface="Calibri"/>
              <a:cs typeface="Calibri"/>
              <a:sym typeface="Calibri"/>
            </a:endParaRPr>
          </a:p>
        </p:txBody>
      </p:sp>
      <p:sp>
        <p:nvSpPr>
          <p:cNvPr id="59" name="Google Shape;59;p5"/>
          <p:cNvSpPr/>
          <p:nvPr/>
        </p:nvSpPr>
        <p:spPr>
          <a:xfrm>
            <a:off x="6263640" y="3291840"/>
            <a:ext cx="5394960" cy="1234440"/>
          </a:xfrm>
          <a:prstGeom prst="roundRect">
            <a:avLst>
              <a:gd fmla="val 5926" name="adj"/>
            </a:avLst>
          </a:prstGeom>
          <a:solidFill>
            <a:srgbClr val="241C33"/>
          </a:solidFill>
          <a:ln cap="flat" cmpd="sng" w="9525">
            <a:solidFill>
              <a:srgbClr val="2A7A7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5"/>
          <p:cNvSpPr/>
          <p:nvPr/>
        </p:nvSpPr>
        <p:spPr>
          <a:xfrm>
            <a:off x="6519672" y="3584448"/>
            <a:ext cx="128016" cy="128016"/>
          </a:xfrm>
          <a:prstGeom prst="ellipse">
            <a:avLst/>
          </a:prstGeom>
          <a:solidFill>
            <a:srgbClr val="3FB8A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5"/>
          <p:cNvSpPr/>
          <p:nvPr/>
        </p:nvSpPr>
        <p:spPr>
          <a:xfrm>
            <a:off x="6766560" y="3456432"/>
            <a:ext cx="466344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B8AF"/>
              </a:buClr>
              <a:buSzPts val="1550"/>
              <a:buFont typeface="Calibri"/>
              <a:buNone/>
            </a:pPr>
            <a:r>
              <a:rPr b="1" i="0" lang="en-US" sz="1550" u="none" cap="none" strike="noStrike">
                <a:solidFill>
                  <a:srgbClr val="3FB8AF"/>
                </a:solidFill>
                <a:latin typeface="Calibri"/>
                <a:ea typeface="Calibri"/>
                <a:cs typeface="Calibri"/>
                <a:sym typeface="Calibri"/>
              </a:rPr>
              <a:t>Niveluri și un boss</a:t>
            </a:r>
            <a:endParaRPr b="0" i="0" sz="1550" u="none" cap="none" strike="noStrike">
              <a:solidFill>
                <a:schemeClr val="dk1"/>
              </a:solidFill>
              <a:latin typeface="Calibri"/>
              <a:ea typeface="Calibri"/>
              <a:cs typeface="Calibri"/>
              <a:sym typeface="Calibri"/>
            </a:endParaRPr>
          </a:p>
        </p:txBody>
      </p:sp>
      <p:sp>
        <p:nvSpPr>
          <p:cNvPr id="62" name="Google Shape;62;p5"/>
          <p:cNvSpPr/>
          <p:nvPr/>
        </p:nvSpPr>
        <p:spPr>
          <a:xfrm>
            <a:off x="6766560" y="3858768"/>
            <a:ext cx="4663440" cy="54864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EDE7F2"/>
              </a:buClr>
              <a:buSzPts val="1300"/>
              <a:buFont typeface="Calibri"/>
              <a:buNone/>
            </a:pPr>
            <a:r>
              <a:rPr b="0" i="0" lang="en-US" sz="1300" u="none" cap="none" strike="noStrike">
                <a:solidFill>
                  <a:srgbClr val="EDE7F2"/>
                </a:solidFill>
                <a:latin typeface="Calibri"/>
                <a:ea typeface="Calibri"/>
                <a:cs typeface="Calibri"/>
                <a:sym typeface="Calibri"/>
              </a:rPr>
              <a:t>Mai multe niveluri, un boss final și o condiție clară de victorie.</a:t>
            </a:r>
            <a:endParaRPr b="0" i="0" sz="1300" u="none" cap="none" strike="noStrike">
              <a:solidFill>
                <a:schemeClr val="dk1"/>
              </a:solidFill>
              <a:latin typeface="Calibri"/>
              <a:ea typeface="Calibri"/>
              <a:cs typeface="Calibri"/>
              <a:sym typeface="Calibri"/>
            </a:endParaRPr>
          </a:p>
        </p:txBody>
      </p:sp>
      <p:sp>
        <p:nvSpPr>
          <p:cNvPr id="63" name="Google Shape;63;p5"/>
          <p:cNvSpPr/>
          <p:nvPr/>
        </p:nvSpPr>
        <p:spPr>
          <a:xfrm>
            <a:off x="548640" y="4754880"/>
            <a:ext cx="5394960" cy="1234440"/>
          </a:xfrm>
          <a:prstGeom prst="roundRect">
            <a:avLst>
              <a:gd fmla="val 5926" name="adj"/>
            </a:avLst>
          </a:prstGeom>
          <a:solidFill>
            <a:srgbClr val="241C33"/>
          </a:solidFill>
          <a:ln cap="flat" cmpd="sng" w="9525">
            <a:solidFill>
              <a:srgbClr val="2A7A7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 name="Google Shape;64;p5"/>
          <p:cNvSpPr/>
          <p:nvPr/>
        </p:nvSpPr>
        <p:spPr>
          <a:xfrm>
            <a:off x="804672" y="5047488"/>
            <a:ext cx="128016" cy="128016"/>
          </a:xfrm>
          <a:prstGeom prst="ellipse">
            <a:avLst/>
          </a:prstGeom>
          <a:solidFill>
            <a:srgbClr val="3FB8A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5"/>
          <p:cNvSpPr/>
          <p:nvPr/>
        </p:nvSpPr>
        <p:spPr>
          <a:xfrm>
            <a:off x="1051560" y="4919472"/>
            <a:ext cx="466344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B8AF"/>
              </a:buClr>
              <a:buSzPts val="1550"/>
              <a:buFont typeface="Calibri"/>
              <a:buNone/>
            </a:pPr>
            <a:r>
              <a:rPr b="1" i="0" lang="en-US" sz="1550" u="none" cap="none" strike="noStrike">
                <a:solidFill>
                  <a:srgbClr val="3FB8AF"/>
                </a:solidFill>
                <a:latin typeface="Calibri"/>
                <a:ea typeface="Calibri"/>
                <a:cs typeface="Calibri"/>
                <a:sym typeface="Calibri"/>
              </a:rPr>
              <a:t>Narațiune prin joc</a:t>
            </a:r>
            <a:endParaRPr b="0" i="0" sz="1550" u="none" cap="none" strike="noStrike">
              <a:solidFill>
                <a:schemeClr val="dk1"/>
              </a:solidFill>
              <a:latin typeface="Calibri"/>
              <a:ea typeface="Calibri"/>
              <a:cs typeface="Calibri"/>
              <a:sym typeface="Calibri"/>
            </a:endParaRPr>
          </a:p>
        </p:txBody>
      </p:sp>
      <p:sp>
        <p:nvSpPr>
          <p:cNvPr id="66" name="Google Shape;66;p5"/>
          <p:cNvSpPr/>
          <p:nvPr/>
        </p:nvSpPr>
        <p:spPr>
          <a:xfrm>
            <a:off x="1051560" y="5321808"/>
            <a:ext cx="4663440" cy="54864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EDE7F2"/>
              </a:buClr>
              <a:buSzPts val="1300"/>
              <a:buFont typeface="Calibri"/>
              <a:buNone/>
            </a:pPr>
            <a:r>
              <a:rPr b="0" i="0" lang="en-US" sz="1300" u="none" cap="none" strike="noStrike">
                <a:solidFill>
                  <a:srgbClr val="EDE7F2"/>
                </a:solidFill>
                <a:latin typeface="Calibri"/>
                <a:ea typeface="Calibri"/>
                <a:cs typeface="Calibri"/>
                <a:sym typeface="Calibri"/>
              </a:rPr>
              <a:t>O poveste dezvăluită treptat prin victorii repetate.</a:t>
            </a:r>
            <a:endParaRPr b="0" i="0" sz="1300" u="none" cap="none" strike="noStrike">
              <a:solidFill>
                <a:schemeClr val="dk1"/>
              </a:solidFill>
              <a:latin typeface="Calibri"/>
              <a:ea typeface="Calibri"/>
              <a:cs typeface="Calibri"/>
              <a:sym typeface="Calibri"/>
            </a:endParaRPr>
          </a:p>
        </p:txBody>
      </p:sp>
      <p:sp>
        <p:nvSpPr>
          <p:cNvPr id="67" name="Google Shape;67;p5"/>
          <p:cNvSpPr/>
          <p:nvPr/>
        </p:nvSpPr>
        <p:spPr>
          <a:xfrm>
            <a:off x="6263640" y="4754880"/>
            <a:ext cx="5394960" cy="1234440"/>
          </a:xfrm>
          <a:prstGeom prst="roundRect">
            <a:avLst>
              <a:gd fmla="val 5926" name="adj"/>
            </a:avLst>
          </a:prstGeom>
          <a:solidFill>
            <a:srgbClr val="241C33"/>
          </a:solidFill>
          <a:ln cap="flat" cmpd="sng" w="9525">
            <a:solidFill>
              <a:srgbClr val="2A7A7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5"/>
          <p:cNvSpPr/>
          <p:nvPr/>
        </p:nvSpPr>
        <p:spPr>
          <a:xfrm>
            <a:off x="6519672" y="5047488"/>
            <a:ext cx="128016" cy="128016"/>
          </a:xfrm>
          <a:prstGeom prst="ellipse">
            <a:avLst/>
          </a:prstGeom>
          <a:solidFill>
            <a:srgbClr val="3FB8A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5"/>
          <p:cNvSpPr/>
          <p:nvPr/>
        </p:nvSpPr>
        <p:spPr>
          <a:xfrm>
            <a:off x="6766560" y="4919472"/>
            <a:ext cx="466344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B8AF"/>
              </a:buClr>
              <a:buSzPts val="1550"/>
              <a:buFont typeface="Calibri"/>
              <a:buNone/>
            </a:pPr>
            <a:r>
              <a:rPr b="1" i="0" lang="en-US" sz="1550" u="none" cap="none" strike="noStrike">
                <a:solidFill>
                  <a:srgbClr val="3FB8AF"/>
                </a:solidFill>
                <a:latin typeface="Calibri"/>
                <a:ea typeface="Calibri"/>
                <a:cs typeface="Calibri"/>
                <a:sym typeface="Calibri"/>
              </a:rPr>
              <a:t>Un cadru complet</a:t>
            </a:r>
            <a:endParaRPr b="0" i="0" sz="1550" u="none" cap="none" strike="noStrike">
              <a:solidFill>
                <a:schemeClr val="dk1"/>
              </a:solidFill>
              <a:latin typeface="Calibri"/>
              <a:ea typeface="Calibri"/>
              <a:cs typeface="Calibri"/>
              <a:sym typeface="Calibri"/>
            </a:endParaRPr>
          </a:p>
        </p:txBody>
      </p:sp>
      <p:sp>
        <p:nvSpPr>
          <p:cNvPr id="70" name="Google Shape;70;p5"/>
          <p:cNvSpPr/>
          <p:nvPr/>
        </p:nvSpPr>
        <p:spPr>
          <a:xfrm>
            <a:off x="6766560" y="5321808"/>
            <a:ext cx="4663440" cy="54864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EDE7F2"/>
              </a:buClr>
              <a:buSzPts val="1300"/>
              <a:buFont typeface="Calibri"/>
              <a:buNone/>
            </a:pPr>
            <a:r>
              <a:rPr b="0" i="0" lang="en-US" sz="1300" u="none" cap="none" strike="noStrike">
                <a:solidFill>
                  <a:srgbClr val="EDE7F2"/>
                </a:solidFill>
                <a:latin typeface="Calibri"/>
                <a:ea typeface="Calibri"/>
                <a:cs typeface="Calibri"/>
                <a:sym typeface="Calibri"/>
              </a:rPr>
              <a:t>Meniuri, HUD, minimap, salvare, clasament online.</a:t>
            </a:r>
            <a:endParaRPr b="0" i="0" sz="1300" u="none" cap="none" strike="noStrike">
              <a:solidFill>
                <a:schemeClr val="dk1"/>
              </a:solidFill>
              <a:latin typeface="Calibri"/>
              <a:ea typeface="Calibri"/>
              <a:cs typeface="Calibri"/>
              <a:sym typeface="Calibri"/>
            </a:endParaRPr>
          </a:p>
        </p:txBody>
      </p:sp>
      <p:sp>
        <p:nvSpPr>
          <p:cNvPr id="71" name="Google Shape;71;p5"/>
          <p:cNvSpPr/>
          <p:nvPr/>
        </p:nvSpPr>
        <p:spPr>
          <a:xfrm>
            <a:off x="11521440" y="6400800"/>
            <a:ext cx="4572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9A8FA8"/>
              </a:buClr>
              <a:buSzPts val="1000"/>
              <a:buFont typeface="Calibri"/>
              <a:buNone/>
            </a:pPr>
            <a:r>
              <a:rPr b="0" i="0" lang="en-US" sz="1000" u="none" cap="none" strike="noStrike">
                <a:solidFill>
                  <a:srgbClr val="9A8FA8"/>
                </a:solidFill>
                <a:latin typeface="Calibri"/>
                <a:ea typeface="Calibri"/>
                <a:cs typeface="Calibri"/>
                <a:sym typeface="Calibri"/>
              </a:rPr>
              <a:t>3</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1526"/>
        </a:solidFill>
      </p:bgPr>
    </p:bg>
    <p:spTree>
      <p:nvGrpSpPr>
        <p:cNvPr id="76" name="Shape 76"/>
        <p:cNvGrpSpPr/>
        <p:nvPr/>
      </p:nvGrpSpPr>
      <p:grpSpPr>
        <a:xfrm>
          <a:off x="0" y="0"/>
          <a:ext cx="0" cy="0"/>
          <a:chOff x="0" y="0"/>
          <a:chExt cx="0" cy="0"/>
        </a:xfrm>
      </p:grpSpPr>
      <p:sp>
        <p:nvSpPr>
          <p:cNvPr id="77" name="Google Shape;77;p6"/>
          <p:cNvSpPr/>
          <p:nvPr/>
        </p:nvSpPr>
        <p:spPr>
          <a:xfrm>
            <a:off x="548640" y="384048"/>
            <a:ext cx="10515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FB8AF"/>
              </a:buClr>
              <a:buSzPts val="1200"/>
              <a:buFont typeface="Calibri"/>
              <a:buNone/>
            </a:pPr>
            <a:r>
              <a:rPr b="1" i="0" lang="en-US" sz="1200" u="none" cap="none" strike="noStrike">
                <a:solidFill>
                  <a:srgbClr val="3FB8AF"/>
                </a:solidFill>
                <a:latin typeface="Calibri"/>
                <a:ea typeface="Calibri"/>
                <a:cs typeface="Calibri"/>
                <a:sym typeface="Calibri"/>
              </a:rPr>
              <a:t>STADIUL ACTUAL</a:t>
            </a:r>
            <a:endParaRPr b="0" i="0" sz="1200" u="none" cap="none" strike="noStrike">
              <a:solidFill>
                <a:schemeClr val="dk1"/>
              </a:solidFill>
              <a:latin typeface="Calibri"/>
              <a:ea typeface="Calibri"/>
              <a:cs typeface="Calibri"/>
              <a:sym typeface="Calibri"/>
            </a:endParaRPr>
          </a:p>
        </p:txBody>
      </p:sp>
      <p:sp>
        <p:nvSpPr>
          <p:cNvPr id="78" name="Google Shape;78;p6"/>
          <p:cNvSpPr/>
          <p:nvPr/>
        </p:nvSpPr>
        <p:spPr>
          <a:xfrm>
            <a:off x="548640" y="640080"/>
            <a:ext cx="11064240" cy="8229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DE7F2"/>
              </a:buClr>
              <a:buSzPts val="3200"/>
              <a:buFont typeface="Cambria"/>
              <a:buNone/>
            </a:pPr>
            <a:r>
              <a:rPr b="1" i="0" lang="en-US" sz="3200" u="none" cap="none" strike="noStrike">
                <a:solidFill>
                  <a:srgbClr val="EDE7F2"/>
                </a:solidFill>
                <a:latin typeface="Cambria"/>
                <a:ea typeface="Cambria"/>
                <a:cs typeface="Cambria"/>
                <a:sym typeface="Cambria"/>
              </a:rPr>
              <a:t>Unde se situează Katagma</a:t>
            </a:r>
            <a:endParaRPr b="0" i="0" sz="3200" u="none" cap="none" strike="noStrike">
              <a:solidFill>
                <a:schemeClr val="dk1"/>
              </a:solidFill>
              <a:latin typeface="Calibri"/>
              <a:ea typeface="Calibri"/>
              <a:cs typeface="Calibri"/>
              <a:sym typeface="Calibri"/>
            </a:endParaRPr>
          </a:p>
        </p:txBody>
      </p:sp>
      <p:sp>
        <p:nvSpPr>
          <p:cNvPr id="79" name="Google Shape;79;p6"/>
          <p:cNvSpPr/>
          <p:nvPr/>
        </p:nvSpPr>
        <p:spPr>
          <a:xfrm>
            <a:off x="548640" y="1783080"/>
            <a:ext cx="11064240" cy="82296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EDE7F2"/>
              </a:buClr>
              <a:buSzPts val="1450"/>
              <a:buFont typeface="Calibri"/>
              <a:buNone/>
            </a:pPr>
            <a:r>
              <a:rPr b="0" i="0" lang="en-US" sz="1450" u="none" cap="none" strike="noStrike">
                <a:solidFill>
                  <a:srgbClr val="EDE7F2"/>
                </a:solidFill>
                <a:latin typeface="Calibri"/>
                <a:ea typeface="Calibri"/>
                <a:cs typeface="Calibri"/>
                <a:sym typeface="Calibri"/>
              </a:rPr>
              <a:t>Genul roguelike îmbină generarea procedurală cu permadeath. Katagma urmează ramura top-down cu camere </a:t>
            </a:r>
            <a:r>
              <a:rPr lang="en-US" sz="1450">
                <a:solidFill>
                  <a:srgbClr val="EDE7F2"/>
                </a:solidFill>
                <a:latin typeface="Calibri"/>
                <a:ea typeface="Calibri"/>
                <a:cs typeface="Calibri"/>
                <a:sym typeface="Calibri"/>
              </a:rPr>
              <a:t>-</a:t>
            </a:r>
            <a:r>
              <a:rPr b="0" i="0" lang="en-US" sz="1450" u="none" cap="none" strike="noStrike">
                <a:solidFill>
                  <a:srgbClr val="EDE7F2"/>
                </a:solidFill>
                <a:latin typeface="Calibri"/>
                <a:ea typeface="Calibri"/>
                <a:cs typeface="Calibri"/>
                <a:sym typeface="Calibri"/>
              </a:rPr>
              <a:t> cel mai aproape de The Binding of Isaac </a:t>
            </a:r>
            <a:r>
              <a:rPr lang="en-US" sz="1450">
                <a:solidFill>
                  <a:srgbClr val="EDE7F2"/>
                </a:solidFill>
                <a:latin typeface="Calibri"/>
                <a:ea typeface="Calibri"/>
                <a:cs typeface="Calibri"/>
                <a:sym typeface="Calibri"/>
              </a:rPr>
              <a:t>-</a:t>
            </a:r>
            <a:r>
              <a:rPr b="0" i="0" lang="en-US" sz="1450" u="none" cap="none" strike="noStrike">
                <a:solidFill>
                  <a:srgbClr val="EDE7F2"/>
                </a:solidFill>
                <a:latin typeface="Calibri"/>
                <a:ea typeface="Calibri"/>
                <a:cs typeface="Calibri"/>
                <a:sym typeface="Calibri"/>
              </a:rPr>
              <a:t> și adoptă poziții proprii, alese deliberat.</a:t>
            </a:r>
            <a:endParaRPr b="0" i="0" sz="1450" u="none" cap="none" strike="noStrike">
              <a:solidFill>
                <a:schemeClr val="dk1"/>
              </a:solidFill>
              <a:latin typeface="Calibri"/>
              <a:ea typeface="Calibri"/>
              <a:cs typeface="Calibri"/>
              <a:sym typeface="Calibri"/>
            </a:endParaRPr>
          </a:p>
        </p:txBody>
      </p:sp>
      <p:sp>
        <p:nvSpPr>
          <p:cNvPr id="80" name="Google Shape;80;p6"/>
          <p:cNvSpPr/>
          <p:nvPr/>
        </p:nvSpPr>
        <p:spPr>
          <a:xfrm>
            <a:off x="548640" y="2743200"/>
            <a:ext cx="301752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p:txBody>
      </p:sp>
      <p:sp>
        <p:nvSpPr>
          <p:cNvPr id="81" name="Google Shape;81;p6"/>
          <p:cNvSpPr/>
          <p:nvPr/>
        </p:nvSpPr>
        <p:spPr>
          <a:xfrm>
            <a:off x="3566160" y="2743200"/>
            <a:ext cx="201168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A8FA8"/>
              </a:buClr>
              <a:buSzPts val="1400"/>
              <a:buFont typeface="Calibri"/>
              <a:buNone/>
            </a:pPr>
            <a:r>
              <a:rPr b="1" i="0" lang="en-US" sz="1400" u="none" cap="none" strike="noStrike">
                <a:solidFill>
                  <a:srgbClr val="9A8FA8"/>
                </a:solidFill>
                <a:latin typeface="Calibri"/>
                <a:ea typeface="Calibri"/>
                <a:cs typeface="Calibri"/>
                <a:sym typeface="Calibri"/>
              </a:rPr>
              <a:t>Isaac</a:t>
            </a:r>
            <a:endParaRPr b="0" i="0" sz="1400" u="none" cap="none" strike="noStrike">
              <a:solidFill>
                <a:schemeClr val="dk1"/>
              </a:solidFill>
              <a:latin typeface="Calibri"/>
              <a:ea typeface="Calibri"/>
              <a:cs typeface="Calibri"/>
              <a:sym typeface="Calibri"/>
            </a:endParaRPr>
          </a:p>
        </p:txBody>
      </p:sp>
      <p:sp>
        <p:nvSpPr>
          <p:cNvPr id="82" name="Google Shape;82;p6"/>
          <p:cNvSpPr/>
          <p:nvPr/>
        </p:nvSpPr>
        <p:spPr>
          <a:xfrm>
            <a:off x="5577840" y="2743200"/>
            <a:ext cx="201168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A8FA8"/>
              </a:buClr>
              <a:buSzPts val="1400"/>
              <a:buFont typeface="Calibri"/>
              <a:buNone/>
            </a:pPr>
            <a:r>
              <a:rPr b="1" i="0" lang="en-US" sz="1400" u="none" cap="none" strike="noStrike">
                <a:solidFill>
                  <a:srgbClr val="9A8FA8"/>
                </a:solidFill>
                <a:latin typeface="Calibri"/>
                <a:ea typeface="Calibri"/>
                <a:cs typeface="Calibri"/>
                <a:sym typeface="Calibri"/>
              </a:rPr>
              <a:t>Dead Cells</a:t>
            </a:r>
            <a:endParaRPr b="0" i="0" sz="1400" u="none" cap="none" strike="noStrike">
              <a:solidFill>
                <a:schemeClr val="dk1"/>
              </a:solidFill>
              <a:latin typeface="Calibri"/>
              <a:ea typeface="Calibri"/>
              <a:cs typeface="Calibri"/>
              <a:sym typeface="Calibri"/>
            </a:endParaRPr>
          </a:p>
        </p:txBody>
      </p:sp>
      <p:sp>
        <p:nvSpPr>
          <p:cNvPr id="83" name="Google Shape;83;p6"/>
          <p:cNvSpPr/>
          <p:nvPr/>
        </p:nvSpPr>
        <p:spPr>
          <a:xfrm>
            <a:off x="7589520" y="2743200"/>
            <a:ext cx="201168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A8FA8"/>
              </a:buClr>
              <a:buSzPts val="1400"/>
              <a:buFont typeface="Calibri"/>
              <a:buNone/>
            </a:pPr>
            <a:r>
              <a:rPr b="1" i="0" lang="en-US" sz="1400" u="none" cap="none" strike="noStrike">
                <a:solidFill>
                  <a:srgbClr val="9A8FA8"/>
                </a:solidFill>
                <a:latin typeface="Calibri"/>
                <a:ea typeface="Calibri"/>
                <a:cs typeface="Calibri"/>
                <a:sym typeface="Calibri"/>
              </a:rPr>
              <a:t>Hades</a:t>
            </a:r>
            <a:endParaRPr b="0" i="0" sz="1400" u="none" cap="none" strike="noStrike">
              <a:solidFill>
                <a:schemeClr val="dk1"/>
              </a:solidFill>
              <a:latin typeface="Calibri"/>
              <a:ea typeface="Calibri"/>
              <a:cs typeface="Calibri"/>
              <a:sym typeface="Calibri"/>
            </a:endParaRPr>
          </a:p>
        </p:txBody>
      </p:sp>
      <p:sp>
        <p:nvSpPr>
          <p:cNvPr id="84" name="Google Shape;84;p6"/>
          <p:cNvSpPr/>
          <p:nvPr/>
        </p:nvSpPr>
        <p:spPr>
          <a:xfrm>
            <a:off x="9601200" y="2743200"/>
            <a:ext cx="201168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FB8AF"/>
              </a:buClr>
              <a:buSzPts val="1400"/>
              <a:buFont typeface="Calibri"/>
              <a:buNone/>
            </a:pPr>
            <a:r>
              <a:rPr b="1" i="0" lang="en-US" sz="1400" u="none" cap="none" strike="noStrike">
                <a:solidFill>
                  <a:srgbClr val="3FB8AF"/>
                </a:solidFill>
                <a:latin typeface="Calibri"/>
                <a:ea typeface="Calibri"/>
                <a:cs typeface="Calibri"/>
                <a:sym typeface="Calibri"/>
              </a:rPr>
              <a:t>Katagma</a:t>
            </a:r>
            <a:endParaRPr b="0" i="0" sz="1400" u="none" cap="none" strike="noStrike">
              <a:solidFill>
                <a:schemeClr val="dk1"/>
              </a:solidFill>
              <a:latin typeface="Calibri"/>
              <a:ea typeface="Calibri"/>
              <a:cs typeface="Calibri"/>
              <a:sym typeface="Calibri"/>
            </a:endParaRPr>
          </a:p>
        </p:txBody>
      </p:sp>
      <p:sp>
        <p:nvSpPr>
          <p:cNvPr id="85" name="Google Shape;85;p6"/>
          <p:cNvSpPr/>
          <p:nvPr/>
        </p:nvSpPr>
        <p:spPr>
          <a:xfrm>
            <a:off x="548640" y="3154680"/>
            <a:ext cx="11064240" cy="530352"/>
          </a:xfrm>
          <a:prstGeom prst="rect">
            <a:avLst/>
          </a:prstGeom>
          <a:solidFill>
            <a:srgbClr val="241C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6"/>
          <p:cNvSpPr/>
          <p:nvPr/>
        </p:nvSpPr>
        <p:spPr>
          <a:xfrm>
            <a:off x="548640" y="3200400"/>
            <a:ext cx="301752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DE7F2"/>
              </a:buClr>
              <a:buSzPts val="1300"/>
              <a:buFont typeface="Calibri"/>
              <a:buNone/>
            </a:pPr>
            <a:r>
              <a:rPr b="0" i="0" lang="en-US" sz="1300" u="none" cap="none" strike="noStrike">
                <a:solidFill>
                  <a:srgbClr val="EDE7F2"/>
                </a:solidFill>
                <a:latin typeface="Calibri"/>
                <a:ea typeface="Calibri"/>
                <a:cs typeface="Calibri"/>
                <a:sym typeface="Calibri"/>
              </a:rPr>
              <a:t>Structură pe camere</a:t>
            </a:r>
            <a:endParaRPr b="0" i="0" sz="1300" u="none" cap="none" strike="noStrike">
              <a:solidFill>
                <a:schemeClr val="dk1"/>
              </a:solidFill>
              <a:latin typeface="Calibri"/>
              <a:ea typeface="Calibri"/>
              <a:cs typeface="Calibri"/>
              <a:sym typeface="Calibri"/>
            </a:endParaRPr>
          </a:p>
        </p:txBody>
      </p:sp>
      <p:sp>
        <p:nvSpPr>
          <p:cNvPr id="87" name="Google Shape;87;p6"/>
          <p:cNvSpPr/>
          <p:nvPr/>
        </p:nvSpPr>
        <p:spPr>
          <a:xfrm>
            <a:off x="3566160" y="3200400"/>
            <a:ext cx="201168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A8FA8"/>
              </a:buClr>
              <a:buSzPts val="1300"/>
              <a:buFont typeface="Calibri"/>
              <a:buNone/>
            </a:pPr>
            <a:r>
              <a:rPr b="0" i="0" lang="en-US" sz="1300" u="none" cap="none" strike="noStrike">
                <a:solidFill>
                  <a:srgbClr val="9A8FA8"/>
                </a:solidFill>
                <a:latin typeface="Calibri"/>
                <a:ea typeface="Calibri"/>
                <a:cs typeface="Calibri"/>
                <a:sym typeface="Calibri"/>
              </a:rPr>
              <a:t>Da</a:t>
            </a:r>
            <a:endParaRPr b="0" i="0" sz="1300" u="none" cap="none" strike="noStrike">
              <a:solidFill>
                <a:schemeClr val="dk1"/>
              </a:solidFill>
              <a:latin typeface="Calibri"/>
              <a:ea typeface="Calibri"/>
              <a:cs typeface="Calibri"/>
              <a:sym typeface="Calibri"/>
            </a:endParaRPr>
          </a:p>
        </p:txBody>
      </p:sp>
      <p:sp>
        <p:nvSpPr>
          <p:cNvPr id="88" name="Google Shape;88;p6"/>
          <p:cNvSpPr/>
          <p:nvPr/>
        </p:nvSpPr>
        <p:spPr>
          <a:xfrm>
            <a:off x="5577840" y="3200400"/>
            <a:ext cx="201168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A8FA8"/>
              </a:buClr>
              <a:buSzPts val="1300"/>
              <a:buFont typeface="Calibri"/>
              <a:buNone/>
            </a:pPr>
            <a:r>
              <a:rPr b="0" i="0" lang="en-US" sz="1300" u="none" cap="none" strike="noStrike">
                <a:solidFill>
                  <a:srgbClr val="9A8FA8"/>
                </a:solidFill>
                <a:latin typeface="Calibri"/>
                <a:ea typeface="Calibri"/>
                <a:cs typeface="Calibri"/>
                <a:sym typeface="Calibri"/>
              </a:rPr>
              <a:t>Parțial</a:t>
            </a:r>
            <a:endParaRPr b="0" i="0" sz="1300" u="none" cap="none" strike="noStrike">
              <a:solidFill>
                <a:schemeClr val="dk1"/>
              </a:solidFill>
              <a:latin typeface="Calibri"/>
              <a:ea typeface="Calibri"/>
              <a:cs typeface="Calibri"/>
              <a:sym typeface="Calibri"/>
            </a:endParaRPr>
          </a:p>
        </p:txBody>
      </p:sp>
      <p:sp>
        <p:nvSpPr>
          <p:cNvPr id="89" name="Google Shape;89;p6"/>
          <p:cNvSpPr/>
          <p:nvPr/>
        </p:nvSpPr>
        <p:spPr>
          <a:xfrm>
            <a:off x="7589520" y="3200400"/>
            <a:ext cx="201168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A8FA8"/>
              </a:buClr>
              <a:buSzPts val="1300"/>
              <a:buFont typeface="Calibri"/>
              <a:buNone/>
            </a:pPr>
            <a:r>
              <a:rPr b="0" i="0" lang="en-US" sz="1300" u="none" cap="none" strike="noStrike">
                <a:solidFill>
                  <a:srgbClr val="9A8FA8"/>
                </a:solidFill>
                <a:latin typeface="Calibri"/>
                <a:ea typeface="Calibri"/>
                <a:cs typeface="Calibri"/>
                <a:sym typeface="Calibri"/>
              </a:rPr>
              <a:t>Da</a:t>
            </a:r>
            <a:endParaRPr b="0" i="0" sz="1300" u="none" cap="none" strike="noStrike">
              <a:solidFill>
                <a:schemeClr val="dk1"/>
              </a:solidFill>
              <a:latin typeface="Calibri"/>
              <a:ea typeface="Calibri"/>
              <a:cs typeface="Calibri"/>
              <a:sym typeface="Calibri"/>
            </a:endParaRPr>
          </a:p>
        </p:txBody>
      </p:sp>
      <p:sp>
        <p:nvSpPr>
          <p:cNvPr id="90" name="Google Shape;90;p6"/>
          <p:cNvSpPr/>
          <p:nvPr/>
        </p:nvSpPr>
        <p:spPr>
          <a:xfrm>
            <a:off x="9601200" y="3200400"/>
            <a:ext cx="201168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FB8AF"/>
              </a:buClr>
              <a:buSzPts val="1300"/>
              <a:buFont typeface="Calibri"/>
              <a:buNone/>
            </a:pPr>
            <a:r>
              <a:rPr b="1" i="0" lang="en-US" sz="1300" u="none" cap="none" strike="noStrike">
                <a:solidFill>
                  <a:srgbClr val="3FB8AF"/>
                </a:solidFill>
                <a:latin typeface="Calibri"/>
                <a:ea typeface="Calibri"/>
                <a:cs typeface="Calibri"/>
                <a:sym typeface="Calibri"/>
              </a:rPr>
              <a:t>Da</a:t>
            </a:r>
            <a:endParaRPr b="0" i="0" sz="1300" u="none" cap="none" strike="noStrike">
              <a:solidFill>
                <a:schemeClr val="dk1"/>
              </a:solidFill>
              <a:latin typeface="Calibri"/>
              <a:ea typeface="Calibri"/>
              <a:cs typeface="Calibri"/>
              <a:sym typeface="Calibri"/>
            </a:endParaRPr>
          </a:p>
        </p:txBody>
      </p:sp>
      <p:sp>
        <p:nvSpPr>
          <p:cNvPr id="91" name="Google Shape;91;p6"/>
          <p:cNvSpPr/>
          <p:nvPr/>
        </p:nvSpPr>
        <p:spPr>
          <a:xfrm>
            <a:off x="548640" y="3767328"/>
            <a:ext cx="301752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DE7F2"/>
              </a:buClr>
              <a:buSzPts val="1300"/>
              <a:buFont typeface="Calibri"/>
              <a:buNone/>
            </a:pPr>
            <a:r>
              <a:rPr b="0" i="0" lang="en-US" sz="1300" u="none" cap="none" strike="noStrike">
                <a:solidFill>
                  <a:srgbClr val="EDE7F2"/>
                </a:solidFill>
                <a:latin typeface="Calibri"/>
                <a:ea typeface="Calibri"/>
                <a:cs typeface="Calibri"/>
                <a:sym typeface="Calibri"/>
              </a:rPr>
              <a:t>Putere între partide</a:t>
            </a:r>
            <a:endParaRPr b="0" i="0" sz="1300" u="none" cap="none" strike="noStrike">
              <a:solidFill>
                <a:schemeClr val="dk1"/>
              </a:solidFill>
              <a:latin typeface="Calibri"/>
              <a:ea typeface="Calibri"/>
              <a:cs typeface="Calibri"/>
              <a:sym typeface="Calibri"/>
            </a:endParaRPr>
          </a:p>
        </p:txBody>
      </p:sp>
      <p:sp>
        <p:nvSpPr>
          <p:cNvPr id="92" name="Google Shape;92;p6"/>
          <p:cNvSpPr/>
          <p:nvPr/>
        </p:nvSpPr>
        <p:spPr>
          <a:xfrm>
            <a:off x="3566160" y="3767328"/>
            <a:ext cx="201168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A8FA8"/>
              </a:buClr>
              <a:buSzPts val="1300"/>
              <a:buFont typeface="Calibri"/>
              <a:buNone/>
            </a:pPr>
            <a:r>
              <a:rPr b="0" i="0" lang="en-US" sz="1300" u="none" cap="none" strike="noStrike">
                <a:solidFill>
                  <a:srgbClr val="9A8FA8"/>
                </a:solidFill>
                <a:latin typeface="Calibri"/>
                <a:ea typeface="Calibri"/>
                <a:cs typeface="Calibri"/>
                <a:sym typeface="Calibri"/>
              </a:rPr>
              <a:t>Nu</a:t>
            </a:r>
            <a:endParaRPr b="0" i="0" sz="1300" u="none" cap="none" strike="noStrike">
              <a:solidFill>
                <a:schemeClr val="dk1"/>
              </a:solidFill>
              <a:latin typeface="Calibri"/>
              <a:ea typeface="Calibri"/>
              <a:cs typeface="Calibri"/>
              <a:sym typeface="Calibri"/>
            </a:endParaRPr>
          </a:p>
        </p:txBody>
      </p:sp>
      <p:sp>
        <p:nvSpPr>
          <p:cNvPr id="93" name="Google Shape;93;p6"/>
          <p:cNvSpPr/>
          <p:nvPr/>
        </p:nvSpPr>
        <p:spPr>
          <a:xfrm>
            <a:off x="5577840" y="3767328"/>
            <a:ext cx="201168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A8FA8"/>
              </a:buClr>
              <a:buSzPts val="1300"/>
              <a:buFont typeface="Calibri"/>
              <a:buNone/>
            </a:pPr>
            <a:r>
              <a:rPr b="0" i="0" lang="en-US" sz="1300" u="none" cap="none" strike="noStrike">
                <a:solidFill>
                  <a:srgbClr val="9A8FA8"/>
                </a:solidFill>
                <a:latin typeface="Calibri"/>
                <a:ea typeface="Calibri"/>
                <a:cs typeface="Calibri"/>
                <a:sym typeface="Calibri"/>
              </a:rPr>
              <a:t>Da</a:t>
            </a:r>
            <a:endParaRPr b="0" i="0" sz="1300" u="none" cap="none" strike="noStrike">
              <a:solidFill>
                <a:schemeClr val="dk1"/>
              </a:solidFill>
              <a:latin typeface="Calibri"/>
              <a:ea typeface="Calibri"/>
              <a:cs typeface="Calibri"/>
              <a:sym typeface="Calibri"/>
            </a:endParaRPr>
          </a:p>
        </p:txBody>
      </p:sp>
      <p:sp>
        <p:nvSpPr>
          <p:cNvPr id="94" name="Google Shape;94;p6"/>
          <p:cNvSpPr/>
          <p:nvPr/>
        </p:nvSpPr>
        <p:spPr>
          <a:xfrm>
            <a:off x="7589520" y="3767328"/>
            <a:ext cx="201168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A8FA8"/>
              </a:buClr>
              <a:buSzPts val="1300"/>
              <a:buFont typeface="Calibri"/>
              <a:buNone/>
            </a:pPr>
            <a:r>
              <a:rPr b="0" i="0" lang="en-US" sz="1300" u="none" cap="none" strike="noStrike">
                <a:solidFill>
                  <a:srgbClr val="9A8FA8"/>
                </a:solidFill>
                <a:latin typeface="Calibri"/>
                <a:ea typeface="Calibri"/>
                <a:cs typeface="Calibri"/>
                <a:sym typeface="Calibri"/>
              </a:rPr>
              <a:t>Da</a:t>
            </a:r>
            <a:endParaRPr b="0" i="0" sz="1300" u="none" cap="none" strike="noStrike">
              <a:solidFill>
                <a:schemeClr val="dk1"/>
              </a:solidFill>
              <a:latin typeface="Calibri"/>
              <a:ea typeface="Calibri"/>
              <a:cs typeface="Calibri"/>
              <a:sym typeface="Calibri"/>
            </a:endParaRPr>
          </a:p>
        </p:txBody>
      </p:sp>
      <p:sp>
        <p:nvSpPr>
          <p:cNvPr id="95" name="Google Shape;95;p6"/>
          <p:cNvSpPr/>
          <p:nvPr/>
        </p:nvSpPr>
        <p:spPr>
          <a:xfrm>
            <a:off x="9601200" y="3767328"/>
            <a:ext cx="201168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FB8AF"/>
              </a:buClr>
              <a:buSzPts val="1300"/>
              <a:buFont typeface="Calibri"/>
              <a:buNone/>
            </a:pPr>
            <a:r>
              <a:rPr b="1" i="0" lang="en-US" sz="1300" u="none" cap="none" strike="noStrike">
                <a:solidFill>
                  <a:srgbClr val="3FB8AF"/>
                </a:solidFill>
                <a:latin typeface="Calibri"/>
                <a:ea typeface="Calibri"/>
                <a:cs typeface="Calibri"/>
                <a:sym typeface="Calibri"/>
              </a:rPr>
              <a:t>Nu</a:t>
            </a:r>
            <a:endParaRPr b="0" i="0" sz="1300" u="none" cap="none" strike="noStrike">
              <a:solidFill>
                <a:schemeClr val="dk1"/>
              </a:solidFill>
              <a:latin typeface="Calibri"/>
              <a:ea typeface="Calibri"/>
              <a:cs typeface="Calibri"/>
              <a:sym typeface="Calibri"/>
            </a:endParaRPr>
          </a:p>
        </p:txBody>
      </p:sp>
      <p:sp>
        <p:nvSpPr>
          <p:cNvPr id="96" name="Google Shape;96;p6"/>
          <p:cNvSpPr/>
          <p:nvPr/>
        </p:nvSpPr>
        <p:spPr>
          <a:xfrm>
            <a:off x="548640" y="4288536"/>
            <a:ext cx="11064240" cy="530352"/>
          </a:xfrm>
          <a:prstGeom prst="rect">
            <a:avLst/>
          </a:prstGeom>
          <a:solidFill>
            <a:srgbClr val="241C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6"/>
          <p:cNvSpPr/>
          <p:nvPr/>
        </p:nvSpPr>
        <p:spPr>
          <a:xfrm>
            <a:off x="548640" y="4334256"/>
            <a:ext cx="301752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DE7F2"/>
              </a:buClr>
              <a:buSzPts val="1300"/>
              <a:buFont typeface="Calibri"/>
              <a:buNone/>
            </a:pPr>
            <a:r>
              <a:rPr b="0" i="0" lang="en-US" sz="1300" u="none" cap="none" strike="noStrike">
                <a:solidFill>
                  <a:srgbClr val="EDE7F2"/>
                </a:solidFill>
                <a:latin typeface="Calibri"/>
                <a:ea typeface="Calibri"/>
                <a:cs typeface="Calibri"/>
                <a:sym typeface="Calibri"/>
              </a:rPr>
              <a:t>Doar upgrade-uri pasive</a:t>
            </a:r>
            <a:endParaRPr b="0" i="0" sz="1300" u="none" cap="none" strike="noStrike">
              <a:solidFill>
                <a:schemeClr val="dk1"/>
              </a:solidFill>
              <a:latin typeface="Calibri"/>
              <a:ea typeface="Calibri"/>
              <a:cs typeface="Calibri"/>
              <a:sym typeface="Calibri"/>
            </a:endParaRPr>
          </a:p>
        </p:txBody>
      </p:sp>
      <p:sp>
        <p:nvSpPr>
          <p:cNvPr id="98" name="Google Shape;98;p6"/>
          <p:cNvSpPr/>
          <p:nvPr/>
        </p:nvSpPr>
        <p:spPr>
          <a:xfrm>
            <a:off x="3566160" y="4334256"/>
            <a:ext cx="201168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A8FA8"/>
              </a:buClr>
              <a:buSzPts val="1300"/>
              <a:buFont typeface="Calibri"/>
              <a:buNone/>
            </a:pPr>
            <a:r>
              <a:rPr b="0" i="0" lang="en-US" sz="1300" u="none" cap="none" strike="noStrike">
                <a:solidFill>
                  <a:srgbClr val="9A8FA8"/>
                </a:solidFill>
                <a:latin typeface="Calibri"/>
                <a:ea typeface="Calibri"/>
                <a:cs typeface="Calibri"/>
                <a:sym typeface="Calibri"/>
              </a:rPr>
              <a:t>În mare</a:t>
            </a:r>
            <a:endParaRPr b="0" i="0" sz="1300" u="none" cap="none" strike="noStrike">
              <a:solidFill>
                <a:schemeClr val="dk1"/>
              </a:solidFill>
              <a:latin typeface="Calibri"/>
              <a:ea typeface="Calibri"/>
              <a:cs typeface="Calibri"/>
              <a:sym typeface="Calibri"/>
            </a:endParaRPr>
          </a:p>
        </p:txBody>
      </p:sp>
      <p:sp>
        <p:nvSpPr>
          <p:cNvPr id="99" name="Google Shape;99;p6"/>
          <p:cNvSpPr/>
          <p:nvPr/>
        </p:nvSpPr>
        <p:spPr>
          <a:xfrm>
            <a:off x="5577840" y="4334256"/>
            <a:ext cx="201168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A8FA8"/>
              </a:buClr>
              <a:buSzPts val="1300"/>
              <a:buFont typeface="Calibri"/>
              <a:buNone/>
            </a:pPr>
            <a:r>
              <a:rPr b="0" i="0" lang="en-US" sz="1300" u="none" cap="none" strike="noStrike">
                <a:solidFill>
                  <a:srgbClr val="9A8FA8"/>
                </a:solidFill>
                <a:latin typeface="Calibri"/>
                <a:ea typeface="Calibri"/>
                <a:cs typeface="Calibri"/>
                <a:sym typeface="Calibri"/>
              </a:rPr>
              <a:t>Nu</a:t>
            </a:r>
            <a:endParaRPr b="0" i="0" sz="1300" u="none" cap="none" strike="noStrike">
              <a:solidFill>
                <a:schemeClr val="dk1"/>
              </a:solidFill>
              <a:latin typeface="Calibri"/>
              <a:ea typeface="Calibri"/>
              <a:cs typeface="Calibri"/>
              <a:sym typeface="Calibri"/>
            </a:endParaRPr>
          </a:p>
        </p:txBody>
      </p:sp>
      <p:sp>
        <p:nvSpPr>
          <p:cNvPr id="100" name="Google Shape;100;p6"/>
          <p:cNvSpPr/>
          <p:nvPr/>
        </p:nvSpPr>
        <p:spPr>
          <a:xfrm>
            <a:off x="7589520" y="4334256"/>
            <a:ext cx="201168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A8FA8"/>
              </a:buClr>
              <a:buSzPts val="1300"/>
              <a:buFont typeface="Calibri"/>
              <a:buNone/>
            </a:pPr>
            <a:r>
              <a:rPr b="0" i="0" lang="en-US" sz="1300" u="none" cap="none" strike="noStrike">
                <a:solidFill>
                  <a:srgbClr val="9A8FA8"/>
                </a:solidFill>
                <a:latin typeface="Calibri"/>
                <a:ea typeface="Calibri"/>
                <a:cs typeface="Calibri"/>
                <a:sym typeface="Calibri"/>
              </a:rPr>
              <a:t>Nu</a:t>
            </a:r>
            <a:endParaRPr b="0" i="0" sz="1300" u="none" cap="none" strike="noStrike">
              <a:solidFill>
                <a:schemeClr val="dk1"/>
              </a:solidFill>
              <a:latin typeface="Calibri"/>
              <a:ea typeface="Calibri"/>
              <a:cs typeface="Calibri"/>
              <a:sym typeface="Calibri"/>
            </a:endParaRPr>
          </a:p>
        </p:txBody>
      </p:sp>
      <p:sp>
        <p:nvSpPr>
          <p:cNvPr id="101" name="Google Shape;101;p6"/>
          <p:cNvSpPr/>
          <p:nvPr/>
        </p:nvSpPr>
        <p:spPr>
          <a:xfrm>
            <a:off x="9601200" y="4334256"/>
            <a:ext cx="201168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FB8AF"/>
              </a:buClr>
              <a:buSzPts val="1300"/>
              <a:buFont typeface="Calibri"/>
              <a:buNone/>
            </a:pPr>
            <a:r>
              <a:rPr b="1" i="0" lang="en-US" sz="1300" u="none" cap="none" strike="noStrike">
                <a:solidFill>
                  <a:srgbClr val="3FB8AF"/>
                </a:solidFill>
                <a:latin typeface="Calibri"/>
                <a:ea typeface="Calibri"/>
                <a:cs typeface="Calibri"/>
                <a:sym typeface="Calibri"/>
              </a:rPr>
              <a:t>Da</a:t>
            </a:r>
            <a:endParaRPr b="0" i="0" sz="1300" u="none" cap="none" strike="noStrike">
              <a:solidFill>
                <a:schemeClr val="dk1"/>
              </a:solidFill>
              <a:latin typeface="Calibri"/>
              <a:ea typeface="Calibri"/>
              <a:cs typeface="Calibri"/>
              <a:sym typeface="Calibri"/>
            </a:endParaRPr>
          </a:p>
        </p:txBody>
      </p:sp>
      <p:sp>
        <p:nvSpPr>
          <p:cNvPr id="102" name="Google Shape;102;p6"/>
          <p:cNvSpPr/>
          <p:nvPr/>
        </p:nvSpPr>
        <p:spPr>
          <a:xfrm>
            <a:off x="548640" y="4901184"/>
            <a:ext cx="301752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DE7F2"/>
              </a:buClr>
              <a:buSzPts val="1300"/>
              <a:buFont typeface="Calibri"/>
              <a:buNone/>
            </a:pPr>
            <a:r>
              <a:rPr b="0" i="0" lang="en-US" sz="1300" u="none" cap="none" strike="noStrike">
                <a:solidFill>
                  <a:srgbClr val="EDE7F2"/>
                </a:solidFill>
                <a:latin typeface="Calibri"/>
                <a:ea typeface="Calibri"/>
                <a:cs typeface="Calibri"/>
                <a:sym typeface="Calibri"/>
              </a:rPr>
              <a:t>Clasament online</a:t>
            </a:r>
            <a:endParaRPr b="0" i="0" sz="1300" u="none" cap="none" strike="noStrike">
              <a:solidFill>
                <a:schemeClr val="dk1"/>
              </a:solidFill>
              <a:latin typeface="Calibri"/>
              <a:ea typeface="Calibri"/>
              <a:cs typeface="Calibri"/>
              <a:sym typeface="Calibri"/>
            </a:endParaRPr>
          </a:p>
        </p:txBody>
      </p:sp>
      <p:sp>
        <p:nvSpPr>
          <p:cNvPr id="103" name="Google Shape;103;p6"/>
          <p:cNvSpPr/>
          <p:nvPr/>
        </p:nvSpPr>
        <p:spPr>
          <a:xfrm>
            <a:off x="3566160" y="4901184"/>
            <a:ext cx="201168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A8FA8"/>
              </a:buClr>
              <a:buSzPts val="1300"/>
              <a:buFont typeface="Calibri"/>
              <a:buNone/>
            </a:pPr>
            <a:r>
              <a:rPr b="0" i="0" lang="en-US" sz="1300" u="none" cap="none" strike="noStrike">
                <a:solidFill>
                  <a:srgbClr val="9A8FA8"/>
                </a:solidFill>
                <a:latin typeface="Calibri"/>
                <a:ea typeface="Calibri"/>
                <a:cs typeface="Calibri"/>
                <a:sym typeface="Calibri"/>
              </a:rPr>
              <a:t>Nu</a:t>
            </a:r>
            <a:endParaRPr b="0" i="0" sz="1300" u="none" cap="none" strike="noStrike">
              <a:solidFill>
                <a:schemeClr val="dk1"/>
              </a:solidFill>
              <a:latin typeface="Calibri"/>
              <a:ea typeface="Calibri"/>
              <a:cs typeface="Calibri"/>
              <a:sym typeface="Calibri"/>
            </a:endParaRPr>
          </a:p>
        </p:txBody>
      </p:sp>
      <p:sp>
        <p:nvSpPr>
          <p:cNvPr id="104" name="Google Shape;104;p6"/>
          <p:cNvSpPr/>
          <p:nvPr/>
        </p:nvSpPr>
        <p:spPr>
          <a:xfrm>
            <a:off x="5577840" y="4901184"/>
            <a:ext cx="201168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A8FA8"/>
              </a:buClr>
              <a:buSzPts val="1300"/>
              <a:buFont typeface="Calibri"/>
              <a:buNone/>
            </a:pPr>
            <a:r>
              <a:rPr b="0" i="0" lang="en-US" sz="1300" u="none" cap="none" strike="noStrike">
                <a:solidFill>
                  <a:srgbClr val="9A8FA8"/>
                </a:solidFill>
                <a:latin typeface="Calibri"/>
                <a:ea typeface="Calibri"/>
                <a:cs typeface="Calibri"/>
                <a:sym typeface="Calibri"/>
              </a:rPr>
              <a:t>Nu</a:t>
            </a:r>
            <a:endParaRPr b="0" i="0" sz="1300" u="none" cap="none" strike="noStrike">
              <a:solidFill>
                <a:schemeClr val="dk1"/>
              </a:solidFill>
              <a:latin typeface="Calibri"/>
              <a:ea typeface="Calibri"/>
              <a:cs typeface="Calibri"/>
              <a:sym typeface="Calibri"/>
            </a:endParaRPr>
          </a:p>
        </p:txBody>
      </p:sp>
      <p:sp>
        <p:nvSpPr>
          <p:cNvPr id="105" name="Google Shape;105;p6"/>
          <p:cNvSpPr/>
          <p:nvPr/>
        </p:nvSpPr>
        <p:spPr>
          <a:xfrm>
            <a:off x="7589520" y="4901184"/>
            <a:ext cx="201168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A8FA8"/>
              </a:buClr>
              <a:buSzPts val="1300"/>
              <a:buFont typeface="Calibri"/>
              <a:buNone/>
            </a:pPr>
            <a:r>
              <a:rPr b="0" i="0" lang="en-US" sz="1300" u="none" cap="none" strike="noStrike">
                <a:solidFill>
                  <a:srgbClr val="9A8FA8"/>
                </a:solidFill>
                <a:latin typeface="Calibri"/>
                <a:ea typeface="Calibri"/>
                <a:cs typeface="Calibri"/>
                <a:sym typeface="Calibri"/>
              </a:rPr>
              <a:t>Nu</a:t>
            </a:r>
            <a:endParaRPr b="0" i="0" sz="1300" u="none" cap="none" strike="noStrike">
              <a:solidFill>
                <a:schemeClr val="dk1"/>
              </a:solidFill>
              <a:latin typeface="Calibri"/>
              <a:ea typeface="Calibri"/>
              <a:cs typeface="Calibri"/>
              <a:sym typeface="Calibri"/>
            </a:endParaRPr>
          </a:p>
        </p:txBody>
      </p:sp>
      <p:sp>
        <p:nvSpPr>
          <p:cNvPr id="106" name="Google Shape;106;p6"/>
          <p:cNvSpPr/>
          <p:nvPr/>
        </p:nvSpPr>
        <p:spPr>
          <a:xfrm>
            <a:off x="9601200" y="4901184"/>
            <a:ext cx="201168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FB8AF"/>
              </a:buClr>
              <a:buSzPts val="1300"/>
              <a:buFont typeface="Calibri"/>
              <a:buNone/>
            </a:pPr>
            <a:r>
              <a:rPr b="1" i="0" lang="en-US" sz="1300" u="none" cap="none" strike="noStrike">
                <a:solidFill>
                  <a:srgbClr val="3FB8AF"/>
                </a:solidFill>
                <a:latin typeface="Calibri"/>
                <a:ea typeface="Calibri"/>
                <a:cs typeface="Calibri"/>
                <a:sym typeface="Calibri"/>
              </a:rPr>
              <a:t>Da</a:t>
            </a:r>
            <a:endParaRPr b="0" i="0" sz="1300" u="none" cap="none" strike="noStrike">
              <a:solidFill>
                <a:schemeClr val="dk1"/>
              </a:solidFill>
              <a:latin typeface="Calibri"/>
              <a:ea typeface="Calibri"/>
              <a:cs typeface="Calibri"/>
              <a:sym typeface="Calibri"/>
            </a:endParaRPr>
          </a:p>
        </p:txBody>
      </p:sp>
      <p:sp>
        <p:nvSpPr>
          <p:cNvPr id="107" name="Google Shape;107;p6"/>
          <p:cNvSpPr/>
          <p:nvPr/>
        </p:nvSpPr>
        <p:spPr>
          <a:xfrm>
            <a:off x="11521440" y="6400800"/>
            <a:ext cx="4572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9A8FA8"/>
              </a:buClr>
              <a:buSzPts val="1000"/>
              <a:buFont typeface="Calibri"/>
              <a:buNone/>
            </a:pPr>
            <a:r>
              <a:rPr b="0" i="0" lang="en-US" sz="1000" u="none" cap="none" strike="noStrike">
                <a:solidFill>
                  <a:srgbClr val="9A8FA8"/>
                </a:solidFill>
                <a:latin typeface="Calibri"/>
                <a:ea typeface="Calibri"/>
                <a:cs typeface="Calibri"/>
                <a:sym typeface="Calibri"/>
              </a:rPr>
              <a:t>4</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1526"/>
        </a:solidFill>
      </p:bgPr>
    </p:bg>
    <p:spTree>
      <p:nvGrpSpPr>
        <p:cNvPr id="112" name="Shape 112"/>
        <p:cNvGrpSpPr/>
        <p:nvPr/>
      </p:nvGrpSpPr>
      <p:grpSpPr>
        <a:xfrm>
          <a:off x="0" y="0"/>
          <a:ext cx="0" cy="0"/>
          <a:chOff x="0" y="0"/>
          <a:chExt cx="0" cy="0"/>
        </a:xfrm>
      </p:grpSpPr>
      <p:sp>
        <p:nvSpPr>
          <p:cNvPr id="113" name="Google Shape;113;p7"/>
          <p:cNvSpPr/>
          <p:nvPr/>
        </p:nvSpPr>
        <p:spPr>
          <a:xfrm>
            <a:off x="548640" y="384048"/>
            <a:ext cx="10515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FB8AF"/>
              </a:buClr>
              <a:buSzPts val="1200"/>
              <a:buFont typeface="Calibri"/>
              <a:buNone/>
            </a:pPr>
            <a:r>
              <a:rPr b="1" i="0" lang="en-US" sz="1200" u="none" cap="none" strike="noStrike">
                <a:solidFill>
                  <a:srgbClr val="3FB8AF"/>
                </a:solidFill>
                <a:latin typeface="Calibri"/>
                <a:ea typeface="Calibri"/>
                <a:cs typeface="Calibri"/>
                <a:sym typeface="Calibri"/>
              </a:rPr>
              <a:t>ARHITECTURA</a:t>
            </a:r>
            <a:endParaRPr b="0" i="0" sz="1200" u="none" cap="none" strike="noStrike">
              <a:solidFill>
                <a:schemeClr val="dk1"/>
              </a:solidFill>
              <a:latin typeface="Calibri"/>
              <a:ea typeface="Calibri"/>
              <a:cs typeface="Calibri"/>
              <a:sym typeface="Calibri"/>
            </a:endParaRPr>
          </a:p>
        </p:txBody>
      </p:sp>
      <p:sp>
        <p:nvSpPr>
          <p:cNvPr id="114" name="Google Shape;114;p7"/>
          <p:cNvSpPr/>
          <p:nvPr/>
        </p:nvSpPr>
        <p:spPr>
          <a:xfrm>
            <a:off x="548640" y="640080"/>
            <a:ext cx="11064240" cy="8229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DE7F2"/>
              </a:buClr>
              <a:buSzPts val="3200"/>
              <a:buFont typeface="Cambria"/>
              <a:buNone/>
            </a:pPr>
            <a:r>
              <a:rPr b="1" i="0" lang="en-US" sz="3200" u="none" cap="none" strike="noStrike">
                <a:solidFill>
                  <a:srgbClr val="EDE7F2"/>
                </a:solidFill>
                <a:latin typeface="Cambria"/>
                <a:ea typeface="Cambria"/>
                <a:cs typeface="Cambria"/>
                <a:sym typeface="Cambria"/>
              </a:rPr>
              <a:t>Cum se îmbină sistemele</a:t>
            </a:r>
            <a:endParaRPr b="0" i="0" sz="3200" u="none" cap="none" strike="noStrike">
              <a:solidFill>
                <a:schemeClr val="dk1"/>
              </a:solidFill>
              <a:latin typeface="Calibri"/>
              <a:ea typeface="Calibri"/>
              <a:cs typeface="Calibri"/>
              <a:sym typeface="Calibri"/>
            </a:endParaRPr>
          </a:p>
        </p:txBody>
      </p:sp>
      <p:sp>
        <p:nvSpPr>
          <p:cNvPr id="115" name="Google Shape;115;p7"/>
          <p:cNvSpPr/>
          <p:nvPr/>
        </p:nvSpPr>
        <p:spPr>
          <a:xfrm>
            <a:off x="548640" y="1783080"/>
            <a:ext cx="11064240" cy="64008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EDE7F2"/>
              </a:buClr>
              <a:buSzPts val="1450"/>
              <a:buFont typeface="Calibri"/>
              <a:buNone/>
            </a:pPr>
            <a:r>
              <a:rPr b="0" i="0" lang="en-US" sz="1450" u="none" cap="none" strike="noStrike">
                <a:solidFill>
                  <a:srgbClr val="EDE7F2"/>
                </a:solidFill>
                <a:latin typeface="Calibri"/>
                <a:ea typeface="Calibri"/>
                <a:cs typeface="Calibri"/>
                <a:sym typeface="Calibri"/>
              </a:rPr>
              <a:t>Modelul de componente Unity + un set restrâns de manageri singleton persistenți care coordonează jocul și supraviețuiesc schimbărilor de ecran.</a:t>
            </a:r>
            <a:endParaRPr b="0" i="0" sz="1450" u="none" cap="none" strike="noStrike">
              <a:solidFill>
                <a:schemeClr val="dk1"/>
              </a:solidFill>
              <a:latin typeface="Calibri"/>
              <a:ea typeface="Calibri"/>
              <a:cs typeface="Calibri"/>
              <a:sym typeface="Calibri"/>
            </a:endParaRPr>
          </a:p>
        </p:txBody>
      </p:sp>
      <p:sp>
        <p:nvSpPr>
          <p:cNvPr id="116" name="Google Shape;116;p7"/>
          <p:cNvSpPr/>
          <p:nvPr/>
        </p:nvSpPr>
        <p:spPr>
          <a:xfrm>
            <a:off x="548640" y="2560320"/>
            <a:ext cx="3474720" cy="1737360"/>
          </a:xfrm>
          <a:prstGeom prst="roundRect">
            <a:avLst>
              <a:gd fmla="val 4211" name="adj"/>
            </a:avLst>
          </a:prstGeom>
          <a:solidFill>
            <a:srgbClr val="241C33"/>
          </a:solidFill>
          <a:ln cap="flat" cmpd="sng" w="9525">
            <a:solidFill>
              <a:srgbClr val="2A7A7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7"/>
          <p:cNvSpPr/>
          <p:nvPr/>
        </p:nvSpPr>
        <p:spPr>
          <a:xfrm>
            <a:off x="804672" y="2852928"/>
            <a:ext cx="128016" cy="128016"/>
          </a:xfrm>
          <a:prstGeom prst="ellipse">
            <a:avLst/>
          </a:prstGeom>
          <a:solidFill>
            <a:srgbClr val="3FB8A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7"/>
          <p:cNvSpPr/>
          <p:nvPr/>
        </p:nvSpPr>
        <p:spPr>
          <a:xfrm>
            <a:off x="1005840" y="2743200"/>
            <a:ext cx="283464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B8AF"/>
              </a:buClr>
              <a:buSzPts val="1500"/>
              <a:buFont typeface="Calibri"/>
              <a:buNone/>
            </a:pPr>
            <a:r>
              <a:rPr b="1" i="0" lang="en-US" sz="1500" u="none" cap="none" strike="noStrike">
                <a:solidFill>
                  <a:srgbClr val="3FB8AF"/>
                </a:solidFill>
                <a:latin typeface="Calibri"/>
                <a:ea typeface="Calibri"/>
                <a:cs typeface="Calibri"/>
                <a:sym typeface="Calibri"/>
              </a:rPr>
              <a:t>GameManager</a:t>
            </a:r>
            <a:endParaRPr b="0" i="0" sz="1500" u="none" cap="none" strike="noStrike">
              <a:solidFill>
                <a:schemeClr val="dk1"/>
              </a:solidFill>
              <a:latin typeface="Calibri"/>
              <a:ea typeface="Calibri"/>
              <a:cs typeface="Calibri"/>
              <a:sym typeface="Calibri"/>
            </a:endParaRPr>
          </a:p>
        </p:txBody>
      </p:sp>
      <p:sp>
        <p:nvSpPr>
          <p:cNvPr id="119" name="Google Shape;119;p7"/>
          <p:cNvSpPr/>
          <p:nvPr/>
        </p:nvSpPr>
        <p:spPr>
          <a:xfrm>
            <a:off x="822960" y="3200400"/>
            <a:ext cx="2926080" cy="100584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EDE7F2"/>
              </a:buClr>
              <a:buSzPts val="1200"/>
              <a:buFont typeface="Calibri"/>
              <a:buNone/>
            </a:pPr>
            <a:r>
              <a:rPr b="0" i="0" lang="en-US" sz="1200" u="none" cap="none" strike="noStrike">
                <a:solidFill>
                  <a:srgbClr val="EDE7F2"/>
                </a:solidFill>
                <a:latin typeface="Calibri"/>
                <a:ea typeface="Calibri"/>
                <a:cs typeface="Calibri"/>
                <a:sym typeface="Calibri"/>
              </a:rPr>
              <a:t>Starea partidei </a:t>
            </a:r>
            <a:r>
              <a:rPr lang="en-US" sz="1200">
                <a:solidFill>
                  <a:srgbClr val="EDE7F2"/>
                </a:solidFill>
                <a:latin typeface="Calibri"/>
                <a:ea typeface="Calibri"/>
                <a:cs typeface="Calibri"/>
                <a:sym typeface="Calibri"/>
              </a:rPr>
              <a:t>-</a:t>
            </a:r>
            <a:r>
              <a:rPr b="0" i="0" lang="en-US" sz="1200" u="none" cap="none" strike="noStrike">
                <a:solidFill>
                  <a:srgbClr val="EDE7F2"/>
                </a:solidFill>
                <a:latin typeface="Calibri"/>
                <a:ea typeface="Calibri"/>
                <a:cs typeface="Calibri"/>
                <a:sym typeface="Calibri"/>
              </a:rPr>
              <a:t> scor, statistici, fluxul general. Sistemele îi raportează evenimente.</a:t>
            </a:r>
            <a:endParaRPr b="0" i="0" sz="1200" u="none" cap="none" strike="noStrike">
              <a:solidFill>
                <a:schemeClr val="dk1"/>
              </a:solidFill>
              <a:latin typeface="Calibri"/>
              <a:ea typeface="Calibri"/>
              <a:cs typeface="Calibri"/>
              <a:sym typeface="Calibri"/>
            </a:endParaRPr>
          </a:p>
        </p:txBody>
      </p:sp>
      <p:sp>
        <p:nvSpPr>
          <p:cNvPr id="120" name="Google Shape;120;p7"/>
          <p:cNvSpPr/>
          <p:nvPr/>
        </p:nvSpPr>
        <p:spPr>
          <a:xfrm>
            <a:off x="4251960" y="2560320"/>
            <a:ext cx="3474720" cy="1737360"/>
          </a:xfrm>
          <a:prstGeom prst="roundRect">
            <a:avLst>
              <a:gd fmla="val 4211" name="adj"/>
            </a:avLst>
          </a:prstGeom>
          <a:solidFill>
            <a:srgbClr val="241C33"/>
          </a:solidFill>
          <a:ln cap="flat" cmpd="sng" w="9525">
            <a:solidFill>
              <a:srgbClr val="2A7A7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7"/>
          <p:cNvSpPr/>
          <p:nvPr/>
        </p:nvSpPr>
        <p:spPr>
          <a:xfrm>
            <a:off x="4507992" y="2852928"/>
            <a:ext cx="128016" cy="128016"/>
          </a:xfrm>
          <a:prstGeom prst="ellipse">
            <a:avLst/>
          </a:prstGeom>
          <a:solidFill>
            <a:srgbClr val="3FB8A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7"/>
          <p:cNvSpPr/>
          <p:nvPr/>
        </p:nvSpPr>
        <p:spPr>
          <a:xfrm>
            <a:off x="4709160" y="2743200"/>
            <a:ext cx="283464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B8AF"/>
              </a:buClr>
              <a:buSzPts val="1500"/>
              <a:buFont typeface="Calibri"/>
              <a:buNone/>
            </a:pPr>
            <a:r>
              <a:rPr b="1" i="0" lang="en-US" sz="1500" u="none" cap="none" strike="noStrike">
                <a:solidFill>
                  <a:srgbClr val="3FB8AF"/>
                </a:solidFill>
                <a:latin typeface="Calibri"/>
                <a:ea typeface="Calibri"/>
                <a:cs typeface="Calibri"/>
                <a:sym typeface="Calibri"/>
              </a:rPr>
              <a:t>TransitionScreen</a:t>
            </a:r>
            <a:endParaRPr b="0" i="0" sz="1500" u="none" cap="none" strike="noStrike">
              <a:solidFill>
                <a:schemeClr val="dk1"/>
              </a:solidFill>
              <a:latin typeface="Calibri"/>
              <a:ea typeface="Calibri"/>
              <a:cs typeface="Calibri"/>
              <a:sym typeface="Calibri"/>
            </a:endParaRPr>
          </a:p>
        </p:txBody>
      </p:sp>
      <p:sp>
        <p:nvSpPr>
          <p:cNvPr id="123" name="Google Shape;123;p7"/>
          <p:cNvSpPr/>
          <p:nvPr/>
        </p:nvSpPr>
        <p:spPr>
          <a:xfrm>
            <a:off x="4526280" y="3200400"/>
            <a:ext cx="2926080" cy="100584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EDE7F2"/>
              </a:buClr>
              <a:buSzPts val="1200"/>
              <a:buFont typeface="Calibri"/>
              <a:buNone/>
            </a:pPr>
            <a:r>
              <a:rPr b="0" i="0" lang="en-US" sz="1200" u="none" cap="none" strike="noStrike">
                <a:solidFill>
                  <a:srgbClr val="EDE7F2"/>
                </a:solidFill>
                <a:latin typeface="Calibri"/>
                <a:ea typeface="Calibri"/>
                <a:cs typeface="Calibri"/>
                <a:sym typeface="Calibri"/>
              </a:rPr>
              <a:t>Un singur overlay negru pentru toate tranzițiile; ecranele apar doar prin SetActive.</a:t>
            </a:r>
            <a:endParaRPr b="0" i="0" sz="1200" u="none" cap="none" strike="noStrike">
              <a:solidFill>
                <a:schemeClr val="dk1"/>
              </a:solidFill>
              <a:latin typeface="Calibri"/>
              <a:ea typeface="Calibri"/>
              <a:cs typeface="Calibri"/>
              <a:sym typeface="Calibri"/>
            </a:endParaRPr>
          </a:p>
        </p:txBody>
      </p:sp>
      <p:sp>
        <p:nvSpPr>
          <p:cNvPr id="124" name="Google Shape;124;p7"/>
          <p:cNvSpPr/>
          <p:nvPr/>
        </p:nvSpPr>
        <p:spPr>
          <a:xfrm>
            <a:off x="7955280" y="2560320"/>
            <a:ext cx="3474720" cy="1737360"/>
          </a:xfrm>
          <a:prstGeom prst="roundRect">
            <a:avLst>
              <a:gd fmla="val 4211" name="adj"/>
            </a:avLst>
          </a:prstGeom>
          <a:solidFill>
            <a:srgbClr val="241C33"/>
          </a:solidFill>
          <a:ln cap="flat" cmpd="sng" w="9525">
            <a:solidFill>
              <a:srgbClr val="2A7A7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7"/>
          <p:cNvSpPr/>
          <p:nvPr/>
        </p:nvSpPr>
        <p:spPr>
          <a:xfrm>
            <a:off x="8211312" y="2852928"/>
            <a:ext cx="128016" cy="128016"/>
          </a:xfrm>
          <a:prstGeom prst="ellipse">
            <a:avLst/>
          </a:prstGeom>
          <a:solidFill>
            <a:srgbClr val="3FB8A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p7"/>
          <p:cNvSpPr/>
          <p:nvPr/>
        </p:nvSpPr>
        <p:spPr>
          <a:xfrm>
            <a:off x="8412480" y="2743200"/>
            <a:ext cx="283464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B8AF"/>
              </a:buClr>
              <a:buSzPts val="1500"/>
              <a:buFont typeface="Calibri"/>
              <a:buNone/>
            </a:pPr>
            <a:r>
              <a:rPr b="1" i="0" lang="en-US" sz="1500" u="none" cap="none" strike="noStrike">
                <a:solidFill>
                  <a:srgbClr val="3FB8AF"/>
                </a:solidFill>
                <a:latin typeface="Calibri"/>
                <a:ea typeface="Calibri"/>
                <a:cs typeface="Calibri"/>
                <a:sym typeface="Calibri"/>
              </a:rPr>
              <a:t>LeaderboardManager</a:t>
            </a:r>
            <a:endParaRPr b="0" i="0" sz="1500" u="none" cap="none" strike="noStrike">
              <a:solidFill>
                <a:schemeClr val="dk1"/>
              </a:solidFill>
              <a:latin typeface="Calibri"/>
              <a:ea typeface="Calibri"/>
              <a:cs typeface="Calibri"/>
              <a:sym typeface="Calibri"/>
            </a:endParaRPr>
          </a:p>
        </p:txBody>
      </p:sp>
      <p:sp>
        <p:nvSpPr>
          <p:cNvPr id="127" name="Google Shape;127;p7"/>
          <p:cNvSpPr/>
          <p:nvPr/>
        </p:nvSpPr>
        <p:spPr>
          <a:xfrm>
            <a:off x="8229600" y="3200400"/>
            <a:ext cx="2926080" cy="100584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EDE7F2"/>
              </a:buClr>
              <a:buSzPts val="1200"/>
              <a:buFont typeface="Calibri"/>
              <a:buNone/>
            </a:pPr>
            <a:r>
              <a:rPr b="0" i="0" lang="en-US" sz="1200" u="none" cap="none" strike="noStrike">
                <a:solidFill>
                  <a:srgbClr val="EDE7F2"/>
                </a:solidFill>
                <a:latin typeface="Calibri"/>
                <a:ea typeface="Calibri"/>
                <a:cs typeface="Calibri"/>
                <a:sym typeface="Calibri"/>
              </a:rPr>
              <a:t>Singleton auto-instanțiat; comunică cu Firestore prin REST.</a:t>
            </a:r>
            <a:endParaRPr b="0" i="0" sz="1200" u="none" cap="none" strike="noStrike">
              <a:solidFill>
                <a:schemeClr val="dk1"/>
              </a:solidFill>
              <a:latin typeface="Calibri"/>
              <a:ea typeface="Calibri"/>
              <a:cs typeface="Calibri"/>
              <a:sym typeface="Calibri"/>
            </a:endParaRPr>
          </a:p>
        </p:txBody>
      </p:sp>
      <p:sp>
        <p:nvSpPr>
          <p:cNvPr id="128" name="Google Shape;128;p7"/>
          <p:cNvSpPr/>
          <p:nvPr/>
        </p:nvSpPr>
        <p:spPr>
          <a:xfrm>
            <a:off x="548640" y="4572000"/>
            <a:ext cx="11064240" cy="1234440"/>
          </a:xfrm>
          <a:prstGeom prst="roundRect">
            <a:avLst>
              <a:gd fmla="val 5926" name="adj"/>
            </a:avLst>
          </a:prstGeom>
          <a:solidFill>
            <a:srgbClr val="241C33"/>
          </a:solidFill>
          <a:ln cap="flat" cmpd="sng" w="9525">
            <a:solidFill>
              <a:srgbClr val="2A7A7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7"/>
          <p:cNvSpPr/>
          <p:nvPr/>
        </p:nvSpPr>
        <p:spPr>
          <a:xfrm>
            <a:off x="822960" y="4864608"/>
            <a:ext cx="128016" cy="128016"/>
          </a:xfrm>
          <a:prstGeom prst="ellipse">
            <a:avLst/>
          </a:prstGeom>
          <a:solidFill>
            <a:srgbClr val="3FB8A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7"/>
          <p:cNvSpPr/>
          <p:nvPr/>
        </p:nvSpPr>
        <p:spPr>
          <a:xfrm>
            <a:off x="1051560" y="4736592"/>
            <a:ext cx="41148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0A458"/>
              </a:buClr>
              <a:buSzPts val="1500"/>
              <a:buFont typeface="Calibri"/>
              <a:buNone/>
            </a:pPr>
            <a:r>
              <a:rPr b="1" i="0" lang="en-US" sz="1500" u="none" cap="none" strike="noStrike">
                <a:solidFill>
                  <a:srgbClr val="E0A458"/>
                </a:solidFill>
                <a:latin typeface="Calibri"/>
                <a:ea typeface="Calibri"/>
                <a:cs typeface="Calibri"/>
                <a:sym typeface="Calibri"/>
              </a:rPr>
              <a:t>Construit pentru extindere</a:t>
            </a:r>
            <a:endParaRPr b="0" i="0" sz="1500" u="none" cap="none" strike="noStrike">
              <a:solidFill>
                <a:schemeClr val="dk1"/>
              </a:solidFill>
              <a:latin typeface="Calibri"/>
              <a:ea typeface="Calibri"/>
              <a:cs typeface="Calibri"/>
              <a:sym typeface="Calibri"/>
            </a:endParaRPr>
          </a:p>
        </p:txBody>
      </p:sp>
      <p:sp>
        <p:nvSpPr>
          <p:cNvPr id="131" name="Google Shape;131;p7"/>
          <p:cNvSpPr/>
          <p:nvPr/>
        </p:nvSpPr>
        <p:spPr>
          <a:xfrm>
            <a:off x="1051560" y="5138928"/>
            <a:ext cx="10241280" cy="54864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EDE7F2"/>
              </a:buClr>
              <a:buSzPts val="1300"/>
              <a:buFont typeface="Calibri"/>
              <a:buNone/>
            </a:pPr>
            <a:r>
              <a:rPr b="0" i="0" lang="en-US" sz="1300" u="none" cap="none" strike="noStrike">
                <a:solidFill>
                  <a:srgbClr val="EDE7F2"/>
                </a:solidFill>
                <a:latin typeface="Calibri"/>
                <a:ea typeface="Calibri"/>
                <a:cs typeface="Calibri"/>
                <a:sym typeface="Calibri"/>
              </a:rPr>
              <a:t>Inamici noi = o subclasă · obiecte noi = o interfață · camere noi = un prefab în pool — fără a atinge codul existent.</a:t>
            </a:r>
            <a:endParaRPr b="0" i="0" sz="1300" u="none" cap="none" strike="noStrike">
              <a:solidFill>
                <a:schemeClr val="dk1"/>
              </a:solidFill>
              <a:latin typeface="Calibri"/>
              <a:ea typeface="Calibri"/>
              <a:cs typeface="Calibri"/>
              <a:sym typeface="Calibri"/>
            </a:endParaRPr>
          </a:p>
        </p:txBody>
      </p:sp>
      <p:sp>
        <p:nvSpPr>
          <p:cNvPr id="132" name="Google Shape;132;p7"/>
          <p:cNvSpPr/>
          <p:nvPr/>
        </p:nvSpPr>
        <p:spPr>
          <a:xfrm>
            <a:off x="11521440" y="6400800"/>
            <a:ext cx="4572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9A8FA8"/>
              </a:buClr>
              <a:buSzPts val="1000"/>
              <a:buFont typeface="Calibri"/>
              <a:buNone/>
            </a:pPr>
            <a:r>
              <a:rPr b="0" i="0" lang="en-US" sz="1000" u="none" cap="none" strike="noStrike">
                <a:solidFill>
                  <a:srgbClr val="9A8FA8"/>
                </a:solidFill>
                <a:latin typeface="Calibri"/>
                <a:ea typeface="Calibri"/>
                <a:cs typeface="Calibri"/>
                <a:sym typeface="Calibri"/>
              </a:rPr>
              <a:t>5</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1526"/>
        </a:solidFill>
      </p:bgPr>
    </p:bg>
    <p:spTree>
      <p:nvGrpSpPr>
        <p:cNvPr id="137" name="Shape 137"/>
        <p:cNvGrpSpPr/>
        <p:nvPr/>
      </p:nvGrpSpPr>
      <p:grpSpPr>
        <a:xfrm>
          <a:off x="0" y="0"/>
          <a:ext cx="0" cy="0"/>
          <a:chOff x="0" y="0"/>
          <a:chExt cx="0" cy="0"/>
        </a:xfrm>
      </p:grpSpPr>
      <p:sp>
        <p:nvSpPr>
          <p:cNvPr id="138" name="Google Shape;138;p8"/>
          <p:cNvSpPr/>
          <p:nvPr/>
        </p:nvSpPr>
        <p:spPr>
          <a:xfrm>
            <a:off x="548640" y="384048"/>
            <a:ext cx="10515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FB8AF"/>
              </a:buClr>
              <a:buSzPts val="1200"/>
              <a:buFont typeface="Calibri"/>
              <a:buNone/>
            </a:pPr>
            <a:r>
              <a:rPr b="1" i="0" lang="en-US" sz="1200" u="none" cap="none" strike="noStrike">
                <a:solidFill>
                  <a:srgbClr val="3FB8AF"/>
                </a:solidFill>
                <a:latin typeface="Calibri"/>
                <a:ea typeface="Calibri"/>
                <a:cs typeface="Calibri"/>
                <a:sym typeface="Calibri"/>
              </a:rPr>
              <a:t>SISTEMUL CENTRAL 1</a:t>
            </a:r>
            <a:endParaRPr b="0" i="0" sz="1200" u="none" cap="none" strike="noStrike">
              <a:solidFill>
                <a:schemeClr val="dk1"/>
              </a:solidFill>
              <a:latin typeface="Calibri"/>
              <a:ea typeface="Calibri"/>
              <a:cs typeface="Calibri"/>
              <a:sym typeface="Calibri"/>
            </a:endParaRPr>
          </a:p>
        </p:txBody>
      </p:sp>
      <p:sp>
        <p:nvSpPr>
          <p:cNvPr id="139" name="Google Shape;139;p8"/>
          <p:cNvSpPr/>
          <p:nvPr/>
        </p:nvSpPr>
        <p:spPr>
          <a:xfrm>
            <a:off x="548640" y="640080"/>
            <a:ext cx="11064240" cy="8229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DE7F2"/>
              </a:buClr>
              <a:buSzPts val="3200"/>
              <a:buFont typeface="Cambria"/>
              <a:buNone/>
            </a:pPr>
            <a:r>
              <a:rPr b="1" i="0" lang="en-US" sz="3200" u="none" cap="none" strike="noStrike">
                <a:solidFill>
                  <a:srgbClr val="EDE7F2"/>
                </a:solidFill>
                <a:latin typeface="Cambria"/>
                <a:ea typeface="Cambria"/>
                <a:cs typeface="Cambria"/>
                <a:sym typeface="Cambria"/>
              </a:rPr>
              <a:t>Generarea procedurală a labirintului</a:t>
            </a:r>
            <a:endParaRPr b="0" i="0" sz="3200" u="none" cap="none" strike="noStrike">
              <a:solidFill>
                <a:schemeClr val="dk1"/>
              </a:solidFill>
              <a:latin typeface="Calibri"/>
              <a:ea typeface="Calibri"/>
              <a:cs typeface="Calibri"/>
              <a:sym typeface="Calibri"/>
            </a:endParaRPr>
          </a:p>
        </p:txBody>
      </p:sp>
      <p:sp>
        <p:nvSpPr>
          <p:cNvPr id="140" name="Google Shape;140;p8"/>
          <p:cNvSpPr/>
          <p:nvPr/>
        </p:nvSpPr>
        <p:spPr>
          <a:xfrm>
            <a:off x="548640" y="1828800"/>
            <a:ext cx="5394960" cy="3931920"/>
          </a:xfrm>
          <a:prstGeom prst="roundRect">
            <a:avLst>
              <a:gd fmla="val 1860" name="adj"/>
            </a:avLst>
          </a:prstGeom>
          <a:solidFill>
            <a:srgbClr val="241C33"/>
          </a:solidFill>
          <a:ln cap="flat" cmpd="sng" w="9525">
            <a:solidFill>
              <a:srgbClr val="2A7A7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p8"/>
          <p:cNvSpPr/>
          <p:nvPr/>
        </p:nvSpPr>
        <p:spPr>
          <a:xfrm>
            <a:off x="822960" y="2011680"/>
            <a:ext cx="484632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B8AF"/>
              </a:buClr>
              <a:buSzPts val="1700"/>
              <a:buFont typeface="Calibri"/>
              <a:buNone/>
            </a:pPr>
            <a:r>
              <a:rPr b="1" i="0" lang="en-US" sz="1700" u="none" cap="none" strike="noStrike">
                <a:solidFill>
                  <a:srgbClr val="3FB8AF"/>
                </a:solidFill>
                <a:latin typeface="Calibri"/>
                <a:ea typeface="Calibri"/>
                <a:cs typeface="Calibri"/>
                <a:sym typeface="Calibri"/>
              </a:rPr>
              <a:t>Faza 1 </a:t>
            </a:r>
            <a:r>
              <a:rPr b="1" lang="en-US" sz="1700">
                <a:solidFill>
                  <a:srgbClr val="3FB8AF"/>
                </a:solidFill>
                <a:latin typeface="Calibri"/>
                <a:ea typeface="Calibri"/>
                <a:cs typeface="Calibri"/>
                <a:sym typeface="Calibri"/>
              </a:rPr>
              <a:t>-</a:t>
            </a:r>
            <a:r>
              <a:rPr b="1" i="0" lang="en-US" sz="1700" u="none" cap="none" strike="noStrike">
                <a:solidFill>
                  <a:srgbClr val="3FB8AF"/>
                </a:solidFill>
                <a:latin typeface="Calibri"/>
                <a:ea typeface="Calibri"/>
                <a:cs typeface="Calibri"/>
                <a:sym typeface="Calibri"/>
              </a:rPr>
              <a:t> Dispunerea</a:t>
            </a:r>
            <a:endParaRPr b="0" i="0" sz="1700" u="none" cap="none" strike="noStrike">
              <a:solidFill>
                <a:schemeClr val="dk1"/>
              </a:solidFill>
              <a:latin typeface="Calibri"/>
              <a:ea typeface="Calibri"/>
              <a:cs typeface="Calibri"/>
              <a:sym typeface="Calibri"/>
            </a:endParaRPr>
          </a:p>
        </p:txBody>
      </p:sp>
      <p:sp>
        <p:nvSpPr>
          <p:cNvPr id="142" name="Google Shape;142;p8"/>
          <p:cNvSpPr/>
          <p:nvPr/>
        </p:nvSpPr>
        <p:spPr>
          <a:xfrm>
            <a:off x="822960" y="2468880"/>
            <a:ext cx="4846320" cy="310896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EDE7F2"/>
              </a:buClr>
              <a:buSzPts val="1350"/>
              <a:buFont typeface="Calibri"/>
              <a:buNone/>
            </a:pPr>
            <a:r>
              <a:rPr b="1" i="0" lang="en-US" sz="1350" u="none" cap="none" strike="noStrike">
                <a:solidFill>
                  <a:srgbClr val="EDE7F2"/>
                </a:solidFill>
                <a:latin typeface="Calibri"/>
                <a:ea typeface="Calibri"/>
                <a:cs typeface="Calibri"/>
                <a:sym typeface="Calibri"/>
              </a:rPr>
              <a:t>Expansiune de tip parcurgere aleatoare cu restricții (constrained random-walk expansion)</a:t>
            </a:r>
            <a:endParaRPr b="0" i="0" sz="1350" u="none" cap="none" strike="noStrike">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EDE7F2"/>
              </a:buClr>
              <a:buSzPts val="1350"/>
              <a:buFont typeface="Calibri"/>
              <a:buNone/>
            </a:pPr>
            <a:r>
              <a:rPr b="0" i="0" lang="en-US" sz="1350" u="none" cap="none" strike="noStrike">
                <a:solidFill>
                  <a:srgbClr val="EDE7F2"/>
                </a:solidFill>
                <a:latin typeface="Calibri"/>
                <a:ea typeface="Calibri"/>
                <a:cs typeface="Calibri"/>
                <a:sym typeface="Calibri"/>
              </a:rPr>
              <a:t>Camerele cresc pe o grilă pornind de la start; o cameră nouă poate atinge cel mult o cameră existentă.</a:t>
            </a:r>
            <a:endParaRPr b="0" i="0" sz="1350" u="none" cap="none" strike="noStrike">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chemeClr val="dk1"/>
              </a:buClr>
              <a:buSzPts val="1350"/>
              <a:buFont typeface="Calibri"/>
              <a:buNone/>
            </a:pPr>
            <a:r>
              <a:t/>
            </a:r>
            <a:endParaRPr b="0" i="0" sz="1350" u="none" cap="none" strike="noStrike">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3FB8AF"/>
              </a:buClr>
              <a:buSzPts val="1350"/>
              <a:buFont typeface="Calibri"/>
              <a:buNone/>
            </a:pPr>
            <a:r>
              <a:rPr b="0" i="1" lang="en-US" sz="1350" u="none" cap="none" strike="noStrike">
                <a:solidFill>
                  <a:srgbClr val="3FB8AF"/>
                </a:solidFill>
                <a:latin typeface="Calibri"/>
                <a:ea typeface="Calibri"/>
                <a:cs typeface="Calibri"/>
                <a:sym typeface="Calibri"/>
              </a:rPr>
              <a:t>→ niveluri ramificate, tip coridor</a:t>
            </a:r>
            <a:endParaRPr b="0" i="0" sz="1350" u="none" cap="none" strike="noStrike">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3FB8AF"/>
              </a:buClr>
              <a:buSzPts val="1350"/>
              <a:buFont typeface="Calibri"/>
              <a:buNone/>
            </a:pPr>
            <a:r>
              <a:rPr b="0" i="1" lang="en-US" sz="1350" u="none" cap="none" strike="noStrike">
                <a:solidFill>
                  <a:srgbClr val="3FB8AF"/>
                </a:solidFill>
                <a:latin typeface="Calibri"/>
                <a:ea typeface="Calibri"/>
                <a:cs typeface="Calibri"/>
                <a:sym typeface="Calibri"/>
              </a:rPr>
              <a:t>→ conectat prin construcție (niciodată nerezolvabil)</a:t>
            </a:r>
            <a:endParaRPr b="0" i="0" sz="1350" u="none" cap="none" strike="noStrike">
              <a:solidFill>
                <a:schemeClr val="dk1"/>
              </a:solidFill>
              <a:latin typeface="Calibri"/>
              <a:ea typeface="Calibri"/>
              <a:cs typeface="Calibri"/>
              <a:sym typeface="Calibri"/>
            </a:endParaRPr>
          </a:p>
        </p:txBody>
      </p:sp>
      <p:sp>
        <p:nvSpPr>
          <p:cNvPr id="143" name="Google Shape;143;p8"/>
          <p:cNvSpPr/>
          <p:nvPr/>
        </p:nvSpPr>
        <p:spPr>
          <a:xfrm>
            <a:off x="6217920" y="1828800"/>
            <a:ext cx="5394960" cy="3931920"/>
          </a:xfrm>
          <a:prstGeom prst="roundRect">
            <a:avLst>
              <a:gd fmla="val 1860" name="adj"/>
            </a:avLst>
          </a:prstGeom>
          <a:solidFill>
            <a:srgbClr val="241C33"/>
          </a:solidFill>
          <a:ln cap="flat" cmpd="sng" w="9525">
            <a:solidFill>
              <a:srgbClr val="2A7A7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8"/>
          <p:cNvSpPr/>
          <p:nvPr/>
        </p:nvSpPr>
        <p:spPr>
          <a:xfrm>
            <a:off x="6492240" y="2011680"/>
            <a:ext cx="484632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B8AF"/>
              </a:buClr>
              <a:buSzPts val="1700"/>
              <a:buFont typeface="Calibri"/>
              <a:buNone/>
            </a:pPr>
            <a:r>
              <a:rPr b="1" i="0" lang="en-US" sz="1700" u="none" cap="none" strike="noStrike">
                <a:solidFill>
                  <a:srgbClr val="3FB8AF"/>
                </a:solidFill>
                <a:latin typeface="Calibri"/>
                <a:ea typeface="Calibri"/>
                <a:cs typeface="Calibri"/>
                <a:sym typeface="Calibri"/>
              </a:rPr>
              <a:t>Faza 2 </a:t>
            </a:r>
            <a:r>
              <a:rPr b="1" lang="en-US" sz="1700">
                <a:solidFill>
                  <a:srgbClr val="3FB8AF"/>
                </a:solidFill>
                <a:latin typeface="Calibri"/>
                <a:ea typeface="Calibri"/>
                <a:cs typeface="Calibri"/>
                <a:sym typeface="Calibri"/>
              </a:rPr>
              <a:t>-</a:t>
            </a:r>
            <a:r>
              <a:rPr b="1" i="0" lang="en-US" sz="1700" u="none" cap="none" strike="noStrike">
                <a:solidFill>
                  <a:srgbClr val="3FB8AF"/>
                </a:solidFill>
                <a:latin typeface="Calibri"/>
                <a:ea typeface="Calibri"/>
                <a:cs typeface="Calibri"/>
                <a:sym typeface="Calibri"/>
              </a:rPr>
              <a:t> Tipurile camerelor</a:t>
            </a:r>
            <a:endParaRPr b="0" i="0" sz="1700" u="none" cap="none" strike="noStrike">
              <a:solidFill>
                <a:schemeClr val="dk1"/>
              </a:solidFill>
              <a:latin typeface="Calibri"/>
              <a:ea typeface="Calibri"/>
              <a:cs typeface="Calibri"/>
              <a:sym typeface="Calibri"/>
            </a:endParaRPr>
          </a:p>
        </p:txBody>
      </p:sp>
      <p:sp>
        <p:nvSpPr>
          <p:cNvPr id="145" name="Google Shape;145;p8"/>
          <p:cNvSpPr/>
          <p:nvPr/>
        </p:nvSpPr>
        <p:spPr>
          <a:xfrm>
            <a:off x="6492240" y="2468880"/>
            <a:ext cx="4846320" cy="310896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EDE7F2"/>
              </a:buClr>
              <a:buSzPts val="1350"/>
              <a:buFont typeface="Calibri"/>
              <a:buNone/>
            </a:pPr>
            <a:r>
              <a:rPr b="1" i="0" lang="en-US" sz="1350" u="none" cap="none" strike="noStrike">
                <a:solidFill>
                  <a:srgbClr val="EDE7F2"/>
                </a:solidFill>
                <a:latin typeface="Calibri"/>
                <a:ea typeface="Calibri"/>
                <a:cs typeface="Calibri"/>
                <a:sym typeface="Calibri"/>
              </a:rPr>
              <a:t>Atribuire pe baza distanțelor prin parcurgere în lățime (breadth-first search, BFS)</a:t>
            </a:r>
            <a:endParaRPr b="0" i="0" sz="1350" u="none" cap="none" strike="noStrike">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EDE7F2"/>
              </a:buClr>
              <a:buSzPts val="1350"/>
              <a:buFont typeface="Calibri"/>
              <a:buNone/>
            </a:pPr>
            <a:r>
              <a:rPr b="0" i="0" lang="en-US" sz="1350" u="none" cap="none" strike="noStrike">
                <a:solidFill>
                  <a:srgbClr val="EDE7F2"/>
                </a:solidFill>
                <a:latin typeface="Calibri"/>
                <a:ea typeface="Calibri"/>
                <a:cs typeface="Calibri"/>
                <a:sym typeface="Calibri"/>
              </a:rPr>
              <a:t>Parcurgerea în lățime din start dă fiecărei camere o distanță.</a:t>
            </a:r>
            <a:endParaRPr b="0" i="0" sz="1350" u="none" cap="none" strike="noStrike">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chemeClr val="dk1"/>
              </a:buClr>
              <a:buSzPts val="1350"/>
              <a:buFont typeface="Calibri"/>
              <a:buNone/>
            </a:pPr>
            <a:r>
              <a:t/>
            </a:r>
            <a:endParaRPr b="0" i="0" sz="1350" u="none" cap="none" strike="noStrike">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3FB8AF"/>
              </a:buClr>
              <a:buSzPts val="1350"/>
              <a:buFont typeface="Calibri"/>
              <a:buNone/>
            </a:pPr>
            <a:r>
              <a:rPr b="0" i="1" lang="en-US" sz="1350" u="none" cap="none" strike="noStrike">
                <a:solidFill>
                  <a:srgbClr val="3FB8AF"/>
                </a:solidFill>
                <a:latin typeface="Calibri"/>
                <a:ea typeface="Calibri"/>
                <a:cs typeface="Calibri"/>
                <a:sym typeface="Calibri"/>
              </a:rPr>
              <a:t>Boss = cel mai departe de start</a:t>
            </a:r>
            <a:endParaRPr b="0" i="0" sz="1350" u="none" cap="none" strike="noStrike">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3FB8AF"/>
              </a:buClr>
              <a:buSzPts val="1350"/>
              <a:buFont typeface="Calibri"/>
              <a:buNone/>
            </a:pPr>
            <a:r>
              <a:rPr b="0" i="1" lang="en-US" sz="1350" u="none" cap="none" strike="noStrike">
                <a:solidFill>
                  <a:srgbClr val="3FB8AF"/>
                </a:solidFill>
                <a:latin typeface="Calibri"/>
                <a:ea typeface="Calibri"/>
                <a:cs typeface="Calibri"/>
                <a:sym typeface="Calibri"/>
              </a:rPr>
              <a:t>Comoara = cel mai departe de boss</a:t>
            </a:r>
            <a:endParaRPr b="0" i="0" sz="1350" u="none" cap="none" strike="noStrike">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chemeClr val="dk1"/>
              </a:buClr>
              <a:buSzPts val="1350"/>
              <a:buFont typeface="Calibri"/>
              <a:buNone/>
            </a:pPr>
            <a:r>
              <a:t/>
            </a:r>
            <a:endParaRPr b="0" i="0" sz="1350" u="none" cap="none" strike="noStrike">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9A8FA8"/>
              </a:buClr>
              <a:buSzPts val="1350"/>
              <a:buFont typeface="Calibri"/>
              <a:buNone/>
            </a:pPr>
            <a:r>
              <a:rPr b="0" i="0" lang="en-US" sz="1350" u="none" cap="none" strike="noStrike">
                <a:solidFill>
                  <a:srgbClr val="9A8FA8"/>
                </a:solidFill>
                <a:latin typeface="Calibri"/>
                <a:ea typeface="Calibri"/>
                <a:cs typeface="Calibri"/>
                <a:sym typeface="Calibri"/>
              </a:rPr>
              <a:t>Regulă necondiționată — plasarea boss-ului nu poate eșua.</a:t>
            </a:r>
            <a:endParaRPr b="0" i="0" sz="1350" u="none" cap="none" strike="noStrike">
              <a:solidFill>
                <a:schemeClr val="dk1"/>
              </a:solidFill>
              <a:latin typeface="Calibri"/>
              <a:ea typeface="Calibri"/>
              <a:cs typeface="Calibri"/>
              <a:sym typeface="Calibri"/>
            </a:endParaRPr>
          </a:p>
        </p:txBody>
      </p:sp>
      <p:sp>
        <p:nvSpPr>
          <p:cNvPr id="146" name="Google Shape;146;p8"/>
          <p:cNvSpPr/>
          <p:nvPr/>
        </p:nvSpPr>
        <p:spPr>
          <a:xfrm>
            <a:off x="11521440" y="6400800"/>
            <a:ext cx="4572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9A8FA8"/>
              </a:buClr>
              <a:buSzPts val="1000"/>
              <a:buFont typeface="Calibri"/>
              <a:buNone/>
            </a:pPr>
            <a:r>
              <a:rPr b="0" i="0" lang="en-US" sz="1000" u="none" cap="none" strike="noStrike">
                <a:solidFill>
                  <a:srgbClr val="9A8FA8"/>
                </a:solidFill>
                <a:latin typeface="Calibri"/>
                <a:ea typeface="Calibri"/>
                <a:cs typeface="Calibri"/>
                <a:sym typeface="Calibri"/>
              </a:rPr>
              <a:t>6</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1526"/>
        </a:solidFill>
      </p:bgPr>
    </p:bg>
    <p:spTree>
      <p:nvGrpSpPr>
        <p:cNvPr id="151" name="Shape 151"/>
        <p:cNvGrpSpPr/>
        <p:nvPr/>
      </p:nvGrpSpPr>
      <p:grpSpPr>
        <a:xfrm>
          <a:off x="0" y="0"/>
          <a:ext cx="0" cy="0"/>
          <a:chOff x="0" y="0"/>
          <a:chExt cx="0" cy="0"/>
        </a:xfrm>
      </p:grpSpPr>
      <p:sp>
        <p:nvSpPr>
          <p:cNvPr id="152" name="Google Shape;152;p9"/>
          <p:cNvSpPr/>
          <p:nvPr/>
        </p:nvSpPr>
        <p:spPr>
          <a:xfrm>
            <a:off x="548640" y="384048"/>
            <a:ext cx="10515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FB8AF"/>
              </a:buClr>
              <a:buSzPts val="1200"/>
              <a:buFont typeface="Calibri"/>
              <a:buNone/>
            </a:pPr>
            <a:r>
              <a:rPr b="1" i="0" lang="en-US" sz="1200" u="none" cap="none" strike="noStrike">
                <a:solidFill>
                  <a:srgbClr val="3FB8AF"/>
                </a:solidFill>
                <a:latin typeface="Calibri"/>
                <a:ea typeface="Calibri"/>
                <a:cs typeface="Calibri"/>
                <a:sym typeface="Calibri"/>
              </a:rPr>
              <a:t>SISTEMUL CENTRAL 1</a:t>
            </a:r>
            <a:endParaRPr b="0" i="0" sz="1200" u="none" cap="none" strike="noStrike">
              <a:solidFill>
                <a:schemeClr val="dk1"/>
              </a:solidFill>
              <a:latin typeface="Calibri"/>
              <a:ea typeface="Calibri"/>
              <a:cs typeface="Calibri"/>
              <a:sym typeface="Calibri"/>
            </a:endParaRPr>
          </a:p>
        </p:txBody>
      </p:sp>
      <p:sp>
        <p:nvSpPr>
          <p:cNvPr id="153" name="Google Shape;153;p9"/>
          <p:cNvSpPr/>
          <p:nvPr/>
        </p:nvSpPr>
        <p:spPr>
          <a:xfrm>
            <a:off x="548640" y="640080"/>
            <a:ext cx="11064240" cy="8229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DE7F2"/>
              </a:buClr>
              <a:buSzPts val="3200"/>
              <a:buFont typeface="Cambria"/>
              <a:buNone/>
            </a:pPr>
            <a:r>
              <a:rPr b="1" lang="en-US" sz="3200">
                <a:solidFill>
                  <a:srgbClr val="EDE7F2"/>
                </a:solidFill>
                <a:latin typeface="Cambria"/>
                <a:ea typeface="Cambria"/>
                <a:cs typeface="Cambria"/>
                <a:sym typeface="Cambria"/>
              </a:rPr>
              <a:t>Un exemplu de labirint generat</a:t>
            </a:r>
            <a:endParaRPr b="0" i="0" sz="3200" u="none" cap="none" strike="noStrike">
              <a:solidFill>
                <a:schemeClr val="dk1"/>
              </a:solidFill>
              <a:latin typeface="Calibri"/>
              <a:ea typeface="Calibri"/>
              <a:cs typeface="Calibri"/>
              <a:sym typeface="Calibri"/>
            </a:endParaRPr>
          </a:p>
        </p:txBody>
      </p:sp>
      <p:sp>
        <p:nvSpPr>
          <p:cNvPr id="154" name="Google Shape;154;p9"/>
          <p:cNvSpPr/>
          <p:nvPr/>
        </p:nvSpPr>
        <p:spPr>
          <a:xfrm>
            <a:off x="8138160" y="2377440"/>
            <a:ext cx="3474720" cy="3108960"/>
          </a:xfrm>
          <a:prstGeom prst="rect">
            <a:avLst/>
          </a:prstGeom>
          <a:noFill/>
          <a:ln>
            <a:noFill/>
          </a:ln>
        </p:spPr>
        <p:txBody>
          <a:bodyPr anchorCtr="0" anchor="ctr" bIns="0" lIns="0" spcFirstLastPara="1" rIns="0" wrap="square" tIns="0">
            <a:noAutofit/>
          </a:bodyPr>
          <a:lstStyle/>
          <a:p>
            <a:pPr indent="-190500" lvl="0" marL="190500" marR="0" rtl="0" algn="l">
              <a:spcBef>
                <a:spcPts val="0"/>
              </a:spcBef>
              <a:spcAft>
                <a:spcPts val="0"/>
              </a:spcAft>
              <a:buClr>
                <a:srgbClr val="EDE7F2"/>
              </a:buClr>
              <a:buSzPts val="1350"/>
              <a:buFont typeface="Calibri"/>
              <a:buChar char="•"/>
            </a:pPr>
            <a:r>
              <a:rPr b="0" i="0" lang="en-US" sz="1350" u="none" cap="none" strike="noStrike">
                <a:solidFill>
                  <a:srgbClr val="EDE7F2"/>
                </a:solidFill>
                <a:latin typeface="Calibri"/>
                <a:ea typeface="Calibri"/>
                <a:cs typeface="Calibri"/>
                <a:sym typeface="Calibri"/>
              </a:rPr>
              <a:t>Fiecare nivel e diferit</a:t>
            </a:r>
            <a:endParaRPr b="0" i="0" sz="1350" u="none" cap="none" strike="noStrike">
              <a:solidFill>
                <a:schemeClr val="dk1"/>
              </a:solidFill>
              <a:latin typeface="Calibri"/>
              <a:ea typeface="Calibri"/>
              <a:cs typeface="Calibri"/>
              <a:sym typeface="Calibri"/>
            </a:endParaRPr>
          </a:p>
          <a:p>
            <a:pPr indent="-190500" lvl="0" marL="190500" marR="0" rtl="0" algn="l">
              <a:spcBef>
                <a:spcPts val="800"/>
              </a:spcBef>
              <a:spcAft>
                <a:spcPts val="0"/>
              </a:spcAft>
              <a:buClr>
                <a:srgbClr val="EDE7F2"/>
              </a:buClr>
              <a:buSzPts val="1350"/>
              <a:buFont typeface="Calibri"/>
              <a:buChar char="•"/>
            </a:pPr>
            <a:r>
              <a:rPr b="0" i="0" lang="en-US" sz="1350" u="none" cap="none" strike="noStrike">
                <a:solidFill>
                  <a:srgbClr val="EDE7F2"/>
                </a:solidFill>
                <a:latin typeface="Calibri"/>
                <a:ea typeface="Calibri"/>
                <a:cs typeface="Calibri"/>
                <a:sym typeface="Calibri"/>
              </a:rPr>
              <a:t>Camerele se leagă ușă-la-ușă, fără coridoare</a:t>
            </a:r>
            <a:endParaRPr b="0" i="0" sz="1350" u="none" cap="none" strike="noStrike">
              <a:solidFill>
                <a:schemeClr val="dk1"/>
              </a:solidFill>
              <a:latin typeface="Calibri"/>
              <a:ea typeface="Calibri"/>
              <a:cs typeface="Calibri"/>
              <a:sym typeface="Calibri"/>
            </a:endParaRPr>
          </a:p>
          <a:p>
            <a:pPr indent="-190500" lvl="0" marL="190500" marR="0" rtl="0" algn="l">
              <a:spcBef>
                <a:spcPts val="800"/>
              </a:spcBef>
              <a:spcAft>
                <a:spcPts val="0"/>
              </a:spcAft>
              <a:buClr>
                <a:srgbClr val="EDE7F2"/>
              </a:buClr>
              <a:buSzPts val="1350"/>
              <a:buFont typeface="Calibri"/>
              <a:buChar char="•"/>
            </a:pPr>
            <a:r>
              <a:rPr b="0" i="0" lang="en-US" sz="1350" u="none" cap="none" strike="noStrike">
                <a:solidFill>
                  <a:srgbClr val="EDE7F2"/>
                </a:solidFill>
                <a:latin typeface="Calibri"/>
                <a:ea typeface="Calibri"/>
                <a:cs typeface="Calibri"/>
                <a:sym typeface="Calibri"/>
              </a:rPr>
              <a:t>Minimap-ul reflectă graful camerelor</a:t>
            </a:r>
            <a:endParaRPr b="0" i="0" sz="1350" u="none" cap="none" strike="noStrike">
              <a:solidFill>
                <a:schemeClr val="dk1"/>
              </a:solidFill>
              <a:latin typeface="Calibri"/>
              <a:ea typeface="Calibri"/>
              <a:cs typeface="Calibri"/>
              <a:sym typeface="Calibri"/>
            </a:endParaRPr>
          </a:p>
          <a:p>
            <a:pPr indent="-190500" lvl="0" marL="190500" marR="0" rtl="0" algn="l">
              <a:spcBef>
                <a:spcPts val="800"/>
              </a:spcBef>
              <a:spcAft>
                <a:spcPts val="0"/>
              </a:spcAft>
              <a:buClr>
                <a:srgbClr val="EDE7F2"/>
              </a:buClr>
              <a:buSzPts val="1350"/>
              <a:buFont typeface="Calibri"/>
              <a:buChar char="•"/>
            </a:pPr>
            <a:r>
              <a:rPr b="0" i="0" lang="en-US" sz="1350" u="none" cap="none" strike="noStrike">
                <a:solidFill>
                  <a:srgbClr val="EDE7F2"/>
                </a:solidFill>
                <a:latin typeface="Calibri"/>
                <a:ea typeface="Calibri"/>
                <a:cs typeface="Calibri"/>
                <a:sym typeface="Calibri"/>
              </a:rPr>
              <a:t>Boss-ul este</a:t>
            </a:r>
            <a:r>
              <a:rPr lang="en-US" sz="1350">
                <a:solidFill>
                  <a:srgbClr val="EDE7F2"/>
                </a:solidFill>
                <a:latin typeface="Calibri"/>
                <a:ea typeface="Calibri"/>
                <a:cs typeface="Calibri"/>
                <a:sym typeface="Calibri"/>
              </a:rPr>
              <a:t> </a:t>
            </a:r>
            <a:r>
              <a:rPr b="0" i="0" lang="en-US" sz="1350" u="none" cap="none" strike="noStrike">
                <a:solidFill>
                  <a:srgbClr val="EDE7F2"/>
                </a:solidFill>
                <a:latin typeface="Calibri"/>
                <a:ea typeface="Calibri"/>
                <a:cs typeface="Calibri"/>
                <a:sym typeface="Calibri"/>
              </a:rPr>
              <a:t>în camera cea mai î</a:t>
            </a:r>
            <a:r>
              <a:rPr lang="en-US" sz="1350">
                <a:solidFill>
                  <a:srgbClr val="EDE7F2"/>
                </a:solidFill>
                <a:latin typeface="Calibri"/>
                <a:ea typeface="Calibri"/>
                <a:cs typeface="Calibri"/>
                <a:sym typeface="Calibri"/>
              </a:rPr>
              <a:t>ndepărtată de la camera de start</a:t>
            </a:r>
            <a:endParaRPr b="0" i="0" sz="1350" u="none" cap="none" strike="noStrike">
              <a:solidFill>
                <a:schemeClr val="dk1"/>
              </a:solidFill>
              <a:latin typeface="Calibri"/>
              <a:ea typeface="Calibri"/>
              <a:cs typeface="Calibri"/>
              <a:sym typeface="Calibri"/>
            </a:endParaRPr>
          </a:p>
        </p:txBody>
      </p:sp>
      <p:sp>
        <p:nvSpPr>
          <p:cNvPr id="155" name="Google Shape;155;p9"/>
          <p:cNvSpPr/>
          <p:nvPr/>
        </p:nvSpPr>
        <p:spPr>
          <a:xfrm>
            <a:off x="11521440" y="6400800"/>
            <a:ext cx="4572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9A8FA8"/>
              </a:buClr>
              <a:buSzPts val="1000"/>
              <a:buFont typeface="Calibri"/>
              <a:buNone/>
            </a:pPr>
            <a:r>
              <a:rPr b="0" i="0" lang="en-US" sz="1000" u="none" cap="none" strike="noStrike">
                <a:solidFill>
                  <a:srgbClr val="9A8FA8"/>
                </a:solidFill>
                <a:latin typeface="Calibri"/>
                <a:ea typeface="Calibri"/>
                <a:cs typeface="Calibri"/>
                <a:sym typeface="Calibri"/>
              </a:rPr>
              <a:t>7</a:t>
            </a:r>
            <a:endParaRPr b="0" i="0" sz="1000" u="none" cap="none" strike="noStrike">
              <a:solidFill>
                <a:schemeClr val="dk1"/>
              </a:solidFill>
              <a:latin typeface="Calibri"/>
              <a:ea typeface="Calibri"/>
              <a:cs typeface="Calibri"/>
              <a:sym typeface="Calibri"/>
            </a:endParaRPr>
          </a:p>
        </p:txBody>
      </p:sp>
      <p:pic>
        <p:nvPicPr>
          <p:cNvPr id="156" name="Google Shape;156;p9" title="generated-floor-ingame.png"/>
          <p:cNvPicPr preferRelativeResize="0"/>
          <p:nvPr/>
        </p:nvPicPr>
        <p:blipFill>
          <a:blip r:embed="rId3">
            <a:alphaModFix/>
          </a:blip>
          <a:stretch>
            <a:fillRect/>
          </a:stretch>
        </p:blipFill>
        <p:spPr>
          <a:xfrm>
            <a:off x="250425" y="1429875"/>
            <a:ext cx="7565199" cy="501745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1526"/>
        </a:solidFill>
      </p:bgPr>
    </p:bg>
    <p:spTree>
      <p:nvGrpSpPr>
        <p:cNvPr id="161" name="Shape 161"/>
        <p:cNvGrpSpPr/>
        <p:nvPr/>
      </p:nvGrpSpPr>
      <p:grpSpPr>
        <a:xfrm>
          <a:off x="0" y="0"/>
          <a:ext cx="0" cy="0"/>
          <a:chOff x="0" y="0"/>
          <a:chExt cx="0" cy="0"/>
        </a:xfrm>
      </p:grpSpPr>
      <p:sp>
        <p:nvSpPr>
          <p:cNvPr id="162" name="Google Shape;162;p10"/>
          <p:cNvSpPr/>
          <p:nvPr/>
        </p:nvSpPr>
        <p:spPr>
          <a:xfrm>
            <a:off x="548640" y="384048"/>
            <a:ext cx="10515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FB8AF"/>
              </a:buClr>
              <a:buSzPts val="1200"/>
              <a:buFont typeface="Calibri"/>
              <a:buNone/>
            </a:pPr>
            <a:r>
              <a:rPr b="1" i="0" lang="en-US" sz="1200" u="none" cap="none" strike="noStrike">
                <a:solidFill>
                  <a:srgbClr val="3FB8AF"/>
                </a:solidFill>
                <a:latin typeface="Calibri"/>
                <a:ea typeface="Calibri"/>
                <a:cs typeface="Calibri"/>
                <a:sym typeface="Calibri"/>
              </a:rPr>
              <a:t>SISTEMUL CENTRAL 2</a:t>
            </a:r>
            <a:endParaRPr b="0" i="0" sz="1200" u="none" cap="none" strike="noStrike">
              <a:solidFill>
                <a:schemeClr val="dk1"/>
              </a:solidFill>
              <a:latin typeface="Calibri"/>
              <a:ea typeface="Calibri"/>
              <a:cs typeface="Calibri"/>
              <a:sym typeface="Calibri"/>
            </a:endParaRPr>
          </a:p>
        </p:txBody>
      </p:sp>
      <p:sp>
        <p:nvSpPr>
          <p:cNvPr id="163" name="Google Shape;163;p10"/>
          <p:cNvSpPr/>
          <p:nvPr/>
        </p:nvSpPr>
        <p:spPr>
          <a:xfrm>
            <a:off x="548640" y="640080"/>
            <a:ext cx="11064240" cy="8229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DE7F2"/>
              </a:buClr>
              <a:buSzPts val="3200"/>
              <a:buFont typeface="Cambria"/>
              <a:buNone/>
            </a:pPr>
            <a:r>
              <a:rPr b="1" i="0" lang="en-US" sz="3200" u="none" cap="none" strike="noStrike">
                <a:solidFill>
                  <a:srgbClr val="EDE7F2"/>
                </a:solidFill>
                <a:latin typeface="Cambria"/>
                <a:ea typeface="Cambria"/>
                <a:cs typeface="Cambria"/>
                <a:sym typeface="Cambria"/>
              </a:rPr>
              <a:t>Lupta: un con de fulgere</a:t>
            </a:r>
            <a:endParaRPr b="0" i="0" sz="3200" u="none" cap="none" strike="noStrike">
              <a:solidFill>
                <a:schemeClr val="dk1"/>
              </a:solidFill>
              <a:latin typeface="Calibri"/>
              <a:ea typeface="Calibri"/>
              <a:cs typeface="Calibri"/>
              <a:sym typeface="Calibri"/>
            </a:endParaRPr>
          </a:p>
        </p:txBody>
      </p:sp>
      <p:sp>
        <p:nvSpPr>
          <p:cNvPr id="164" name="Google Shape;164;p10"/>
          <p:cNvSpPr/>
          <p:nvPr/>
        </p:nvSpPr>
        <p:spPr>
          <a:xfrm>
            <a:off x="548640" y="1783080"/>
            <a:ext cx="11064240" cy="54864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EDE7F2"/>
              </a:buClr>
              <a:buSzPts val="1450"/>
              <a:buFont typeface="Calibri"/>
              <a:buNone/>
            </a:pPr>
            <a:r>
              <a:rPr b="0" i="0" lang="en-US" sz="1450" u="none" cap="none" strike="noStrike">
                <a:solidFill>
                  <a:srgbClr val="EDE7F2"/>
                </a:solidFill>
                <a:latin typeface="Calibri"/>
                <a:ea typeface="Calibri"/>
                <a:cs typeface="Calibri"/>
                <a:sym typeface="Calibri"/>
              </a:rPr>
              <a:t>Atacul jucătorului trimite un evantai de fulgere într-un con spre cursor. Detecția loviturilor rulează în două etape.</a:t>
            </a:r>
            <a:endParaRPr b="0" i="0" sz="1450" u="none" cap="none" strike="noStrike">
              <a:solidFill>
                <a:schemeClr val="dk1"/>
              </a:solidFill>
              <a:latin typeface="Calibri"/>
              <a:ea typeface="Calibri"/>
              <a:cs typeface="Calibri"/>
              <a:sym typeface="Calibri"/>
            </a:endParaRPr>
          </a:p>
        </p:txBody>
      </p:sp>
      <p:sp>
        <p:nvSpPr>
          <p:cNvPr id="165" name="Google Shape;165;p10"/>
          <p:cNvSpPr/>
          <p:nvPr/>
        </p:nvSpPr>
        <p:spPr>
          <a:xfrm>
            <a:off x="548640" y="2468880"/>
            <a:ext cx="11064240" cy="1005840"/>
          </a:xfrm>
          <a:prstGeom prst="roundRect">
            <a:avLst>
              <a:gd fmla="val 7273" name="adj"/>
            </a:avLst>
          </a:prstGeom>
          <a:solidFill>
            <a:srgbClr val="241C33"/>
          </a:solidFill>
          <a:ln cap="flat" cmpd="sng" w="9525">
            <a:solidFill>
              <a:srgbClr val="2A7A7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10"/>
          <p:cNvSpPr/>
          <p:nvPr/>
        </p:nvSpPr>
        <p:spPr>
          <a:xfrm>
            <a:off x="822960" y="2724912"/>
            <a:ext cx="128016" cy="128016"/>
          </a:xfrm>
          <a:prstGeom prst="ellipse">
            <a:avLst/>
          </a:prstGeom>
          <a:solidFill>
            <a:srgbClr val="3FB8A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10"/>
          <p:cNvSpPr/>
          <p:nvPr/>
        </p:nvSpPr>
        <p:spPr>
          <a:xfrm>
            <a:off x="1097280" y="2615184"/>
            <a:ext cx="274320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B8AF"/>
              </a:buClr>
              <a:buSzPts val="1500"/>
              <a:buFont typeface="Calibri"/>
              <a:buNone/>
            </a:pPr>
            <a:r>
              <a:rPr b="1" i="0" lang="en-US" sz="1500" u="none" cap="none" strike="noStrike">
                <a:solidFill>
                  <a:srgbClr val="3FB8AF"/>
                </a:solidFill>
                <a:latin typeface="Calibri"/>
                <a:ea typeface="Calibri"/>
                <a:cs typeface="Calibri"/>
                <a:sym typeface="Calibri"/>
              </a:rPr>
              <a:t>1 · Faza brută</a:t>
            </a:r>
            <a:endParaRPr b="0" i="0" sz="1500" u="none" cap="none" strike="noStrike">
              <a:solidFill>
                <a:schemeClr val="dk1"/>
              </a:solidFill>
              <a:latin typeface="Calibri"/>
              <a:ea typeface="Calibri"/>
              <a:cs typeface="Calibri"/>
              <a:sym typeface="Calibri"/>
            </a:endParaRPr>
          </a:p>
        </p:txBody>
      </p:sp>
      <p:sp>
        <p:nvSpPr>
          <p:cNvPr id="168" name="Google Shape;168;p10"/>
          <p:cNvSpPr/>
          <p:nvPr/>
        </p:nvSpPr>
        <p:spPr>
          <a:xfrm>
            <a:off x="3840480" y="2560320"/>
            <a:ext cx="7498080" cy="82296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EDE7F2"/>
              </a:buClr>
              <a:buSzPts val="1300"/>
              <a:buFont typeface="Calibri"/>
              <a:buNone/>
            </a:pPr>
            <a:r>
              <a:rPr b="0" i="0" lang="en-US" sz="1300" u="none" cap="none" strike="noStrike">
                <a:solidFill>
                  <a:srgbClr val="EDE7F2"/>
                </a:solidFill>
                <a:latin typeface="Calibri"/>
                <a:ea typeface="Calibri"/>
                <a:cs typeface="Calibri"/>
                <a:sym typeface="Calibri"/>
              </a:rPr>
              <a:t>O interogare overlap-circle adună doar inamicii apropiați </a:t>
            </a:r>
            <a:r>
              <a:rPr lang="en-US" sz="1300">
                <a:solidFill>
                  <a:srgbClr val="EDE7F2"/>
                </a:solidFill>
                <a:latin typeface="Calibri"/>
                <a:ea typeface="Calibri"/>
                <a:cs typeface="Calibri"/>
                <a:sym typeface="Calibri"/>
              </a:rPr>
              <a:t>-</a:t>
            </a:r>
            <a:r>
              <a:rPr b="0" i="0" lang="en-US" sz="1300" u="none" cap="none" strike="noStrike">
                <a:solidFill>
                  <a:srgbClr val="EDE7F2"/>
                </a:solidFill>
                <a:latin typeface="Calibri"/>
                <a:ea typeface="Calibri"/>
                <a:cs typeface="Calibri"/>
                <a:sym typeface="Calibri"/>
              </a:rPr>
              <a:t> restul camerei nu e verificat.</a:t>
            </a:r>
            <a:endParaRPr b="0" i="0" sz="1300" u="none" cap="none" strike="noStrike">
              <a:solidFill>
                <a:schemeClr val="dk1"/>
              </a:solidFill>
              <a:latin typeface="Calibri"/>
              <a:ea typeface="Calibri"/>
              <a:cs typeface="Calibri"/>
              <a:sym typeface="Calibri"/>
            </a:endParaRPr>
          </a:p>
        </p:txBody>
      </p:sp>
      <p:sp>
        <p:nvSpPr>
          <p:cNvPr id="169" name="Google Shape;169;p10"/>
          <p:cNvSpPr/>
          <p:nvPr/>
        </p:nvSpPr>
        <p:spPr>
          <a:xfrm>
            <a:off x="548640" y="3611880"/>
            <a:ext cx="11064240" cy="1005840"/>
          </a:xfrm>
          <a:prstGeom prst="roundRect">
            <a:avLst>
              <a:gd fmla="val 7273" name="adj"/>
            </a:avLst>
          </a:prstGeom>
          <a:solidFill>
            <a:srgbClr val="241C33"/>
          </a:solidFill>
          <a:ln cap="flat" cmpd="sng" w="9525">
            <a:solidFill>
              <a:srgbClr val="2A7A7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p10"/>
          <p:cNvSpPr/>
          <p:nvPr/>
        </p:nvSpPr>
        <p:spPr>
          <a:xfrm>
            <a:off x="822960" y="3867912"/>
            <a:ext cx="128016" cy="128016"/>
          </a:xfrm>
          <a:prstGeom prst="ellipse">
            <a:avLst/>
          </a:prstGeom>
          <a:solidFill>
            <a:srgbClr val="3FB8A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10"/>
          <p:cNvSpPr/>
          <p:nvPr/>
        </p:nvSpPr>
        <p:spPr>
          <a:xfrm>
            <a:off x="1097280" y="3758184"/>
            <a:ext cx="274320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B8AF"/>
              </a:buClr>
              <a:buSzPts val="1500"/>
              <a:buFont typeface="Calibri"/>
              <a:buNone/>
            </a:pPr>
            <a:r>
              <a:rPr b="1" i="0" lang="en-US" sz="1500" u="none" cap="none" strike="noStrike">
                <a:solidFill>
                  <a:srgbClr val="3FB8AF"/>
                </a:solidFill>
                <a:latin typeface="Calibri"/>
                <a:ea typeface="Calibri"/>
                <a:cs typeface="Calibri"/>
                <a:sym typeface="Calibri"/>
              </a:rPr>
              <a:t>2 · Faza precisă</a:t>
            </a:r>
            <a:endParaRPr b="0" i="0" sz="1500" u="none" cap="none" strike="noStrike">
              <a:solidFill>
                <a:schemeClr val="dk1"/>
              </a:solidFill>
              <a:latin typeface="Calibri"/>
              <a:ea typeface="Calibri"/>
              <a:cs typeface="Calibri"/>
              <a:sym typeface="Calibri"/>
            </a:endParaRPr>
          </a:p>
        </p:txBody>
      </p:sp>
      <p:sp>
        <p:nvSpPr>
          <p:cNvPr id="172" name="Google Shape;172;p10"/>
          <p:cNvSpPr/>
          <p:nvPr/>
        </p:nvSpPr>
        <p:spPr>
          <a:xfrm>
            <a:off x="3840480" y="3703320"/>
            <a:ext cx="7498080" cy="82296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EDE7F2"/>
              </a:buClr>
              <a:buSzPts val="1300"/>
              <a:buFont typeface="Calibri"/>
              <a:buNone/>
            </a:pPr>
            <a:r>
              <a:rPr b="0" i="0" lang="en-US" sz="1300" u="none" cap="none" strike="noStrike">
                <a:solidFill>
                  <a:srgbClr val="EDE7F2"/>
                </a:solidFill>
                <a:latin typeface="Calibri"/>
                <a:ea typeface="Calibri"/>
                <a:cs typeface="Calibri"/>
                <a:sym typeface="Calibri"/>
              </a:rPr>
              <a:t>Pentru fiecare inamic din con, produsul vectorial 2D (2D cross product) dă distanța perpendiculară până la fiecare fulger </a:t>
            </a:r>
            <a:r>
              <a:rPr lang="en-US" sz="1300">
                <a:solidFill>
                  <a:srgbClr val="EDE7F2"/>
                </a:solidFill>
                <a:latin typeface="Calibri"/>
                <a:ea typeface="Calibri"/>
                <a:cs typeface="Calibri"/>
                <a:sym typeface="Calibri"/>
              </a:rPr>
              <a:t>-</a:t>
            </a:r>
            <a:r>
              <a:rPr b="0" i="0" lang="en-US" sz="1300" u="none" cap="none" strike="noStrike">
                <a:solidFill>
                  <a:srgbClr val="EDE7F2"/>
                </a:solidFill>
                <a:latin typeface="Calibri"/>
                <a:ea typeface="Calibri"/>
                <a:cs typeface="Calibri"/>
                <a:sym typeface="Calibri"/>
              </a:rPr>
              <a:t> numărând câte îl ating.</a:t>
            </a:r>
            <a:endParaRPr b="0" i="0" sz="1300" u="none" cap="none" strike="noStrike">
              <a:solidFill>
                <a:schemeClr val="dk1"/>
              </a:solidFill>
              <a:latin typeface="Calibri"/>
              <a:ea typeface="Calibri"/>
              <a:cs typeface="Calibri"/>
              <a:sym typeface="Calibri"/>
            </a:endParaRPr>
          </a:p>
        </p:txBody>
      </p:sp>
      <p:sp>
        <p:nvSpPr>
          <p:cNvPr id="173" name="Google Shape;173;p10"/>
          <p:cNvSpPr/>
          <p:nvPr/>
        </p:nvSpPr>
        <p:spPr>
          <a:xfrm>
            <a:off x="548640" y="4754880"/>
            <a:ext cx="11064240" cy="1005840"/>
          </a:xfrm>
          <a:prstGeom prst="roundRect">
            <a:avLst>
              <a:gd fmla="val 7273" name="adj"/>
            </a:avLst>
          </a:prstGeom>
          <a:solidFill>
            <a:srgbClr val="241C33"/>
          </a:solidFill>
          <a:ln cap="flat" cmpd="sng" w="9525">
            <a:solidFill>
              <a:srgbClr val="2A7A7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10"/>
          <p:cNvSpPr/>
          <p:nvPr/>
        </p:nvSpPr>
        <p:spPr>
          <a:xfrm>
            <a:off x="822960" y="5010912"/>
            <a:ext cx="128016" cy="128016"/>
          </a:xfrm>
          <a:prstGeom prst="ellipse">
            <a:avLst/>
          </a:prstGeom>
          <a:solidFill>
            <a:srgbClr val="3FB8A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p10"/>
          <p:cNvSpPr/>
          <p:nvPr/>
        </p:nvSpPr>
        <p:spPr>
          <a:xfrm>
            <a:off x="1097280" y="4901184"/>
            <a:ext cx="274320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B8AF"/>
              </a:buClr>
              <a:buSzPts val="1500"/>
              <a:buFont typeface="Calibri"/>
              <a:buNone/>
            </a:pPr>
            <a:r>
              <a:rPr b="1" i="0" lang="en-US" sz="1500" u="none" cap="none" strike="noStrike">
                <a:solidFill>
                  <a:srgbClr val="3FB8AF"/>
                </a:solidFill>
                <a:latin typeface="Calibri"/>
                <a:ea typeface="Calibri"/>
                <a:cs typeface="Calibri"/>
                <a:sym typeface="Calibri"/>
              </a:rPr>
              <a:t>Daune proporționale</a:t>
            </a:r>
            <a:endParaRPr b="0" i="0" sz="1500" u="none" cap="none" strike="noStrike">
              <a:solidFill>
                <a:schemeClr val="dk1"/>
              </a:solidFill>
              <a:latin typeface="Calibri"/>
              <a:ea typeface="Calibri"/>
              <a:cs typeface="Calibri"/>
              <a:sym typeface="Calibri"/>
            </a:endParaRPr>
          </a:p>
        </p:txBody>
      </p:sp>
      <p:sp>
        <p:nvSpPr>
          <p:cNvPr id="176" name="Google Shape;176;p10"/>
          <p:cNvSpPr/>
          <p:nvPr/>
        </p:nvSpPr>
        <p:spPr>
          <a:xfrm>
            <a:off x="3840480" y="4846320"/>
            <a:ext cx="7498080" cy="82296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EDE7F2"/>
              </a:buClr>
              <a:buSzPts val="1300"/>
              <a:buFont typeface="Calibri"/>
              <a:buNone/>
            </a:pPr>
            <a:r>
              <a:rPr b="0" i="0" lang="en-US" sz="1300" u="none" cap="none" strike="noStrike">
                <a:solidFill>
                  <a:srgbClr val="EDE7F2"/>
                </a:solidFill>
                <a:latin typeface="Calibri"/>
                <a:ea typeface="Calibri"/>
                <a:cs typeface="Calibri"/>
                <a:sym typeface="Calibri"/>
              </a:rPr>
              <a:t>Mai multe fulgere pe un inamic = mai multe daune. Un prag de o lovitură elimină cazurile-limită cu zero daune.</a:t>
            </a:r>
            <a:endParaRPr b="0" i="0" sz="1300" u="none" cap="none" strike="noStrike">
              <a:solidFill>
                <a:schemeClr val="dk1"/>
              </a:solidFill>
              <a:latin typeface="Calibri"/>
              <a:ea typeface="Calibri"/>
              <a:cs typeface="Calibri"/>
              <a:sym typeface="Calibri"/>
            </a:endParaRPr>
          </a:p>
        </p:txBody>
      </p:sp>
      <p:sp>
        <p:nvSpPr>
          <p:cNvPr id="177" name="Google Shape;177;p10"/>
          <p:cNvSpPr/>
          <p:nvPr/>
        </p:nvSpPr>
        <p:spPr>
          <a:xfrm>
            <a:off x="11521440" y="6400800"/>
            <a:ext cx="4572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9A8FA8"/>
              </a:buClr>
              <a:buSzPts val="1000"/>
              <a:buFont typeface="Calibri"/>
              <a:buNone/>
            </a:pPr>
            <a:r>
              <a:rPr b="0" i="0" lang="en-US" sz="1000" u="none" cap="none" strike="noStrike">
                <a:solidFill>
                  <a:srgbClr val="9A8FA8"/>
                </a:solidFill>
                <a:latin typeface="Calibri"/>
                <a:ea typeface="Calibri"/>
                <a:cs typeface="Calibri"/>
                <a:sym typeface="Calibri"/>
              </a:rPr>
              <a:t>8</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1526"/>
        </a:solidFill>
      </p:bgPr>
    </p:bg>
    <p:spTree>
      <p:nvGrpSpPr>
        <p:cNvPr id="182" name="Shape 182"/>
        <p:cNvGrpSpPr/>
        <p:nvPr/>
      </p:nvGrpSpPr>
      <p:grpSpPr>
        <a:xfrm>
          <a:off x="0" y="0"/>
          <a:ext cx="0" cy="0"/>
          <a:chOff x="0" y="0"/>
          <a:chExt cx="0" cy="0"/>
        </a:xfrm>
      </p:grpSpPr>
      <p:sp>
        <p:nvSpPr>
          <p:cNvPr id="183" name="Google Shape;183;p11"/>
          <p:cNvSpPr/>
          <p:nvPr/>
        </p:nvSpPr>
        <p:spPr>
          <a:xfrm>
            <a:off x="548640" y="384048"/>
            <a:ext cx="10515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FB8AF"/>
              </a:buClr>
              <a:buSzPts val="1200"/>
              <a:buFont typeface="Calibri"/>
              <a:buNone/>
            </a:pPr>
            <a:r>
              <a:rPr b="1" i="0" lang="en-US" sz="1200" u="none" cap="none" strike="noStrike">
                <a:solidFill>
                  <a:srgbClr val="3FB8AF"/>
                </a:solidFill>
                <a:latin typeface="Calibri"/>
                <a:ea typeface="Calibri"/>
                <a:cs typeface="Calibri"/>
                <a:sym typeface="Calibri"/>
              </a:rPr>
              <a:t>SISTEME</a:t>
            </a:r>
            <a:endParaRPr b="0" i="0" sz="1200" u="none" cap="none" strike="noStrike">
              <a:solidFill>
                <a:schemeClr val="dk1"/>
              </a:solidFill>
              <a:latin typeface="Calibri"/>
              <a:ea typeface="Calibri"/>
              <a:cs typeface="Calibri"/>
              <a:sym typeface="Calibri"/>
            </a:endParaRPr>
          </a:p>
        </p:txBody>
      </p:sp>
      <p:sp>
        <p:nvSpPr>
          <p:cNvPr id="184" name="Google Shape;184;p11"/>
          <p:cNvSpPr/>
          <p:nvPr/>
        </p:nvSpPr>
        <p:spPr>
          <a:xfrm>
            <a:off x="548640" y="640080"/>
            <a:ext cx="11064240" cy="8229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DE7F2"/>
              </a:buClr>
              <a:buSzPts val="3200"/>
              <a:buFont typeface="Cambria"/>
              <a:buNone/>
            </a:pPr>
            <a:r>
              <a:rPr b="1" i="0" lang="en-US" sz="3200" u="none" cap="none" strike="noStrike">
                <a:solidFill>
                  <a:srgbClr val="EDE7F2"/>
                </a:solidFill>
                <a:latin typeface="Cambria"/>
                <a:ea typeface="Cambria"/>
                <a:cs typeface="Cambria"/>
                <a:sym typeface="Cambria"/>
              </a:rPr>
              <a:t>Două căi de a deveni mai puternic</a:t>
            </a:r>
            <a:endParaRPr b="0" i="0" sz="3200" u="none" cap="none" strike="noStrike">
              <a:solidFill>
                <a:schemeClr val="dk1"/>
              </a:solidFill>
              <a:latin typeface="Calibri"/>
              <a:ea typeface="Calibri"/>
              <a:cs typeface="Calibri"/>
              <a:sym typeface="Calibri"/>
            </a:endParaRPr>
          </a:p>
        </p:txBody>
      </p:sp>
      <p:sp>
        <p:nvSpPr>
          <p:cNvPr id="185" name="Google Shape;185;p11"/>
          <p:cNvSpPr/>
          <p:nvPr/>
        </p:nvSpPr>
        <p:spPr>
          <a:xfrm>
            <a:off x="548640" y="1920240"/>
            <a:ext cx="5394960" cy="3749040"/>
          </a:xfrm>
          <a:prstGeom prst="roundRect">
            <a:avLst>
              <a:gd fmla="val 1951" name="adj"/>
            </a:avLst>
          </a:prstGeom>
          <a:solidFill>
            <a:srgbClr val="241C33"/>
          </a:solidFill>
          <a:ln cap="flat" cmpd="sng" w="9525">
            <a:solidFill>
              <a:srgbClr val="2A7A7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11"/>
          <p:cNvSpPr/>
          <p:nvPr/>
        </p:nvSpPr>
        <p:spPr>
          <a:xfrm>
            <a:off x="822960" y="2212848"/>
            <a:ext cx="128016" cy="128016"/>
          </a:xfrm>
          <a:prstGeom prst="ellipse">
            <a:avLst/>
          </a:prstGeom>
          <a:solidFill>
            <a:srgbClr val="3FB8A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11"/>
          <p:cNvSpPr/>
          <p:nvPr/>
        </p:nvSpPr>
        <p:spPr>
          <a:xfrm>
            <a:off x="1097280" y="2103120"/>
            <a:ext cx="45720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B8AF"/>
              </a:buClr>
              <a:buSzPts val="1600"/>
              <a:buFont typeface="Calibri"/>
              <a:buNone/>
            </a:pPr>
            <a:r>
              <a:rPr b="1" i="0" lang="en-US" sz="1600" u="none" cap="none" strike="noStrike">
                <a:solidFill>
                  <a:srgbClr val="3FB8AF"/>
                </a:solidFill>
                <a:latin typeface="Calibri"/>
                <a:ea typeface="Calibri"/>
                <a:cs typeface="Calibri"/>
                <a:sym typeface="Calibri"/>
              </a:rPr>
              <a:t>Obiecte din camerele cu comori</a:t>
            </a:r>
            <a:endParaRPr b="0" i="0" sz="1600" u="none" cap="none" strike="noStrike">
              <a:solidFill>
                <a:schemeClr val="dk1"/>
              </a:solidFill>
              <a:latin typeface="Calibri"/>
              <a:ea typeface="Calibri"/>
              <a:cs typeface="Calibri"/>
              <a:sym typeface="Calibri"/>
            </a:endParaRPr>
          </a:p>
        </p:txBody>
      </p:sp>
      <p:sp>
        <p:nvSpPr>
          <p:cNvPr id="188" name="Google Shape;188;p11"/>
          <p:cNvSpPr/>
          <p:nvPr/>
        </p:nvSpPr>
        <p:spPr>
          <a:xfrm>
            <a:off x="1097280" y="2606040"/>
            <a:ext cx="4572000" cy="283464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EDE7F2"/>
              </a:buClr>
              <a:buSzPts val="1350"/>
              <a:buFont typeface="Calibri"/>
              <a:buNone/>
            </a:pPr>
            <a:r>
              <a:rPr b="1" i="0" lang="en-US" sz="1350" u="none" cap="none" strike="noStrike">
                <a:solidFill>
                  <a:srgbClr val="EDE7F2"/>
                </a:solidFill>
                <a:latin typeface="Calibri"/>
                <a:ea typeface="Calibri"/>
                <a:cs typeface="Calibri"/>
                <a:sym typeface="Calibri"/>
              </a:rPr>
              <a:t>Alegeri ale jucătorului</a:t>
            </a:r>
            <a:endParaRPr b="0" i="0" sz="1350" u="none" cap="none" strike="noStrike">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EDE7F2"/>
              </a:buClr>
              <a:buSzPts val="1350"/>
              <a:buFont typeface="Calibri"/>
              <a:buNone/>
            </a:pPr>
            <a:r>
              <a:rPr b="0" i="0" lang="en-US" sz="1350" u="none" cap="none" strike="noStrike">
                <a:solidFill>
                  <a:srgbClr val="EDE7F2"/>
                </a:solidFill>
                <a:latin typeface="Calibri"/>
                <a:ea typeface="Calibri"/>
                <a:cs typeface="Calibri"/>
                <a:sym typeface="Calibri"/>
              </a:rPr>
              <a:t>Fiecare obiect e un ScriptableObject cu un efect (</a:t>
            </a:r>
            <a:r>
              <a:rPr lang="en-US" sz="1350">
                <a:solidFill>
                  <a:srgbClr val="EDE7F2"/>
                </a:solidFill>
                <a:latin typeface="Calibri"/>
                <a:ea typeface="Calibri"/>
                <a:cs typeface="Calibri"/>
                <a:sym typeface="Calibri"/>
              </a:rPr>
              <a:t>atac</a:t>
            </a:r>
            <a:r>
              <a:rPr b="0" i="0" lang="en-US" sz="1350" u="none" cap="none" strike="noStrike">
                <a:solidFill>
                  <a:srgbClr val="EDE7F2"/>
                </a:solidFill>
                <a:latin typeface="Calibri"/>
                <a:ea typeface="Calibri"/>
                <a:cs typeface="Calibri"/>
                <a:sym typeface="Calibri"/>
              </a:rPr>
              <a:t> mai rapid, proiectil în plus, regenerare…).</a:t>
            </a:r>
            <a:endParaRPr b="0" i="0" sz="1350" u="none" cap="none" strike="noStrike">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chemeClr val="dk1"/>
              </a:buClr>
              <a:buSzPts val="1350"/>
              <a:buFont typeface="Calibri"/>
              <a:buNone/>
            </a:pPr>
            <a:r>
              <a:t/>
            </a:r>
            <a:endParaRPr b="0" i="0" sz="1350" u="none" cap="none" strike="noStrike">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EDE7F2"/>
              </a:buClr>
              <a:buSzPts val="1350"/>
              <a:buFont typeface="Calibri"/>
              <a:buNone/>
            </a:pPr>
            <a:r>
              <a:rPr b="0" i="0" lang="en-US" sz="1350" u="none" cap="none" strike="noStrike">
                <a:solidFill>
                  <a:srgbClr val="EDE7F2"/>
                </a:solidFill>
                <a:latin typeface="Calibri"/>
                <a:ea typeface="Calibri"/>
                <a:cs typeface="Calibri"/>
                <a:sym typeface="Calibri"/>
              </a:rPr>
              <a:t>Extrase dintr-un shuffle bag </a:t>
            </a:r>
            <a:r>
              <a:rPr lang="en-US" sz="1350">
                <a:solidFill>
                  <a:srgbClr val="EDE7F2"/>
                </a:solidFill>
                <a:latin typeface="Calibri"/>
                <a:ea typeface="Calibri"/>
                <a:cs typeface="Calibri"/>
                <a:sym typeface="Calibri"/>
              </a:rPr>
              <a:t>-</a:t>
            </a:r>
            <a:r>
              <a:rPr b="0" i="0" lang="en-US" sz="1350" u="none" cap="none" strike="noStrike">
                <a:solidFill>
                  <a:srgbClr val="EDE7F2"/>
                </a:solidFill>
                <a:latin typeface="Calibri"/>
                <a:ea typeface="Calibri"/>
                <a:cs typeface="Calibri"/>
                <a:sym typeface="Calibri"/>
              </a:rPr>
              <a:t> niciun obiect nu se repetă într-o partidă.</a:t>
            </a:r>
            <a:endParaRPr b="0" i="0" sz="1350" u="none" cap="none" strike="noStrike">
              <a:solidFill>
                <a:schemeClr val="dk1"/>
              </a:solidFill>
              <a:latin typeface="Calibri"/>
              <a:ea typeface="Calibri"/>
              <a:cs typeface="Calibri"/>
              <a:sym typeface="Calibri"/>
            </a:endParaRPr>
          </a:p>
        </p:txBody>
      </p:sp>
      <p:sp>
        <p:nvSpPr>
          <p:cNvPr id="189" name="Google Shape;189;p11"/>
          <p:cNvSpPr/>
          <p:nvPr/>
        </p:nvSpPr>
        <p:spPr>
          <a:xfrm>
            <a:off x="6217920" y="1920240"/>
            <a:ext cx="5394960" cy="3749040"/>
          </a:xfrm>
          <a:prstGeom prst="roundRect">
            <a:avLst>
              <a:gd fmla="val 1951" name="adj"/>
            </a:avLst>
          </a:prstGeom>
          <a:solidFill>
            <a:srgbClr val="241C33"/>
          </a:solidFill>
          <a:ln cap="flat" cmpd="sng" w="9525">
            <a:solidFill>
              <a:srgbClr val="2A7A7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11"/>
          <p:cNvSpPr/>
          <p:nvPr/>
        </p:nvSpPr>
        <p:spPr>
          <a:xfrm>
            <a:off x="6492240" y="2212848"/>
            <a:ext cx="128016" cy="128016"/>
          </a:xfrm>
          <a:prstGeom prst="ellipse">
            <a:avLst/>
          </a:prstGeom>
          <a:solidFill>
            <a:srgbClr val="3FB8A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11"/>
          <p:cNvSpPr/>
          <p:nvPr/>
        </p:nvSpPr>
        <p:spPr>
          <a:xfrm>
            <a:off x="6766560" y="2103120"/>
            <a:ext cx="45720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B8AF"/>
              </a:buClr>
              <a:buSzPts val="1600"/>
              <a:buFont typeface="Calibri"/>
              <a:buNone/>
            </a:pPr>
            <a:r>
              <a:rPr b="1" i="0" lang="en-US" sz="1600" u="none" cap="none" strike="noStrike">
                <a:solidFill>
                  <a:srgbClr val="3FB8AF"/>
                </a:solidFill>
                <a:latin typeface="Calibri"/>
                <a:ea typeface="Calibri"/>
                <a:cs typeface="Calibri"/>
                <a:sym typeface="Calibri"/>
              </a:rPr>
              <a:t>Bonus la fiecare cameră curățată</a:t>
            </a:r>
            <a:endParaRPr b="0" i="0" sz="1600" u="none" cap="none" strike="noStrike">
              <a:solidFill>
                <a:schemeClr val="dk1"/>
              </a:solidFill>
              <a:latin typeface="Calibri"/>
              <a:ea typeface="Calibri"/>
              <a:cs typeface="Calibri"/>
              <a:sym typeface="Calibri"/>
            </a:endParaRPr>
          </a:p>
        </p:txBody>
      </p:sp>
      <p:sp>
        <p:nvSpPr>
          <p:cNvPr id="192" name="Google Shape;192;p11"/>
          <p:cNvSpPr/>
          <p:nvPr/>
        </p:nvSpPr>
        <p:spPr>
          <a:xfrm>
            <a:off x="6766560" y="2606040"/>
            <a:ext cx="4572000" cy="283464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EDE7F2"/>
              </a:buClr>
              <a:buSzPts val="1350"/>
              <a:buFont typeface="Calibri"/>
              <a:buNone/>
            </a:pPr>
            <a:r>
              <a:rPr b="1" i="0" lang="en-US" sz="1350" u="none" cap="none" strike="noStrike">
                <a:solidFill>
                  <a:srgbClr val="EDE7F2"/>
                </a:solidFill>
                <a:latin typeface="Calibri"/>
                <a:ea typeface="Calibri"/>
                <a:cs typeface="Calibri"/>
                <a:sym typeface="Calibri"/>
              </a:rPr>
              <a:t>Creștere automată</a:t>
            </a:r>
            <a:endParaRPr b="0" i="0" sz="1350" u="none" cap="none" strike="noStrike">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EDE7F2"/>
              </a:buClr>
              <a:buSzPts val="1350"/>
              <a:buFont typeface="Calibri"/>
              <a:buNone/>
            </a:pPr>
            <a:r>
              <a:rPr b="0" i="0" lang="en-US" sz="1350" u="none" cap="none" strike="noStrike">
                <a:solidFill>
                  <a:srgbClr val="EDE7F2"/>
                </a:solidFill>
                <a:latin typeface="Calibri"/>
                <a:ea typeface="Calibri"/>
                <a:cs typeface="Calibri"/>
                <a:sym typeface="Calibri"/>
              </a:rPr>
              <a:t>Fiecare cameră de luptă curățată crește o statistică aleasă aleator cu 10% (compus).</a:t>
            </a:r>
            <a:endParaRPr b="0" i="0" sz="1350" u="none" cap="none" strike="noStrike">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chemeClr val="dk1"/>
              </a:buClr>
              <a:buSzPts val="1350"/>
              <a:buFont typeface="Calibri"/>
              <a:buNone/>
            </a:pPr>
            <a:r>
              <a:t/>
            </a:r>
            <a:endParaRPr b="0" i="0" sz="1350" u="none" cap="none" strike="noStrike">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EDE7F2"/>
              </a:buClr>
              <a:buSzPts val="1350"/>
              <a:buFont typeface="Calibri"/>
              <a:buNone/>
            </a:pPr>
            <a:r>
              <a:rPr b="0" i="0" lang="en-US" sz="1350" u="none" cap="none" strike="noStrike">
                <a:solidFill>
                  <a:srgbClr val="EDE7F2"/>
                </a:solidFill>
                <a:latin typeface="Calibri"/>
                <a:ea typeface="Calibri"/>
                <a:cs typeface="Calibri"/>
                <a:sym typeface="Calibri"/>
              </a:rPr>
              <a:t>Excepția: numărul de proiectile crește cu +1 fix.</a:t>
            </a:r>
            <a:endParaRPr b="0" i="0" sz="1350" u="none" cap="none" strike="noStrike">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9A8FA8"/>
              </a:buClr>
              <a:buSzPts val="1350"/>
              <a:buFont typeface="Calibri"/>
              <a:buNone/>
            </a:pPr>
            <a:r>
              <a:rPr b="0" i="1" lang="en-US" sz="1350" u="none" cap="none" strike="noStrike">
                <a:solidFill>
                  <a:srgbClr val="9A8FA8"/>
                </a:solidFill>
                <a:latin typeface="Calibri"/>
                <a:ea typeface="Calibri"/>
                <a:cs typeface="Calibri"/>
                <a:sym typeface="Calibri"/>
              </a:rPr>
              <a:t>Rata calibrată prin playtesting.</a:t>
            </a:r>
            <a:endParaRPr b="0" i="0" sz="1350" u="none" cap="none" strike="noStrike">
              <a:solidFill>
                <a:schemeClr val="dk1"/>
              </a:solidFill>
              <a:latin typeface="Calibri"/>
              <a:ea typeface="Calibri"/>
              <a:cs typeface="Calibri"/>
              <a:sym typeface="Calibri"/>
            </a:endParaRPr>
          </a:p>
        </p:txBody>
      </p:sp>
      <p:sp>
        <p:nvSpPr>
          <p:cNvPr id="193" name="Google Shape;193;p11"/>
          <p:cNvSpPr/>
          <p:nvPr/>
        </p:nvSpPr>
        <p:spPr>
          <a:xfrm>
            <a:off x="11521440" y="6400800"/>
            <a:ext cx="4572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9A8FA8"/>
              </a:buClr>
              <a:buSzPts val="1000"/>
              <a:buFont typeface="Calibri"/>
              <a:buNone/>
            </a:pPr>
            <a:r>
              <a:rPr b="0" i="0" lang="en-US" sz="1000" u="none" cap="none" strike="noStrike">
                <a:solidFill>
                  <a:srgbClr val="9A8FA8"/>
                </a:solidFill>
                <a:latin typeface="Calibri"/>
                <a:ea typeface="Calibri"/>
                <a:cs typeface="Calibri"/>
                <a:sym typeface="Calibri"/>
              </a:rPr>
              <a:t>9</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1526"/>
        </a:solidFill>
      </p:bgPr>
    </p:bg>
    <p:spTree>
      <p:nvGrpSpPr>
        <p:cNvPr id="198" name="Shape 198"/>
        <p:cNvGrpSpPr/>
        <p:nvPr/>
      </p:nvGrpSpPr>
      <p:grpSpPr>
        <a:xfrm>
          <a:off x="0" y="0"/>
          <a:ext cx="0" cy="0"/>
          <a:chOff x="0" y="0"/>
          <a:chExt cx="0" cy="0"/>
        </a:xfrm>
      </p:grpSpPr>
      <p:sp>
        <p:nvSpPr>
          <p:cNvPr id="199" name="Google Shape;199;p12"/>
          <p:cNvSpPr/>
          <p:nvPr/>
        </p:nvSpPr>
        <p:spPr>
          <a:xfrm>
            <a:off x="548640" y="384048"/>
            <a:ext cx="10515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FB8AF"/>
              </a:buClr>
              <a:buSzPts val="1200"/>
              <a:buFont typeface="Calibri"/>
              <a:buNone/>
            </a:pPr>
            <a:r>
              <a:rPr b="1" i="0" lang="en-US" sz="1200" u="none" cap="none" strike="noStrike">
                <a:solidFill>
                  <a:srgbClr val="3FB8AF"/>
                </a:solidFill>
                <a:latin typeface="Calibri"/>
                <a:ea typeface="Calibri"/>
                <a:cs typeface="Calibri"/>
                <a:sym typeface="Calibri"/>
              </a:rPr>
              <a:t>SISTEME</a:t>
            </a:r>
            <a:endParaRPr b="0" i="0" sz="1200" u="none" cap="none" strike="noStrike">
              <a:solidFill>
                <a:schemeClr val="dk1"/>
              </a:solidFill>
              <a:latin typeface="Calibri"/>
              <a:ea typeface="Calibri"/>
              <a:cs typeface="Calibri"/>
              <a:sym typeface="Calibri"/>
            </a:endParaRPr>
          </a:p>
        </p:txBody>
      </p:sp>
      <p:sp>
        <p:nvSpPr>
          <p:cNvPr id="200" name="Google Shape;200;p12"/>
          <p:cNvSpPr/>
          <p:nvPr/>
        </p:nvSpPr>
        <p:spPr>
          <a:xfrm>
            <a:off x="548640" y="640080"/>
            <a:ext cx="11064240" cy="8229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DE7F2"/>
              </a:buClr>
              <a:buSzPts val="3200"/>
              <a:buFont typeface="Cambria"/>
              <a:buNone/>
            </a:pPr>
            <a:r>
              <a:rPr b="1" i="0" lang="en-US" sz="3200" u="none" cap="none" strike="noStrike">
                <a:solidFill>
                  <a:srgbClr val="EDE7F2"/>
                </a:solidFill>
                <a:latin typeface="Cambria"/>
                <a:ea typeface="Cambria"/>
                <a:cs typeface="Cambria"/>
                <a:sym typeface="Cambria"/>
              </a:rPr>
              <a:t>Clasament online</a:t>
            </a:r>
            <a:endParaRPr b="0" i="0" sz="3200" u="none" cap="none" strike="noStrike">
              <a:solidFill>
                <a:schemeClr val="dk1"/>
              </a:solidFill>
              <a:latin typeface="Calibri"/>
              <a:ea typeface="Calibri"/>
              <a:cs typeface="Calibri"/>
              <a:sym typeface="Calibri"/>
            </a:endParaRPr>
          </a:p>
        </p:txBody>
      </p:sp>
      <p:sp>
        <p:nvSpPr>
          <p:cNvPr id="201" name="Google Shape;201;p12"/>
          <p:cNvSpPr/>
          <p:nvPr/>
        </p:nvSpPr>
        <p:spPr>
          <a:xfrm>
            <a:off x="548640" y="1783080"/>
            <a:ext cx="11064240" cy="54864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EDE7F2"/>
              </a:buClr>
              <a:buSzPts val="1450"/>
              <a:buFont typeface="Calibri"/>
              <a:buNone/>
            </a:pPr>
            <a:r>
              <a:rPr b="0" i="0" lang="en-US" sz="1450" u="none" cap="none" strike="noStrike">
                <a:solidFill>
                  <a:srgbClr val="EDE7F2"/>
                </a:solidFill>
                <a:latin typeface="Calibri"/>
                <a:ea typeface="Calibri"/>
                <a:cs typeface="Calibri"/>
                <a:sym typeface="Calibri"/>
              </a:rPr>
              <a:t>Un clasament global permite trimiterea și compararea scorurilor </a:t>
            </a:r>
            <a:r>
              <a:rPr lang="en-US" sz="1450">
                <a:solidFill>
                  <a:srgbClr val="EDE7F2"/>
                </a:solidFill>
                <a:latin typeface="Calibri"/>
                <a:ea typeface="Calibri"/>
                <a:cs typeface="Calibri"/>
                <a:sym typeface="Calibri"/>
              </a:rPr>
              <a:t>-</a:t>
            </a:r>
            <a:r>
              <a:rPr b="0" i="0" lang="en-US" sz="1450" u="none" cap="none" strike="noStrike">
                <a:solidFill>
                  <a:srgbClr val="EDE7F2"/>
                </a:solidFill>
                <a:latin typeface="Calibri"/>
                <a:ea typeface="Calibri"/>
                <a:cs typeface="Calibri"/>
                <a:sym typeface="Calibri"/>
              </a:rPr>
              <a:t> singura funcție pe care jocurile comparabile nu o au.</a:t>
            </a:r>
            <a:endParaRPr b="0" i="0" sz="1450" u="none" cap="none" strike="noStrike">
              <a:solidFill>
                <a:schemeClr val="dk1"/>
              </a:solidFill>
              <a:latin typeface="Calibri"/>
              <a:ea typeface="Calibri"/>
              <a:cs typeface="Calibri"/>
              <a:sym typeface="Calibri"/>
            </a:endParaRPr>
          </a:p>
        </p:txBody>
      </p:sp>
      <p:sp>
        <p:nvSpPr>
          <p:cNvPr id="202" name="Google Shape;202;p12"/>
          <p:cNvSpPr/>
          <p:nvPr/>
        </p:nvSpPr>
        <p:spPr>
          <a:xfrm>
            <a:off x="548640" y="2468880"/>
            <a:ext cx="11064240" cy="960120"/>
          </a:xfrm>
          <a:prstGeom prst="roundRect">
            <a:avLst>
              <a:gd fmla="val 7619" name="adj"/>
            </a:avLst>
          </a:prstGeom>
          <a:solidFill>
            <a:srgbClr val="241C33"/>
          </a:solidFill>
          <a:ln cap="flat" cmpd="sng" w="9525">
            <a:solidFill>
              <a:srgbClr val="2A7A7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 name="Google Shape;203;p12"/>
          <p:cNvSpPr/>
          <p:nvPr/>
        </p:nvSpPr>
        <p:spPr>
          <a:xfrm>
            <a:off x="822960" y="2715768"/>
            <a:ext cx="128016" cy="128016"/>
          </a:xfrm>
          <a:prstGeom prst="ellipse">
            <a:avLst/>
          </a:prstGeom>
          <a:solidFill>
            <a:srgbClr val="3FB8A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 name="Google Shape;204;p12"/>
          <p:cNvSpPr/>
          <p:nvPr/>
        </p:nvSpPr>
        <p:spPr>
          <a:xfrm>
            <a:off x="1097280" y="2578608"/>
            <a:ext cx="283464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B8AF"/>
              </a:buClr>
              <a:buSzPts val="1450"/>
              <a:buFont typeface="Calibri"/>
              <a:buNone/>
            </a:pPr>
            <a:r>
              <a:rPr b="1" i="0" lang="en-US" sz="1450" u="none" cap="none" strike="noStrike">
                <a:solidFill>
                  <a:srgbClr val="3FB8AF"/>
                </a:solidFill>
                <a:latin typeface="Calibri"/>
                <a:ea typeface="Calibri"/>
                <a:cs typeface="Calibri"/>
                <a:sym typeface="Calibri"/>
              </a:rPr>
              <a:t>Cloud Firestore</a:t>
            </a:r>
            <a:endParaRPr b="0" i="0" sz="1450" u="none" cap="none" strike="noStrike">
              <a:solidFill>
                <a:schemeClr val="dk1"/>
              </a:solidFill>
              <a:latin typeface="Calibri"/>
              <a:ea typeface="Calibri"/>
              <a:cs typeface="Calibri"/>
              <a:sym typeface="Calibri"/>
            </a:endParaRPr>
          </a:p>
        </p:txBody>
      </p:sp>
      <p:sp>
        <p:nvSpPr>
          <p:cNvPr id="205" name="Google Shape;205;p12"/>
          <p:cNvSpPr/>
          <p:nvPr/>
        </p:nvSpPr>
        <p:spPr>
          <a:xfrm>
            <a:off x="3931920" y="2542032"/>
            <a:ext cx="7406640" cy="822960"/>
          </a:xfrm>
          <a:prstGeom prst="rect">
            <a:avLst/>
          </a:prstGeom>
          <a:noFill/>
          <a:ln>
            <a:noFill/>
          </a:ln>
        </p:spPr>
        <p:txBody>
          <a:bodyPr anchorCtr="0" anchor="ctr" bIns="0" lIns="0" spcFirstLastPara="1" rIns="0" wrap="square" tIns="0">
            <a:noAutofit/>
          </a:bodyPr>
          <a:lstStyle/>
          <a:p>
            <a:pPr indent="0" lvl="0" marL="0" marR="0" rtl="0" algn="l">
              <a:lnSpc>
                <a:spcPct val="112000"/>
              </a:lnSpc>
              <a:spcBef>
                <a:spcPts val="0"/>
              </a:spcBef>
              <a:spcAft>
                <a:spcPts val="0"/>
              </a:spcAft>
              <a:buClr>
                <a:srgbClr val="EDE7F2"/>
              </a:buClr>
              <a:buSzPts val="1250"/>
              <a:buFont typeface="Calibri"/>
              <a:buNone/>
            </a:pPr>
            <a:r>
              <a:rPr b="0" i="0" lang="en-US" sz="1250" u="none" cap="none" strike="noStrike">
                <a:solidFill>
                  <a:srgbClr val="EDE7F2"/>
                </a:solidFill>
                <a:latin typeface="Calibri"/>
                <a:ea typeface="Calibri"/>
                <a:cs typeface="Calibri"/>
                <a:sym typeface="Calibri"/>
              </a:rPr>
              <a:t>Ales în locul Realtime DB </a:t>
            </a:r>
            <a:r>
              <a:rPr lang="en-US" sz="1250">
                <a:solidFill>
                  <a:srgbClr val="EDE7F2"/>
                </a:solidFill>
                <a:latin typeface="Calibri"/>
                <a:ea typeface="Calibri"/>
                <a:cs typeface="Calibri"/>
                <a:sym typeface="Calibri"/>
              </a:rPr>
              <a:t>-</a:t>
            </a:r>
            <a:r>
              <a:rPr b="0" i="0" lang="en-US" sz="1250" u="none" cap="none" strike="noStrike">
                <a:solidFill>
                  <a:srgbClr val="EDE7F2"/>
                </a:solidFill>
                <a:latin typeface="Calibri"/>
                <a:ea typeface="Calibri"/>
                <a:cs typeface="Calibri"/>
                <a:sym typeface="Calibri"/>
              </a:rPr>
              <a:t> sortează și limitează pe server, deci scorurile vin deja ordonate.</a:t>
            </a:r>
            <a:endParaRPr b="0" i="0" sz="1250" u="none" cap="none" strike="noStrike">
              <a:solidFill>
                <a:schemeClr val="dk1"/>
              </a:solidFill>
              <a:latin typeface="Calibri"/>
              <a:ea typeface="Calibri"/>
              <a:cs typeface="Calibri"/>
              <a:sym typeface="Calibri"/>
            </a:endParaRPr>
          </a:p>
        </p:txBody>
      </p:sp>
      <p:sp>
        <p:nvSpPr>
          <p:cNvPr id="206" name="Google Shape;206;p12"/>
          <p:cNvSpPr/>
          <p:nvPr/>
        </p:nvSpPr>
        <p:spPr>
          <a:xfrm>
            <a:off x="548640" y="3566160"/>
            <a:ext cx="11064240" cy="960120"/>
          </a:xfrm>
          <a:prstGeom prst="roundRect">
            <a:avLst>
              <a:gd fmla="val 7619" name="adj"/>
            </a:avLst>
          </a:prstGeom>
          <a:solidFill>
            <a:srgbClr val="241C33"/>
          </a:solidFill>
          <a:ln cap="flat" cmpd="sng" w="9525">
            <a:solidFill>
              <a:srgbClr val="2A7A7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12"/>
          <p:cNvSpPr/>
          <p:nvPr/>
        </p:nvSpPr>
        <p:spPr>
          <a:xfrm>
            <a:off x="822960" y="3813048"/>
            <a:ext cx="128016" cy="128016"/>
          </a:xfrm>
          <a:prstGeom prst="ellipse">
            <a:avLst/>
          </a:prstGeom>
          <a:solidFill>
            <a:srgbClr val="3FB8A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12"/>
          <p:cNvSpPr/>
          <p:nvPr/>
        </p:nvSpPr>
        <p:spPr>
          <a:xfrm>
            <a:off x="1097280" y="3675888"/>
            <a:ext cx="283464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B8AF"/>
              </a:buClr>
              <a:buSzPts val="1450"/>
              <a:buFont typeface="Calibri"/>
              <a:buNone/>
            </a:pPr>
            <a:r>
              <a:rPr b="1" i="0" lang="en-US" sz="1450" u="none" cap="none" strike="noStrike">
                <a:solidFill>
                  <a:srgbClr val="3FB8AF"/>
                </a:solidFill>
                <a:latin typeface="Calibri"/>
                <a:ea typeface="Calibri"/>
                <a:cs typeface="Calibri"/>
                <a:sym typeface="Calibri"/>
              </a:rPr>
              <a:t>REST, nu SDK</a:t>
            </a:r>
            <a:endParaRPr b="0" i="0" sz="1450" u="none" cap="none" strike="noStrike">
              <a:solidFill>
                <a:schemeClr val="dk1"/>
              </a:solidFill>
              <a:latin typeface="Calibri"/>
              <a:ea typeface="Calibri"/>
              <a:cs typeface="Calibri"/>
              <a:sym typeface="Calibri"/>
            </a:endParaRPr>
          </a:p>
        </p:txBody>
      </p:sp>
      <p:sp>
        <p:nvSpPr>
          <p:cNvPr id="209" name="Google Shape;209;p12"/>
          <p:cNvSpPr/>
          <p:nvPr/>
        </p:nvSpPr>
        <p:spPr>
          <a:xfrm>
            <a:off x="3931920" y="3639312"/>
            <a:ext cx="7406640" cy="822960"/>
          </a:xfrm>
          <a:prstGeom prst="rect">
            <a:avLst/>
          </a:prstGeom>
          <a:noFill/>
          <a:ln>
            <a:noFill/>
          </a:ln>
        </p:spPr>
        <p:txBody>
          <a:bodyPr anchorCtr="0" anchor="ctr" bIns="0" lIns="0" spcFirstLastPara="1" rIns="0" wrap="square" tIns="0">
            <a:noAutofit/>
          </a:bodyPr>
          <a:lstStyle/>
          <a:p>
            <a:pPr indent="0" lvl="0" marL="0" marR="0" rtl="0" algn="l">
              <a:lnSpc>
                <a:spcPct val="112000"/>
              </a:lnSpc>
              <a:spcBef>
                <a:spcPts val="0"/>
              </a:spcBef>
              <a:spcAft>
                <a:spcPts val="0"/>
              </a:spcAft>
              <a:buClr>
                <a:srgbClr val="EDE7F2"/>
              </a:buClr>
              <a:buSzPts val="1250"/>
              <a:buFont typeface="Calibri"/>
              <a:buNone/>
            </a:pPr>
            <a:r>
              <a:rPr b="0" i="0" lang="en-US" sz="1250" u="none" cap="none" strike="noStrike">
                <a:solidFill>
                  <a:srgbClr val="EDE7F2"/>
                </a:solidFill>
                <a:latin typeface="Calibri"/>
                <a:ea typeface="Calibri"/>
                <a:cs typeface="Calibri"/>
                <a:sym typeface="Calibri"/>
              </a:rPr>
              <a:t>SDK-ul Firebase pentru Unity e orientat spre mobil. HTTP simplu prin UnityWebRequest fără pachete în plus.</a:t>
            </a:r>
            <a:endParaRPr b="0" i="0" sz="1250" u="none" cap="none" strike="noStrike">
              <a:solidFill>
                <a:schemeClr val="dk1"/>
              </a:solidFill>
              <a:latin typeface="Calibri"/>
              <a:ea typeface="Calibri"/>
              <a:cs typeface="Calibri"/>
              <a:sym typeface="Calibri"/>
            </a:endParaRPr>
          </a:p>
        </p:txBody>
      </p:sp>
      <p:sp>
        <p:nvSpPr>
          <p:cNvPr id="210" name="Google Shape;210;p12"/>
          <p:cNvSpPr/>
          <p:nvPr/>
        </p:nvSpPr>
        <p:spPr>
          <a:xfrm>
            <a:off x="548640" y="4663440"/>
            <a:ext cx="11064240" cy="960120"/>
          </a:xfrm>
          <a:prstGeom prst="roundRect">
            <a:avLst>
              <a:gd fmla="val 7619" name="adj"/>
            </a:avLst>
          </a:prstGeom>
          <a:solidFill>
            <a:srgbClr val="241C33"/>
          </a:solidFill>
          <a:ln cap="flat" cmpd="sng" w="9525">
            <a:solidFill>
              <a:srgbClr val="2A7A7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12"/>
          <p:cNvSpPr/>
          <p:nvPr/>
        </p:nvSpPr>
        <p:spPr>
          <a:xfrm>
            <a:off x="822960" y="4910328"/>
            <a:ext cx="128016" cy="128016"/>
          </a:xfrm>
          <a:prstGeom prst="ellipse">
            <a:avLst/>
          </a:prstGeom>
          <a:solidFill>
            <a:srgbClr val="3FB8A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12"/>
          <p:cNvSpPr/>
          <p:nvPr/>
        </p:nvSpPr>
        <p:spPr>
          <a:xfrm>
            <a:off x="1097280" y="4773168"/>
            <a:ext cx="283464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B8AF"/>
              </a:buClr>
              <a:buSzPts val="1450"/>
              <a:buFont typeface="Calibri"/>
              <a:buNone/>
            </a:pPr>
            <a:r>
              <a:rPr b="1" i="0" lang="en-US" sz="1450" u="none" cap="none" strike="noStrike">
                <a:solidFill>
                  <a:srgbClr val="3FB8AF"/>
                </a:solidFill>
                <a:latin typeface="Calibri"/>
                <a:ea typeface="Calibri"/>
                <a:cs typeface="Calibri"/>
                <a:sym typeface="Calibri"/>
              </a:rPr>
              <a:t>Reguli pe server</a:t>
            </a:r>
            <a:endParaRPr b="0" i="0" sz="1450" u="none" cap="none" strike="noStrike">
              <a:solidFill>
                <a:schemeClr val="dk1"/>
              </a:solidFill>
              <a:latin typeface="Calibri"/>
              <a:ea typeface="Calibri"/>
              <a:cs typeface="Calibri"/>
              <a:sym typeface="Calibri"/>
            </a:endParaRPr>
          </a:p>
        </p:txBody>
      </p:sp>
      <p:sp>
        <p:nvSpPr>
          <p:cNvPr id="213" name="Google Shape;213;p12"/>
          <p:cNvSpPr/>
          <p:nvPr/>
        </p:nvSpPr>
        <p:spPr>
          <a:xfrm>
            <a:off x="3931920" y="4736592"/>
            <a:ext cx="7406640" cy="822960"/>
          </a:xfrm>
          <a:prstGeom prst="rect">
            <a:avLst/>
          </a:prstGeom>
          <a:noFill/>
          <a:ln>
            <a:noFill/>
          </a:ln>
        </p:spPr>
        <p:txBody>
          <a:bodyPr anchorCtr="0" anchor="ctr" bIns="0" lIns="0" spcFirstLastPara="1" rIns="0" wrap="square" tIns="0">
            <a:noAutofit/>
          </a:bodyPr>
          <a:lstStyle/>
          <a:p>
            <a:pPr indent="0" lvl="0" marL="0" marR="0" rtl="0" algn="l">
              <a:lnSpc>
                <a:spcPct val="112000"/>
              </a:lnSpc>
              <a:spcBef>
                <a:spcPts val="0"/>
              </a:spcBef>
              <a:spcAft>
                <a:spcPts val="0"/>
              </a:spcAft>
              <a:buClr>
                <a:srgbClr val="EDE7F2"/>
              </a:buClr>
              <a:buSzPts val="1250"/>
              <a:buFont typeface="Calibri"/>
              <a:buNone/>
            </a:pPr>
            <a:r>
              <a:rPr b="0" i="0" lang="en-US" sz="1250" u="none" cap="none" strike="noStrike">
                <a:solidFill>
                  <a:srgbClr val="EDE7F2"/>
                </a:solidFill>
                <a:latin typeface="Calibri"/>
                <a:ea typeface="Calibri"/>
                <a:cs typeface="Calibri"/>
                <a:sym typeface="Calibri"/>
              </a:rPr>
              <a:t>Citirile sunt libere; scrierile validate (lungimea numelui, scor nenegativ). Respinge abuzul trivial fără conturi.</a:t>
            </a:r>
            <a:endParaRPr b="0" i="0" sz="1250" u="none" cap="none" strike="noStrike">
              <a:solidFill>
                <a:schemeClr val="dk1"/>
              </a:solidFill>
              <a:latin typeface="Calibri"/>
              <a:ea typeface="Calibri"/>
              <a:cs typeface="Calibri"/>
              <a:sym typeface="Calibri"/>
            </a:endParaRPr>
          </a:p>
        </p:txBody>
      </p:sp>
      <p:sp>
        <p:nvSpPr>
          <p:cNvPr id="214" name="Google Shape;214;p12"/>
          <p:cNvSpPr/>
          <p:nvPr/>
        </p:nvSpPr>
        <p:spPr>
          <a:xfrm>
            <a:off x="11521440" y="6400800"/>
            <a:ext cx="4572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9A8FA8"/>
              </a:buClr>
              <a:buSzPts val="1000"/>
              <a:buFont typeface="Calibri"/>
              <a:buNone/>
            </a:pPr>
            <a:r>
              <a:rPr b="0" i="0" lang="en-US" sz="1000" u="none" cap="none" strike="noStrike">
                <a:solidFill>
                  <a:srgbClr val="9A8FA8"/>
                </a:solidFill>
                <a:latin typeface="Calibri"/>
                <a:ea typeface="Calibri"/>
                <a:cs typeface="Calibri"/>
                <a:sym typeface="Calibri"/>
              </a:rPr>
              <a:t>11</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41C33"/>
        </a:solidFill>
      </p:bgPr>
    </p:bg>
    <p:spTree>
      <p:nvGrpSpPr>
        <p:cNvPr id="219" name="Shape 219"/>
        <p:cNvGrpSpPr/>
        <p:nvPr/>
      </p:nvGrpSpPr>
      <p:grpSpPr>
        <a:xfrm>
          <a:off x="0" y="0"/>
          <a:ext cx="0" cy="0"/>
          <a:chOff x="0" y="0"/>
          <a:chExt cx="0" cy="0"/>
        </a:xfrm>
      </p:grpSpPr>
      <p:sp>
        <p:nvSpPr>
          <p:cNvPr id="220" name="Google Shape;220;p13"/>
          <p:cNvSpPr/>
          <p:nvPr/>
        </p:nvSpPr>
        <p:spPr>
          <a:xfrm>
            <a:off x="548640" y="384048"/>
            <a:ext cx="10515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FB8AF"/>
              </a:buClr>
              <a:buSzPts val="1200"/>
              <a:buFont typeface="Calibri"/>
              <a:buNone/>
            </a:pPr>
            <a:r>
              <a:rPr b="1" i="0" lang="en-US" sz="1200" u="none" cap="none" strike="noStrike">
                <a:solidFill>
                  <a:srgbClr val="3FB8AF"/>
                </a:solidFill>
                <a:latin typeface="Calibri"/>
                <a:ea typeface="Calibri"/>
                <a:cs typeface="Calibri"/>
                <a:sym typeface="Calibri"/>
              </a:rPr>
              <a:t>CONTRIBUȚIA</a:t>
            </a:r>
            <a:endParaRPr b="0" i="0" sz="1200" u="none" cap="none" strike="noStrike">
              <a:solidFill>
                <a:schemeClr val="dk1"/>
              </a:solidFill>
              <a:latin typeface="Calibri"/>
              <a:ea typeface="Calibri"/>
              <a:cs typeface="Calibri"/>
              <a:sym typeface="Calibri"/>
            </a:endParaRPr>
          </a:p>
        </p:txBody>
      </p:sp>
      <p:sp>
        <p:nvSpPr>
          <p:cNvPr id="221" name="Google Shape;221;p13"/>
          <p:cNvSpPr/>
          <p:nvPr/>
        </p:nvSpPr>
        <p:spPr>
          <a:xfrm>
            <a:off x="548640" y="640080"/>
            <a:ext cx="11064240" cy="8229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DE7F2"/>
              </a:buClr>
              <a:buSzPts val="3200"/>
              <a:buFont typeface="Cambria"/>
              <a:buNone/>
            </a:pPr>
            <a:r>
              <a:rPr b="1" i="0" lang="en-US" sz="3200" u="none" cap="none" strike="noStrike">
                <a:solidFill>
                  <a:srgbClr val="EDE7F2"/>
                </a:solidFill>
                <a:latin typeface="Cambria"/>
                <a:ea typeface="Cambria"/>
                <a:cs typeface="Cambria"/>
                <a:sym typeface="Cambria"/>
              </a:rPr>
              <a:t>Ce am contribuit</a:t>
            </a:r>
            <a:endParaRPr b="0" i="0" sz="3200" u="none" cap="none" strike="noStrike">
              <a:solidFill>
                <a:schemeClr val="dk1"/>
              </a:solidFill>
              <a:latin typeface="Calibri"/>
              <a:ea typeface="Calibri"/>
              <a:cs typeface="Calibri"/>
              <a:sym typeface="Calibri"/>
            </a:endParaRPr>
          </a:p>
        </p:txBody>
      </p:sp>
      <p:sp>
        <p:nvSpPr>
          <p:cNvPr id="222" name="Google Shape;222;p13"/>
          <p:cNvSpPr/>
          <p:nvPr/>
        </p:nvSpPr>
        <p:spPr>
          <a:xfrm>
            <a:off x="548640" y="1783080"/>
            <a:ext cx="11064240" cy="54864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EDE7F2"/>
              </a:buClr>
              <a:buSzPts val="1550"/>
              <a:buFont typeface="Calibri"/>
              <a:buNone/>
            </a:pPr>
            <a:r>
              <a:rPr b="0" i="0" lang="en-US" sz="1550" u="none" cap="none" strike="noStrike">
                <a:solidFill>
                  <a:srgbClr val="EDE7F2"/>
                </a:solidFill>
                <a:latin typeface="Calibri"/>
                <a:ea typeface="Calibri"/>
                <a:cs typeface="Calibri"/>
                <a:sym typeface="Calibri"/>
              </a:rPr>
              <a:t>Nu un algoritm sau un gen nou. Contribuția este proiectare și sinteză:</a:t>
            </a:r>
            <a:endParaRPr b="0" i="0" sz="1550" u="none" cap="none" strike="noStrike">
              <a:solidFill>
                <a:schemeClr val="dk1"/>
              </a:solidFill>
              <a:latin typeface="Calibri"/>
              <a:ea typeface="Calibri"/>
              <a:cs typeface="Calibri"/>
              <a:sym typeface="Calibri"/>
            </a:endParaRPr>
          </a:p>
        </p:txBody>
      </p:sp>
      <p:sp>
        <p:nvSpPr>
          <p:cNvPr id="223" name="Google Shape;223;p13"/>
          <p:cNvSpPr/>
          <p:nvPr/>
        </p:nvSpPr>
        <p:spPr>
          <a:xfrm>
            <a:off x="548640" y="2560320"/>
            <a:ext cx="3474720" cy="2468880"/>
          </a:xfrm>
          <a:prstGeom prst="roundRect">
            <a:avLst>
              <a:gd fmla="val 2963" name="adj"/>
            </a:avLst>
          </a:prstGeom>
          <a:solidFill>
            <a:srgbClr val="1A1526"/>
          </a:solidFill>
          <a:ln cap="flat" cmpd="sng" w="9525">
            <a:solidFill>
              <a:srgbClr val="2A7A7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 name="Google Shape;224;p13"/>
          <p:cNvSpPr/>
          <p:nvPr/>
        </p:nvSpPr>
        <p:spPr>
          <a:xfrm>
            <a:off x="804672" y="2852928"/>
            <a:ext cx="128016" cy="128016"/>
          </a:xfrm>
          <a:prstGeom prst="ellipse">
            <a:avLst/>
          </a:prstGeom>
          <a:solidFill>
            <a:srgbClr val="3FB8A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13"/>
          <p:cNvSpPr/>
          <p:nvPr/>
        </p:nvSpPr>
        <p:spPr>
          <a:xfrm>
            <a:off x="1005840" y="2743200"/>
            <a:ext cx="283464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B8AF"/>
              </a:buClr>
              <a:buSzPts val="1600"/>
              <a:buFont typeface="Calibri"/>
              <a:buNone/>
            </a:pPr>
            <a:r>
              <a:rPr b="1" i="0" lang="en-US" sz="1600" u="none" cap="none" strike="noStrike">
                <a:solidFill>
                  <a:srgbClr val="3FB8AF"/>
                </a:solidFill>
                <a:latin typeface="Calibri"/>
                <a:ea typeface="Calibri"/>
                <a:cs typeface="Calibri"/>
                <a:sym typeface="Calibri"/>
              </a:rPr>
              <a:t>Conceptul</a:t>
            </a:r>
            <a:endParaRPr b="0" i="0" sz="1600" u="none" cap="none" strike="noStrike">
              <a:solidFill>
                <a:schemeClr val="dk1"/>
              </a:solidFill>
              <a:latin typeface="Calibri"/>
              <a:ea typeface="Calibri"/>
              <a:cs typeface="Calibri"/>
              <a:sym typeface="Calibri"/>
            </a:endParaRPr>
          </a:p>
        </p:txBody>
      </p:sp>
      <p:sp>
        <p:nvSpPr>
          <p:cNvPr id="226" name="Google Shape;226;p13"/>
          <p:cNvSpPr/>
          <p:nvPr/>
        </p:nvSpPr>
        <p:spPr>
          <a:xfrm>
            <a:off x="822960" y="3246120"/>
            <a:ext cx="2926080" cy="164592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EDE7F2"/>
              </a:buClr>
              <a:buSzPts val="1300"/>
              <a:buFont typeface="Calibri"/>
              <a:buNone/>
            </a:pPr>
            <a:r>
              <a:rPr b="0" i="0" lang="en-US" sz="1300" u="none" cap="none" strike="noStrike">
                <a:solidFill>
                  <a:srgbClr val="EDE7F2"/>
                </a:solidFill>
                <a:latin typeface="Calibri"/>
                <a:ea typeface="Calibri"/>
                <a:cs typeface="Calibri"/>
                <a:sym typeface="Calibri"/>
              </a:rPr>
              <a:t>Un joc original construit pe ideea comă / subconștient, care leagă tema, arta și structura.</a:t>
            </a:r>
            <a:endParaRPr b="0" i="0" sz="1300" u="none" cap="none" strike="noStrike">
              <a:solidFill>
                <a:schemeClr val="dk1"/>
              </a:solidFill>
              <a:latin typeface="Calibri"/>
              <a:ea typeface="Calibri"/>
              <a:cs typeface="Calibri"/>
              <a:sym typeface="Calibri"/>
            </a:endParaRPr>
          </a:p>
        </p:txBody>
      </p:sp>
      <p:sp>
        <p:nvSpPr>
          <p:cNvPr id="227" name="Google Shape;227;p13"/>
          <p:cNvSpPr/>
          <p:nvPr/>
        </p:nvSpPr>
        <p:spPr>
          <a:xfrm>
            <a:off x="4251960" y="2560320"/>
            <a:ext cx="3474720" cy="2468880"/>
          </a:xfrm>
          <a:prstGeom prst="roundRect">
            <a:avLst>
              <a:gd fmla="val 2963" name="adj"/>
            </a:avLst>
          </a:prstGeom>
          <a:solidFill>
            <a:srgbClr val="1A1526"/>
          </a:solidFill>
          <a:ln cap="flat" cmpd="sng" w="9525">
            <a:solidFill>
              <a:srgbClr val="2A7A7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 name="Google Shape;228;p13"/>
          <p:cNvSpPr/>
          <p:nvPr/>
        </p:nvSpPr>
        <p:spPr>
          <a:xfrm>
            <a:off x="4507992" y="2852928"/>
            <a:ext cx="128016" cy="128016"/>
          </a:xfrm>
          <a:prstGeom prst="ellipse">
            <a:avLst/>
          </a:prstGeom>
          <a:solidFill>
            <a:srgbClr val="3FB8A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13"/>
          <p:cNvSpPr/>
          <p:nvPr/>
        </p:nvSpPr>
        <p:spPr>
          <a:xfrm>
            <a:off x="4709160" y="2743200"/>
            <a:ext cx="283464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B8AF"/>
              </a:buClr>
              <a:buSzPts val="1600"/>
              <a:buFont typeface="Calibri"/>
              <a:buNone/>
            </a:pPr>
            <a:r>
              <a:rPr b="1" i="0" lang="en-US" sz="1600" u="none" cap="none" strike="noStrike">
                <a:solidFill>
                  <a:srgbClr val="3FB8AF"/>
                </a:solidFill>
                <a:latin typeface="Calibri"/>
                <a:ea typeface="Calibri"/>
                <a:cs typeface="Calibri"/>
                <a:sym typeface="Calibri"/>
              </a:rPr>
              <a:t>Sistemele</a:t>
            </a:r>
            <a:endParaRPr b="0" i="0" sz="1600" u="none" cap="none" strike="noStrike">
              <a:solidFill>
                <a:schemeClr val="dk1"/>
              </a:solidFill>
              <a:latin typeface="Calibri"/>
              <a:ea typeface="Calibri"/>
              <a:cs typeface="Calibri"/>
              <a:sym typeface="Calibri"/>
            </a:endParaRPr>
          </a:p>
        </p:txBody>
      </p:sp>
      <p:sp>
        <p:nvSpPr>
          <p:cNvPr id="230" name="Google Shape;230;p13"/>
          <p:cNvSpPr/>
          <p:nvPr/>
        </p:nvSpPr>
        <p:spPr>
          <a:xfrm>
            <a:off x="4526280" y="3246120"/>
            <a:ext cx="2926080" cy="164592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EDE7F2"/>
              </a:buClr>
              <a:buSzPts val="1300"/>
              <a:buFont typeface="Calibri"/>
              <a:buNone/>
            </a:pPr>
            <a:r>
              <a:rPr b="0" i="0" lang="en-US" sz="1300" u="none" cap="none" strike="noStrike">
                <a:solidFill>
                  <a:srgbClr val="EDE7F2"/>
                </a:solidFill>
                <a:latin typeface="Calibri"/>
                <a:ea typeface="Calibri"/>
                <a:cs typeface="Calibri"/>
                <a:sym typeface="Calibri"/>
              </a:rPr>
              <a:t>Proiectarea concretă a generatorului în două faze și a luptei bazate pe con, în forma de aici.</a:t>
            </a:r>
            <a:endParaRPr b="0" i="0" sz="1300" u="none" cap="none" strike="noStrike">
              <a:solidFill>
                <a:schemeClr val="dk1"/>
              </a:solidFill>
              <a:latin typeface="Calibri"/>
              <a:ea typeface="Calibri"/>
              <a:cs typeface="Calibri"/>
              <a:sym typeface="Calibri"/>
            </a:endParaRPr>
          </a:p>
        </p:txBody>
      </p:sp>
      <p:sp>
        <p:nvSpPr>
          <p:cNvPr id="231" name="Google Shape;231;p13"/>
          <p:cNvSpPr/>
          <p:nvPr/>
        </p:nvSpPr>
        <p:spPr>
          <a:xfrm>
            <a:off x="7955280" y="2560320"/>
            <a:ext cx="3474720" cy="2468880"/>
          </a:xfrm>
          <a:prstGeom prst="roundRect">
            <a:avLst>
              <a:gd fmla="val 2963" name="adj"/>
            </a:avLst>
          </a:prstGeom>
          <a:solidFill>
            <a:srgbClr val="1A1526"/>
          </a:solidFill>
          <a:ln cap="flat" cmpd="sng" w="9525">
            <a:solidFill>
              <a:srgbClr val="2A7A7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13"/>
          <p:cNvSpPr/>
          <p:nvPr/>
        </p:nvSpPr>
        <p:spPr>
          <a:xfrm>
            <a:off x="8211312" y="2852928"/>
            <a:ext cx="128016" cy="128016"/>
          </a:xfrm>
          <a:prstGeom prst="ellipse">
            <a:avLst/>
          </a:prstGeom>
          <a:solidFill>
            <a:srgbClr val="3FB8A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13"/>
          <p:cNvSpPr/>
          <p:nvPr/>
        </p:nvSpPr>
        <p:spPr>
          <a:xfrm>
            <a:off x="8412480" y="2743200"/>
            <a:ext cx="283464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B8AF"/>
              </a:buClr>
              <a:buSzPts val="1600"/>
              <a:buFont typeface="Calibri"/>
              <a:buNone/>
            </a:pPr>
            <a:r>
              <a:rPr b="1" i="0" lang="en-US" sz="1600" u="none" cap="none" strike="noStrike">
                <a:solidFill>
                  <a:srgbClr val="3FB8AF"/>
                </a:solidFill>
                <a:latin typeface="Calibri"/>
                <a:ea typeface="Calibri"/>
                <a:cs typeface="Calibri"/>
                <a:sym typeface="Calibri"/>
              </a:rPr>
              <a:t>Integrarea</a:t>
            </a:r>
            <a:endParaRPr b="0" i="0" sz="1600" u="none" cap="none" strike="noStrike">
              <a:solidFill>
                <a:schemeClr val="dk1"/>
              </a:solidFill>
              <a:latin typeface="Calibri"/>
              <a:ea typeface="Calibri"/>
              <a:cs typeface="Calibri"/>
              <a:sym typeface="Calibri"/>
            </a:endParaRPr>
          </a:p>
        </p:txBody>
      </p:sp>
      <p:sp>
        <p:nvSpPr>
          <p:cNvPr id="234" name="Google Shape;234;p13"/>
          <p:cNvSpPr/>
          <p:nvPr/>
        </p:nvSpPr>
        <p:spPr>
          <a:xfrm>
            <a:off x="8229600" y="3246120"/>
            <a:ext cx="2926080" cy="164592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EDE7F2"/>
              </a:buClr>
              <a:buSzPts val="1300"/>
              <a:buFont typeface="Calibri"/>
              <a:buNone/>
            </a:pPr>
            <a:r>
              <a:rPr b="0" i="0" lang="en-US" sz="1300" u="none" cap="none" strike="noStrike">
                <a:solidFill>
                  <a:srgbClr val="EDE7F2"/>
                </a:solidFill>
                <a:latin typeface="Calibri"/>
                <a:ea typeface="Calibri"/>
                <a:cs typeface="Calibri"/>
                <a:sym typeface="Calibri"/>
              </a:rPr>
              <a:t>Selectarea tehnicilor consacrate și combinarea lor într-un întreg complet, stabil, jucabil.</a:t>
            </a:r>
            <a:endParaRPr b="0" i="0" sz="1300" u="none" cap="none" strike="noStrike">
              <a:solidFill>
                <a:schemeClr val="dk1"/>
              </a:solidFill>
              <a:latin typeface="Calibri"/>
              <a:ea typeface="Calibri"/>
              <a:cs typeface="Calibri"/>
              <a:sym typeface="Calibri"/>
            </a:endParaRPr>
          </a:p>
        </p:txBody>
      </p:sp>
      <p:sp>
        <p:nvSpPr>
          <p:cNvPr id="235" name="Google Shape;235;p13"/>
          <p:cNvSpPr/>
          <p:nvPr/>
        </p:nvSpPr>
        <p:spPr>
          <a:xfrm>
            <a:off x="11521440" y="6400800"/>
            <a:ext cx="4572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9A8FA8"/>
              </a:buClr>
              <a:buSzPts val="1000"/>
              <a:buFont typeface="Calibri"/>
              <a:buNone/>
            </a:pPr>
            <a:r>
              <a:rPr b="0" i="0" lang="en-US" sz="1000" u="none" cap="none" strike="noStrike">
                <a:solidFill>
                  <a:srgbClr val="9A8FA8"/>
                </a:solidFill>
                <a:latin typeface="Calibri"/>
                <a:ea typeface="Calibri"/>
                <a:cs typeface="Calibri"/>
                <a:sym typeface="Calibri"/>
              </a:rPr>
              <a:t>12</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1526"/>
        </a:solidFill>
      </p:bgPr>
    </p:bg>
    <p:spTree>
      <p:nvGrpSpPr>
        <p:cNvPr id="240" name="Shape 240"/>
        <p:cNvGrpSpPr/>
        <p:nvPr/>
      </p:nvGrpSpPr>
      <p:grpSpPr>
        <a:xfrm>
          <a:off x="0" y="0"/>
          <a:ext cx="0" cy="0"/>
          <a:chOff x="0" y="0"/>
          <a:chExt cx="0" cy="0"/>
        </a:xfrm>
      </p:grpSpPr>
      <p:sp>
        <p:nvSpPr>
          <p:cNvPr id="241" name="Google Shape;241;p14"/>
          <p:cNvSpPr/>
          <p:nvPr/>
        </p:nvSpPr>
        <p:spPr>
          <a:xfrm>
            <a:off x="548640" y="384048"/>
            <a:ext cx="10515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FB8AF"/>
              </a:buClr>
              <a:buSzPts val="1200"/>
              <a:buFont typeface="Calibri"/>
              <a:buNone/>
            </a:pPr>
            <a:r>
              <a:rPr b="1" i="0" lang="en-US" sz="1200" u="none" cap="none" strike="noStrike">
                <a:solidFill>
                  <a:srgbClr val="3FB8AF"/>
                </a:solidFill>
                <a:latin typeface="Calibri"/>
                <a:ea typeface="Calibri"/>
                <a:cs typeface="Calibri"/>
                <a:sym typeface="Calibri"/>
              </a:rPr>
              <a:t>TESTARE ȘI VALIDARE</a:t>
            </a:r>
            <a:endParaRPr b="0" i="0" sz="1200" u="none" cap="none" strike="noStrike">
              <a:solidFill>
                <a:schemeClr val="dk1"/>
              </a:solidFill>
              <a:latin typeface="Calibri"/>
              <a:ea typeface="Calibri"/>
              <a:cs typeface="Calibri"/>
              <a:sym typeface="Calibri"/>
            </a:endParaRPr>
          </a:p>
        </p:txBody>
      </p:sp>
      <p:sp>
        <p:nvSpPr>
          <p:cNvPr id="242" name="Google Shape;242;p14"/>
          <p:cNvSpPr/>
          <p:nvPr/>
        </p:nvSpPr>
        <p:spPr>
          <a:xfrm>
            <a:off x="548640" y="640080"/>
            <a:ext cx="11064240" cy="8229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DE7F2"/>
              </a:buClr>
              <a:buSzPts val="3200"/>
              <a:buFont typeface="Cambria"/>
              <a:buNone/>
            </a:pPr>
            <a:r>
              <a:rPr b="1" i="0" lang="en-US" sz="3200" u="none" cap="none" strike="noStrike">
                <a:solidFill>
                  <a:srgbClr val="EDE7F2"/>
                </a:solidFill>
                <a:latin typeface="Cambria"/>
                <a:ea typeface="Cambria"/>
                <a:cs typeface="Cambria"/>
                <a:sym typeface="Cambria"/>
              </a:rPr>
              <a:t>De unde știu că funcționează</a:t>
            </a:r>
            <a:endParaRPr b="0" i="0" sz="3200" u="none" cap="none" strike="noStrike">
              <a:solidFill>
                <a:schemeClr val="dk1"/>
              </a:solidFill>
              <a:latin typeface="Calibri"/>
              <a:ea typeface="Calibri"/>
              <a:cs typeface="Calibri"/>
              <a:sym typeface="Calibri"/>
            </a:endParaRPr>
          </a:p>
        </p:txBody>
      </p:sp>
      <p:sp>
        <p:nvSpPr>
          <p:cNvPr id="243" name="Google Shape;243;p14"/>
          <p:cNvSpPr/>
          <p:nvPr/>
        </p:nvSpPr>
        <p:spPr>
          <a:xfrm>
            <a:off x="548640" y="1920240"/>
            <a:ext cx="5394960" cy="3749040"/>
          </a:xfrm>
          <a:prstGeom prst="roundRect">
            <a:avLst>
              <a:gd fmla="val 1951" name="adj"/>
            </a:avLst>
          </a:prstGeom>
          <a:solidFill>
            <a:srgbClr val="241C33"/>
          </a:solidFill>
          <a:ln cap="flat" cmpd="sng" w="9525">
            <a:solidFill>
              <a:srgbClr val="2A7A7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 name="Google Shape;244;p14"/>
          <p:cNvSpPr/>
          <p:nvPr/>
        </p:nvSpPr>
        <p:spPr>
          <a:xfrm>
            <a:off x="822960" y="2212848"/>
            <a:ext cx="128016" cy="128016"/>
          </a:xfrm>
          <a:prstGeom prst="ellipse">
            <a:avLst/>
          </a:prstGeom>
          <a:solidFill>
            <a:srgbClr val="3FB8A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14"/>
          <p:cNvSpPr/>
          <p:nvPr/>
        </p:nvSpPr>
        <p:spPr>
          <a:xfrm>
            <a:off x="1097280" y="2103120"/>
            <a:ext cx="45720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B8AF"/>
              </a:buClr>
              <a:buSzPts val="1600"/>
              <a:buFont typeface="Calibri"/>
              <a:buNone/>
            </a:pPr>
            <a:r>
              <a:rPr b="1" i="0" lang="en-US" sz="1600" u="none" cap="none" strike="noStrike">
                <a:solidFill>
                  <a:srgbClr val="3FB8AF"/>
                </a:solidFill>
                <a:latin typeface="Calibri"/>
                <a:ea typeface="Calibri"/>
                <a:cs typeface="Calibri"/>
                <a:sym typeface="Calibri"/>
              </a:rPr>
              <a:t>Ce am făcut</a:t>
            </a:r>
            <a:endParaRPr b="0" i="0" sz="1600" u="none" cap="none" strike="noStrike">
              <a:solidFill>
                <a:schemeClr val="dk1"/>
              </a:solidFill>
              <a:latin typeface="Calibri"/>
              <a:ea typeface="Calibri"/>
              <a:cs typeface="Calibri"/>
              <a:sym typeface="Calibri"/>
            </a:endParaRPr>
          </a:p>
        </p:txBody>
      </p:sp>
      <p:sp>
        <p:nvSpPr>
          <p:cNvPr id="246" name="Google Shape;246;p14"/>
          <p:cNvSpPr/>
          <p:nvPr/>
        </p:nvSpPr>
        <p:spPr>
          <a:xfrm>
            <a:off x="1097280" y="2606040"/>
            <a:ext cx="4572000" cy="292608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EDE7F2"/>
              </a:buClr>
              <a:buSzPts val="1300"/>
              <a:buFont typeface="Calibri"/>
              <a:buNone/>
            </a:pPr>
            <a:r>
              <a:rPr b="1" i="0" lang="en-US" sz="1300" u="none" cap="none" strike="noStrike">
                <a:solidFill>
                  <a:srgbClr val="EDE7F2"/>
                </a:solidFill>
                <a:latin typeface="Calibri"/>
                <a:ea typeface="Calibri"/>
                <a:cs typeface="Calibri"/>
                <a:sym typeface="Calibri"/>
              </a:rPr>
              <a:t>Playtesting continuu</a:t>
            </a:r>
            <a:endParaRPr b="0" i="0" sz="1300" u="none" cap="none" strike="noStrike">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EDE7F2"/>
              </a:buClr>
              <a:buSzPts val="1300"/>
              <a:buFont typeface="Calibri"/>
              <a:buNone/>
            </a:pPr>
            <a:r>
              <a:rPr b="0" i="0" lang="en-US" sz="1300" u="none" cap="none" strike="noStrike">
                <a:solidFill>
                  <a:srgbClr val="EDE7F2"/>
                </a:solidFill>
                <a:latin typeface="Calibri"/>
                <a:ea typeface="Calibri"/>
                <a:cs typeface="Calibri"/>
                <a:sym typeface="Calibri"/>
              </a:rPr>
              <a:t>Un build mereu jucabil a permis exersarea fiecărui sistem imediat ce a fost integrat.</a:t>
            </a:r>
            <a:endParaRPr b="0" i="0" sz="1300" u="none" cap="none" strike="noStrike">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chemeClr val="dk1"/>
              </a:buClr>
              <a:buSzPts val="1300"/>
              <a:buFont typeface="Calibri"/>
              <a:buNone/>
            </a:pPr>
            <a:r>
              <a:t/>
            </a:r>
            <a:endParaRPr b="0" i="0" sz="1300" u="none" cap="none" strike="noStrike">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EDE7F2"/>
              </a:buClr>
              <a:buSzPts val="1300"/>
              <a:buFont typeface="Calibri"/>
              <a:buNone/>
            </a:pPr>
            <a:r>
              <a:rPr b="1" i="0" lang="en-US" sz="1300" u="none" cap="none" strike="noStrike">
                <a:solidFill>
                  <a:srgbClr val="EDE7F2"/>
                </a:solidFill>
                <a:latin typeface="Calibri"/>
                <a:ea typeface="Calibri"/>
                <a:cs typeface="Calibri"/>
                <a:sym typeface="Calibri"/>
              </a:rPr>
              <a:t>Testare țintită pe funcții</a:t>
            </a:r>
            <a:endParaRPr b="0" i="0" sz="1300" u="none" cap="none" strike="noStrike">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EDE7F2"/>
              </a:buClr>
              <a:buSzPts val="1300"/>
              <a:buFont typeface="Calibri"/>
              <a:buNone/>
            </a:pPr>
            <a:r>
              <a:rPr b="0" i="0" lang="en-US" sz="1300" u="none" cap="none" strike="noStrike">
                <a:solidFill>
                  <a:srgbClr val="EDE7F2"/>
                </a:solidFill>
                <a:latin typeface="Calibri"/>
                <a:ea typeface="Calibri"/>
                <a:cs typeface="Calibri"/>
                <a:sym typeface="Calibri"/>
              </a:rPr>
              <a:t>Fiecare comportament dus prin cazurile normale și de limită; rezultatele mapate pe cerințe.</a:t>
            </a:r>
            <a:endParaRPr b="0" i="0" sz="1300" u="none" cap="none" strike="noStrike">
              <a:solidFill>
                <a:schemeClr val="dk1"/>
              </a:solidFill>
              <a:latin typeface="Calibri"/>
              <a:ea typeface="Calibri"/>
              <a:cs typeface="Calibri"/>
              <a:sym typeface="Calibri"/>
            </a:endParaRPr>
          </a:p>
        </p:txBody>
      </p:sp>
      <p:sp>
        <p:nvSpPr>
          <p:cNvPr id="247" name="Google Shape;247;p14"/>
          <p:cNvSpPr/>
          <p:nvPr/>
        </p:nvSpPr>
        <p:spPr>
          <a:xfrm>
            <a:off x="6217920" y="1920240"/>
            <a:ext cx="5394960" cy="3749040"/>
          </a:xfrm>
          <a:prstGeom prst="roundRect">
            <a:avLst>
              <a:gd fmla="val 1951" name="adj"/>
            </a:avLst>
          </a:prstGeom>
          <a:solidFill>
            <a:srgbClr val="241C33"/>
          </a:solidFill>
          <a:ln cap="flat" cmpd="sng" w="9525">
            <a:solidFill>
              <a:srgbClr val="2A7A7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14"/>
          <p:cNvSpPr/>
          <p:nvPr/>
        </p:nvSpPr>
        <p:spPr>
          <a:xfrm>
            <a:off x="6492240" y="2212848"/>
            <a:ext cx="128016" cy="128016"/>
          </a:xfrm>
          <a:prstGeom prst="ellipse">
            <a:avLst/>
          </a:prstGeom>
          <a:solidFill>
            <a:srgbClr val="3FB8A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 name="Google Shape;249;p14"/>
          <p:cNvSpPr/>
          <p:nvPr/>
        </p:nvSpPr>
        <p:spPr>
          <a:xfrm>
            <a:off x="6766560" y="2103120"/>
            <a:ext cx="45720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0A458"/>
              </a:buClr>
              <a:buSzPts val="1600"/>
              <a:buFont typeface="Calibri"/>
              <a:buNone/>
            </a:pPr>
            <a:r>
              <a:rPr b="1" i="0" lang="en-US" sz="1600" u="none" cap="none" strike="noStrike">
                <a:solidFill>
                  <a:srgbClr val="E0A458"/>
                </a:solidFill>
                <a:latin typeface="Calibri"/>
                <a:ea typeface="Calibri"/>
                <a:cs typeface="Calibri"/>
                <a:sym typeface="Calibri"/>
              </a:rPr>
              <a:t>Limite recunoscute</a:t>
            </a:r>
            <a:endParaRPr b="0" i="0" sz="1600" u="none" cap="none" strike="noStrike">
              <a:solidFill>
                <a:schemeClr val="dk1"/>
              </a:solidFill>
              <a:latin typeface="Calibri"/>
              <a:ea typeface="Calibri"/>
              <a:cs typeface="Calibri"/>
              <a:sym typeface="Calibri"/>
            </a:endParaRPr>
          </a:p>
        </p:txBody>
      </p:sp>
      <p:sp>
        <p:nvSpPr>
          <p:cNvPr id="250" name="Google Shape;250;p14"/>
          <p:cNvSpPr/>
          <p:nvPr/>
        </p:nvSpPr>
        <p:spPr>
          <a:xfrm>
            <a:off x="6766560" y="2606040"/>
            <a:ext cx="4572000" cy="292608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EDE7F2"/>
              </a:buClr>
              <a:buSzPts val="1300"/>
              <a:buFont typeface="Calibri"/>
              <a:buNone/>
            </a:pPr>
            <a:r>
              <a:rPr b="1" i="0" lang="en-US" sz="1300" u="none" cap="none" strike="noStrike">
                <a:solidFill>
                  <a:srgbClr val="EDE7F2"/>
                </a:solidFill>
                <a:latin typeface="Calibri"/>
                <a:ea typeface="Calibri"/>
                <a:cs typeface="Calibri"/>
                <a:sym typeface="Calibri"/>
              </a:rPr>
              <a:t>Manual, nu automatizat.</a:t>
            </a:r>
            <a:endParaRPr b="0" i="0" sz="1300" u="none" cap="none" strike="noStrike">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EDE7F2"/>
              </a:buClr>
              <a:buSzPts val="1300"/>
              <a:buFont typeface="Calibri"/>
              <a:buNone/>
            </a:pPr>
            <a:r>
              <a:rPr b="0" i="0" lang="en-US" sz="1300" u="none" cap="none" strike="noStrike">
                <a:solidFill>
                  <a:srgbClr val="EDE7F2"/>
                </a:solidFill>
                <a:latin typeface="Calibri"/>
                <a:ea typeface="Calibri"/>
                <a:cs typeface="Calibri"/>
                <a:sym typeface="Calibri"/>
              </a:rPr>
              <a:t>Fără suită de teste unitare. Generatorul e validat prin multe partide </a:t>
            </a:r>
            <a:r>
              <a:rPr lang="en-US" sz="1300">
                <a:solidFill>
                  <a:srgbClr val="EDE7F2"/>
                </a:solidFill>
                <a:latin typeface="Calibri"/>
                <a:ea typeface="Calibri"/>
                <a:cs typeface="Calibri"/>
                <a:sym typeface="Calibri"/>
              </a:rPr>
              <a:t>-</a:t>
            </a:r>
            <a:r>
              <a:rPr b="0" i="0" lang="en-US" sz="1300" u="none" cap="none" strike="noStrike">
                <a:solidFill>
                  <a:srgbClr val="EDE7F2"/>
                </a:solidFill>
                <a:latin typeface="Calibri"/>
                <a:ea typeface="Calibri"/>
                <a:cs typeface="Calibri"/>
                <a:sym typeface="Calibri"/>
              </a:rPr>
              <a:t> susținut de garanțiile lui prin construcție.</a:t>
            </a:r>
            <a:endParaRPr b="0" i="0" sz="1300" u="none" cap="none" strike="noStrike">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chemeClr val="dk1"/>
              </a:buClr>
              <a:buSzPts val="1300"/>
              <a:buFont typeface="Calibri"/>
              <a:buNone/>
            </a:pPr>
            <a:r>
              <a:t/>
            </a:r>
            <a:endParaRPr b="0" i="0" sz="1300" u="none" cap="none" strike="noStrike">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EDE7F2"/>
              </a:buClr>
              <a:buSzPts val="1300"/>
              <a:buFont typeface="Calibri"/>
              <a:buNone/>
            </a:pPr>
            <a:r>
              <a:rPr b="1" i="0" lang="en-US" sz="1300" u="none" cap="none" strike="noStrike">
                <a:solidFill>
                  <a:srgbClr val="EDE7F2"/>
                </a:solidFill>
                <a:latin typeface="Calibri"/>
                <a:ea typeface="Calibri"/>
                <a:cs typeface="Calibri"/>
                <a:sym typeface="Calibri"/>
              </a:rPr>
              <a:t>Viitor: </a:t>
            </a:r>
            <a:r>
              <a:rPr b="0" i="0" lang="en-US" sz="1300" u="none" cap="none" strike="noStrike">
                <a:solidFill>
                  <a:srgbClr val="EDE7F2"/>
                </a:solidFill>
                <a:latin typeface="Calibri"/>
                <a:ea typeface="Calibri"/>
                <a:cs typeface="Calibri"/>
                <a:sym typeface="Calibri"/>
              </a:rPr>
              <a:t>verificări automate de rezolvabilitate, teste unitare, testare cu utilizatori externi.</a:t>
            </a:r>
            <a:endParaRPr b="0" i="0" sz="1300" u="none" cap="none" strike="noStrike">
              <a:solidFill>
                <a:schemeClr val="dk1"/>
              </a:solidFill>
              <a:latin typeface="Calibri"/>
              <a:ea typeface="Calibri"/>
              <a:cs typeface="Calibri"/>
              <a:sym typeface="Calibri"/>
            </a:endParaRPr>
          </a:p>
        </p:txBody>
      </p:sp>
      <p:sp>
        <p:nvSpPr>
          <p:cNvPr id="251" name="Google Shape;251;p14"/>
          <p:cNvSpPr/>
          <p:nvPr/>
        </p:nvSpPr>
        <p:spPr>
          <a:xfrm>
            <a:off x="11521440" y="6400800"/>
            <a:ext cx="4572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9A8FA8"/>
              </a:buClr>
              <a:buSzPts val="1000"/>
              <a:buFont typeface="Calibri"/>
              <a:buNone/>
            </a:pPr>
            <a:r>
              <a:rPr b="0" i="0" lang="en-US" sz="1000" u="none" cap="none" strike="noStrike">
                <a:solidFill>
                  <a:srgbClr val="9A8FA8"/>
                </a:solidFill>
                <a:latin typeface="Calibri"/>
                <a:ea typeface="Calibri"/>
                <a:cs typeface="Calibri"/>
                <a:sym typeface="Calibri"/>
              </a:rPr>
              <a:t>13</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1526"/>
        </a:solidFill>
      </p:bgPr>
    </p:bg>
    <p:spTree>
      <p:nvGrpSpPr>
        <p:cNvPr id="256" name="Shape 256"/>
        <p:cNvGrpSpPr/>
        <p:nvPr/>
      </p:nvGrpSpPr>
      <p:grpSpPr>
        <a:xfrm>
          <a:off x="0" y="0"/>
          <a:ext cx="0" cy="0"/>
          <a:chOff x="0" y="0"/>
          <a:chExt cx="0" cy="0"/>
        </a:xfrm>
      </p:grpSpPr>
      <p:sp>
        <p:nvSpPr>
          <p:cNvPr id="257" name="Google Shape;257;p15"/>
          <p:cNvSpPr/>
          <p:nvPr/>
        </p:nvSpPr>
        <p:spPr>
          <a:xfrm>
            <a:off x="548640" y="384048"/>
            <a:ext cx="10515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FB8AF"/>
              </a:buClr>
              <a:buSzPts val="1200"/>
              <a:buFont typeface="Calibri"/>
              <a:buNone/>
            </a:pPr>
            <a:r>
              <a:rPr b="1" i="0" lang="en-US" sz="1200" u="none" cap="none" strike="noStrike">
                <a:solidFill>
                  <a:srgbClr val="3FB8AF"/>
                </a:solidFill>
                <a:latin typeface="Calibri"/>
                <a:ea typeface="Calibri"/>
                <a:cs typeface="Calibri"/>
                <a:sym typeface="Calibri"/>
              </a:rPr>
              <a:t>CONCLUZII</a:t>
            </a:r>
            <a:endParaRPr b="0" i="0" sz="1200" u="none" cap="none" strike="noStrike">
              <a:solidFill>
                <a:schemeClr val="dk1"/>
              </a:solidFill>
              <a:latin typeface="Calibri"/>
              <a:ea typeface="Calibri"/>
              <a:cs typeface="Calibri"/>
              <a:sym typeface="Calibri"/>
            </a:endParaRPr>
          </a:p>
        </p:txBody>
      </p:sp>
      <p:sp>
        <p:nvSpPr>
          <p:cNvPr id="258" name="Google Shape;258;p15"/>
          <p:cNvSpPr/>
          <p:nvPr/>
        </p:nvSpPr>
        <p:spPr>
          <a:xfrm>
            <a:off x="548640" y="640080"/>
            <a:ext cx="11064240" cy="8229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DE7F2"/>
              </a:buClr>
              <a:buSzPts val="3200"/>
              <a:buFont typeface="Cambria"/>
              <a:buNone/>
            </a:pPr>
            <a:r>
              <a:rPr b="1" i="0" lang="en-US" sz="3200" u="none" cap="none" strike="noStrike">
                <a:solidFill>
                  <a:srgbClr val="EDE7F2"/>
                </a:solidFill>
                <a:latin typeface="Cambria"/>
                <a:ea typeface="Cambria"/>
                <a:cs typeface="Cambria"/>
                <a:sym typeface="Cambria"/>
              </a:rPr>
              <a:t>Unde a ajuns proiectul</a:t>
            </a:r>
            <a:endParaRPr b="0" i="0" sz="3200" u="none" cap="none" strike="noStrike">
              <a:solidFill>
                <a:schemeClr val="dk1"/>
              </a:solidFill>
              <a:latin typeface="Calibri"/>
              <a:ea typeface="Calibri"/>
              <a:cs typeface="Calibri"/>
              <a:sym typeface="Calibri"/>
            </a:endParaRPr>
          </a:p>
        </p:txBody>
      </p:sp>
      <p:sp>
        <p:nvSpPr>
          <p:cNvPr id="259" name="Google Shape;259;p15"/>
          <p:cNvSpPr/>
          <p:nvPr/>
        </p:nvSpPr>
        <p:spPr>
          <a:xfrm>
            <a:off x="548640" y="2011680"/>
            <a:ext cx="3474720" cy="1737360"/>
          </a:xfrm>
          <a:prstGeom prst="roundRect">
            <a:avLst>
              <a:gd fmla="val 4211" name="adj"/>
            </a:avLst>
          </a:prstGeom>
          <a:solidFill>
            <a:srgbClr val="241C33"/>
          </a:solidFill>
          <a:ln cap="flat" cmpd="sng" w="9525">
            <a:solidFill>
              <a:srgbClr val="2A7A7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 name="Google Shape;260;p15"/>
          <p:cNvSpPr/>
          <p:nvPr/>
        </p:nvSpPr>
        <p:spPr>
          <a:xfrm>
            <a:off x="822960" y="2267712"/>
            <a:ext cx="292608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B8AF"/>
              </a:buClr>
              <a:buSzPts val="2300"/>
              <a:buFont typeface="Cambria"/>
              <a:buNone/>
            </a:pPr>
            <a:r>
              <a:rPr b="1" i="0" lang="en-US" sz="2300" u="none" cap="none" strike="noStrike">
                <a:solidFill>
                  <a:srgbClr val="3FB8AF"/>
                </a:solidFill>
                <a:latin typeface="Cambria"/>
                <a:ea typeface="Cambria"/>
                <a:cs typeface="Cambria"/>
                <a:sym typeface="Cambria"/>
              </a:rPr>
              <a:t>Complet</a:t>
            </a:r>
            <a:endParaRPr b="0" i="0" sz="2300" u="none" cap="none" strike="noStrike">
              <a:solidFill>
                <a:schemeClr val="dk1"/>
              </a:solidFill>
              <a:latin typeface="Calibri"/>
              <a:ea typeface="Calibri"/>
              <a:cs typeface="Calibri"/>
              <a:sym typeface="Calibri"/>
            </a:endParaRPr>
          </a:p>
        </p:txBody>
      </p:sp>
      <p:sp>
        <p:nvSpPr>
          <p:cNvPr id="261" name="Google Shape;261;p15"/>
          <p:cNvSpPr/>
          <p:nvPr/>
        </p:nvSpPr>
        <p:spPr>
          <a:xfrm>
            <a:off x="822960" y="2926080"/>
            <a:ext cx="2926080" cy="73152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EDE7F2"/>
              </a:buClr>
              <a:buSzPts val="1250"/>
              <a:buFont typeface="Calibri"/>
              <a:buNone/>
            </a:pPr>
            <a:r>
              <a:rPr b="0" i="0" lang="en-US" sz="1250" u="none" cap="none" strike="noStrike">
                <a:solidFill>
                  <a:srgbClr val="EDE7F2"/>
                </a:solidFill>
                <a:latin typeface="Calibri"/>
                <a:ea typeface="Calibri"/>
                <a:cs typeface="Calibri"/>
                <a:sym typeface="Calibri"/>
              </a:rPr>
              <a:t>O partidă întreagă, de la start la boss, cu stare de victorie.</a:t>
            </a:r>
            <a:endParaRPr b="0" i="0" sz="1250" u="none" cap="none" strike="noStrike">
              <a:solidFill>
                <a:schemeClr val="dk1"/>
              </a:solidFill>
              <a:latin typeface="Calibri"/>
              <a:ea typeface="Calibri"/>
              <a:cs typeface="Calibri"/>
              <a:sym typeface="Calibri"/>
            </a:endParaRPr>
          </a:p>
        </p:txBody>
      </p:sp>
      <p:sp>
        <p:nvSpPr>
          <p:cNvPr id="262" name="Google Shape;262;p15"/>
          <p:cNvSpPr/>
          <p:nvPr/>
        </p:nvSpPr>
        <p:spPr>
          <a:xfrm>
            <a:off x="4251960" y="2011680"/>
            <a:ext cx="3474720" cy="1737360"/>
          </a:xfrm>
          <a:prstGeom prst="roundRect">
            <a:avLst>
              <a:gd fmla="val 4211" name="adj"/>
            </a:avLst>
          </a:prstGeom>
          <a:solidFill>
            <a:srgbClr val="241C33"/>
          </a:solidFill>
          <a:ln cap="flat" cmpd="sng" w="9525">
            <a:solidFill>
              <a:srgbClr val="2A7A7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 name="Google Shape;263;p15"/>
          <p:cNvSpPr/>
          <p:nvPr/>
        </p:nvSpPr>
        <p:spPr>
          <a:xfrm>
            <a:off x="4526280" y="2267712"/>
            <a:ext cx="292608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B8AF"/>
              </a:buClr>
              <a:buSzPts val="2300"/>
              <a:buFont typeface="Cambria"/>
              <a:buNone/>
            </a:pPr>
            <a:r>
              <a:rPr b="1" i="0" lang="en-US" sz="2300" u="none" cap="none" strike="noStrike">
                <a:solidFill>
                  <a:srgbClr val="3FB8AF"/>
                </a:solidFill>
                <a:latin typeface="Cambria"/>
                <a:ea typeface="Cambria"/>
                <a:cs typeface="Cambria"/>
                <a:sym typeface="Cambria"/>
              </a:rPr>
              <a:t>Coerent</a:t>
            </a:r>
            <a:endParaRPr b="0" i="0" sz="2300" u="none" cap="none" strike="noStrike">
              <a:solidFill>
                <a:schemeClr val="dk1"/>
              </a:solidFill>
              <a:latin typeface="Calibri"/>
              <a:ea typeface="Calibri"/>
              <a:cs typeface="Calibri"/>
              <a:sym typeface="Calibri"/>
            </a:endParaRPr>
          </a:p>
        </p:txBody>
      </p:sp>
      <p:sp>
        <p:nvSpPr>
          <p:cNvPr id="264" name="Google Shape;264;p15"/>
          <p:cNvSpPr/>
          <p:nvPr/>
        </p:nvSpPr>
        <p:spPr>
          <a:xfrm>
            <a:off x="4526280" y="2926080"/>
            <a:ext cx="2926080" cy="73152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EDE7F2"/>
              </a:buClr>
              <a:buSzPts val="1250"/>
              <a:buFont typeface="Calibri"/>
              <a:buNone/>
            </a:pPr>
            <a:r>
              <a:rPr b="0" i="0" lang="en-US" sz="1250" u="none" cap="none" strike="noStrike">
                <a:solidFill>
                  <a:srgbClr val="EDE7F2"/>
                </a:solidFill>
                <a:latin typeface="Calibri"/>
                <a:ea typeface="Calibri"/>
                <a:cs typeface="Calibri"/>
                <a:sym typeface="Calibri"/>
              </a:rPr>
              <a:t>Un singur concept leagă tema, arta și progresia.</a:t>
            </a:r>
            <a:endParaRPr b="0" i="0" sz="1250" u="none" cap="none" strike="noStrike">
              <a:solidFill>
                <a:schemeClr val="dk1"/>
              </a:solidFill>
              <a:latin typeface="Calibri"/>
              <a:ea typeface="Calibri"/>
              <a:cs typeface="Calibri"/>
              <a:sym typeface="Calibri"/>
            </a:endParaRPr>
          </a:p>
        </p:txBody>
      </p:sp>
      <p:sp>
        <p:nvSpPr>
          <p:cNvPr id="265" name="Google Shape;265;p15"/>
          <p:cNvSpPr/>
          <p:nvPr/>
        </p:nvSpPr>
        <p:spPr>
          <a:xfrm>
            <a:off x="7955280" y="2011680"/>
            <a:ext cx="3474720" cy="1737360"/>
          </a:xfrm>
          <a:prstGeom prst="roundRect">
            <a:avLst>
              <a:gd fmla="val 4211" name="adj"/>
            </a:avLst>
          </a:prstGeom>
          <a:solidFill>
            <a:srgbClr val="241C33"/>
          </a:solidFill>
          <a:ln cap="flat" cmpd="sng" w="9525">
            <a:solidFill>
              <a:srgbClr val="2A7A7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15"/>
          <p:cNvSpPr/>
          <p:nvPr/>
        </p:nvSpPr>
        <p:spPr>
          <a:xfrm>
            <a:off x="8229600" y="2267712"/>
            <a:ext cx="292608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B8AF"/>
              </a:buClr>
              <a:buSzPts val="2300"/>
              <a:buFont typeface="Cambria"/>
              <a:buNone/>
            </a:pPr>
            <a:r>
              <a:rPr b="1" i="0" lang="en-US" sz="2300" u="none" cap="none" strike="noStrike">
                <a:solidFill>
                  <a:srgbClr val="3FB8AF"/>
                </a:solidFill>
                <a:latin typeface="Cambria"/>
                <a:ea typeface="Cambria"/>
                <a:cs typeface="Cambria"/>
                <a:sym typeface="Cambria"/>
              </a:rPr>
              <a:t>Extensibil</a:t>
            </a:r>
            <a:endParaRPr b="0" i="0" sz="2300" u="none" cap="none" strike="noStrike">
              <a:solidFill>
                <a:schemeClr val="dk1"/>
              </a:solidFill>
              <a:latin typeface="Calibri"/>
              <a:ea typeface="Calibri"/>
              <a:cs typeface="Calibri"/>
              <a:sym typeface="Calibri"/>
            </a:endParaRPr>
          </a:p>
        </p:txBody>
      </p:sp>
      <p:sp>
        <p:nvSpPr>
          <p:cNvPr id="267" name="Google Shape;267;p15"/>
          <p:cNvSpPr/>
          <p:nvPr/>
        </p:nvSpPr>
        <p:spPr>
          <a:xfrm>
            <a:off x="8229600" y="2926080"/>
            <a:ext cx="2926080" cy="73152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EDE7F2"/>
              </a:buClr>
              <a:buSzPts val="1250"/>
              <a:buFont typeface="Calibri"/>
              <a:buNone/>
            </a:pPr>
            <a:r>
              <a:rPr b="0" i="0" lang="en-US" sz="1250" u="none" cap="none" strike="noStrike">
                <a:solidFill>
                  <a:srgbClr val="EDE7F2"/>
                </a:solidFill>
                <a:latin typeface="Calibri"/>
                <a:ea typeface="Calibri"/>
                <a:cs typeface="Calibri"/>
                <a:sym typeface="Calibri"/>
              </a:rPr>
              <a:t>Inamici noi adăugați fără a atinge codul vechi.</a:t>
            </a:r>
            <a:endParaRPr b="0" i="0" sz="1250" u="none" cap="none" strike="noStrike">
              <a:solidFill>
                <a:schemeClr val="dk1"/>
              </a:solidFill>
              <a:latin typeface="Calibri"/>
              <a:ea typeface="Calibri"/>
              <a:cs typeface="Calibri"/>
              <a:sym typeface="Calibri"/>
            </a:endParaRPr>
          </a:p>
        </p:txBody>
      </p:sp>
      <p:sp>
        <p:nvSpPr>
          <p:cNvPr id="268" name="Google Shape;268;p15"/>
          <p:cNvSpPr/>
          <p:nvPr/>
        </p:nvSpPr>
        <p:spPr>
          <a:xfrm>
            <a:off x="548640" y="4023360"/>
            <a:ext cx="11064240" cy="1645920"/>
          </a:xfrm>
          <a:prstGeom prst="roundRect">
            <a:avLst>
              <a:gd fmla="val 4444" name="adj"/>
            </a:avLst>
          </a:prstGeom>
          <a:solidFill>
            <a:srgbClr val="241C33"/>
          </a:solidFill>
          <a:ln cap="flat" cmpd="sng" w="9525">
            <a:solidFill>
              <a:srgbClr val="2A7A7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 name="Google Shape;269;p15"/>
          <p:cNvSpPr/>
          <p:nvPr/>
        </p:nvSpPr>
        <p:spPr>
          <a:xfrm>
            <a:off x="868680" y="4160520"/>
            <a:ext cx="36576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0A458"/>
              </a:buClr>
              <a:buSzPts val="1500"/>
              <a:buFont typeface="Calibri"/>
              <a:buNone/>
            </a:pPr>
            <a:r>
              <a:rPr b="1" i="0" lang="en-US" sz="1500" u="none" cap="none" strike="noStrike">
                <a:solidFill>
                  <a:srgbClr val="E0A458"/>
                </a:solidFill>
                <a:latin typeface="Calibri"/>
                <a:ea typeface="Calibri"/>
                <a:cs typeface="Calibri"/>
                <a:sym typeface="Calibri"/>
              </a:rPr>
              <a:t>Direcții viitoare</a:t>
            </a:r>
            <a:endParaRPr b="0" i="0" sz="1500" u="none" cap="none" strike="noStrike">
              <a:solidFill>
                <a:schemeClr val="dk1"/>
              </a:solidFill>
              <a:latin typeface="Calibri"/>
              <a:ea typeface="Calibri"/>
              <a:cs typeface="Calibri"/>
              <a:sym typeface="Calibri"/>
            </a:endParaRPr>
          </a:p>
        </p:txBody>
      </p:sp>
      <p:sp>
        <p:nvSpPr>
          <p:cNvPr id="270" name="Google Shape;270;p15"/>
          <p:cNvSpPr/>
          <p:nvPr/>
        </p:nvSpPr>
        <p:spPr>
          <a:xfrm>
            <a:off x="868680" y="4572000"/>
            <a:ext cx="10424160" cy="914400"/>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Clr>
                <a:srgbClr val="EDE7F2"/>
              </a:buClr>
              <a:buSzPts val="1350"/>
              <a:buFont typeface="Calibri"/>
              <a:buNone/>
            </a:pPr>
            <a:r>
              <a:rPr b="0" i="0" lang="en-US" sz="1350" u="none" cap="none" strike="noStrike">
                <a:solidFill>
                  <a:srgbClr val="EDE7F2"/>
                </a:solidFill>
                <a:latin typeface="Calibri"/>
                <a:ea typeface="Calibri"/>
                <a:cs typeface="Calibri"/>
                <a:sym typeface="Calibri"/>
              </a:rPr>
              <a:t>Teste automate pentru generator și unitare  ·  mai multe niveluri, inamici, obiecte  ·  narațiune mai bogată  ·  anti-cheat întărit  ·  suport pentru controller</a:t>
            </a:r>
            <a:endParaRPr b="0" i="0" sz="1350" u="none" cap="none" strike="noStrike">
              <a:solidFill>
                <a:schemeClr val="dk1"/>
              </a:solidFill>
              <a:latin typeface="Calibri"/>
              <a:ea typeface="Calibri"/>
              <a:cs typeface="Calibri"/>
              <a:sym typeface="Calibri"/>
            </a:endParaRPr>
          </a:p>
        </p:txBody>
      </p:sp>
      <p:sp>
        <p:nvSpPr>
          <p:cNvPr id="271" name="Google Shape;271;p15"/>
          <p:cNvSpPr/>
          <p:nvPr/>
        </p:nvSpPr>
        <p:spPr>
          <a:xfrm>
            <a:off x="11521440" y="6400800"/>
            <a:ext cx="4572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9A8FA8"/>
              </a:buClr>
              <a:buSzPts val="1000"/>
              <a:buFont typeface="Calibri"/>
              <a:buNone/>
            </a:pPr>
            <a:r>
              <a:rPr b="0" i="0" lang="en-US" sz="1000" u="none" cap="none" strike="noStrike">
                <a:solidFill>
                  <a:srgbClr val="9A8FA8"/>
                </a:solidFill>
                <a:latin typeface="Calibri"/>
                <a:ea typeface="Calibri"/>
                <a:cs typeface="Calibri"/>
                <a:sym typeface="Calibri"/>
              </a:rPr>
              <a:t>14</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1526"/>
        </a:solidFill>
      </p:bgPr>
    </p:bg>
    <p:spTree>
      <p:nvGrpSpPr>
        <p:cNvPr id="276" name="Shape 276"/>
        <p:cNvGrpSpPr/>
        <p:nvPr/>
      </p:nvGrpSpPr>
      <p:grpSpPr>
        <a:xfrm>
          <a:off x="0" y="0"/>
          <a:ext cx="0" cy="0"/>
          <a:chOff x="0" y="0"/>
          <a:chExt cx="0" cy="0"/>
        </a:xfrm>
      </p:grpSpPr>
      <p:sp>
        <p:nvSpPr>
          <p:cNvPr id="277" name="Google Shape;277;p16"/>
          <p:cNvSpPr/>
          <p:nvPr/>
        </p:nvSpPr>
        <p:spPr>
          <a:xfrm>
            <a:off x="640080" y="640080"/>
            <a:ext cx="91440" cy="91440"/>
          </a:xfrm>
          <a:prstGeom prst="ellipse">
            <a:avLst/>
          </a:prstGeom>
          <a:solidFill>
            <a:srgbClr val="2A7A7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 name="Google Shape;278;p16"/>
          <p:cNvSpPr/>
          <p:nvPr/>
        </p:nvSpPr>
        <p:spPr>
          <a:xfrm>
            <a:off x="914400" y="868680"/>
            <a:ext cx="91440" cy="91440"/>
          </a:xfrm>
          <a:prstGeom prst="ellipse">
            <a:avLst/>
          </a:prstGeom>
          <a:solidFill>
            <a:srgbClr val="2A7A7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p16"/>
          <p:cNvSpPr/>
          <p:nvPr/>
        </p:nvSpPr>
        <p:spPr>
          <a:xfrm>
            <a:off x="777240" y="1143000"/>
            <a:ext cx="91440" cy="91440"/>
          </a:xfrm>
          <a:prstGeom prst="ellipse">
            <a:avLst/>
          </a:prstGeom>
          <a:solidFill>
            <a:srgbClr val="2A7A7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 name="Google Shape;280;p16"/>
          <p:cNvSpPr/>
          <p:nvPr/>
        </p:nvSpPr>
        <p:spPr>
          <a:xfrm>
            <a:off x="548640" y="2377440"/>
            <a:ext cx="11064240" cy="9144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EDE7F2"/>
              </a:buClr>
              <a:buSzPts val="5000"/>
              <a:buFont typeface="Cambria"/>
              <a:buNone/>
            </a:pPr>
            <a:r>
              <a:rPr b="1" lang="en-US" sz="5000">
                <a:solidFill>
                  <a:srgbClr val="EDE7F2"/>
                </a:solidFill>
                <a:latin typeface="Cambria"/>
                <a:ea typeface="Cambria"/>
                <a:cs typeface="Cambria"/>
                <a:sym typeface="Cambria"/>
              </a:rPr>
              <a:t>Vă mulțumesc</a:t>
            </a:r>
            <a:endParaRPr b="0" i="0" sz="5000" u="none" cap="none" strike="noStrike">
              <a:solidFill>
                <a:schemeClr val="dk1"/>
              </a:solidFill>
              <a:latin typeface="Calibri"/>
              <a:ea typeface="Calibri"/>
              <a:cs typeface="Calibri"/>
              <a:sym typeface="Calibri"/>
            </a:endParaRPr>
          </a:p>
        </p:txBody>
      </p:sp>
      <p:sp>
        <p:nvSpPr>
          <p:cNvPr id="281" name="Google Shape;281;p16"/>
          <p:cNvSpPr/>
          <p:nvPr/>
        </p:nvSpPr>
        <p:spPr>
          <a:xfrm>
            <a:off x="548640" y="3727180"/>
            <a:ext cx="1106430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3FB8AF"/>
              </a:buClr>
              <a:buSzPts val="1900"/>
              <a:buFont typeface="Calibri"/>
              <a:buNone/>
            </a:pPr>
            <a:r>
              <a:rPr lang="en-US" sz="1900">
                <a:solidFill>
                  <a:srgbClr val="3FB8AF"/>
                </a:solidFill>
                <a:latin typeface="Calibri"/>
                <a:ea typeface="Calibri"/>
                <a:cs typeface="Calibri"/>
                <a:sym typeface="Calibri"/>
              </a:rPr>
              <a:t>Aștept cu plăcere întrebările dumneavoastră</a:t>
            </a:r>
            <a:endParaRPr b="0" i="0" sz="19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